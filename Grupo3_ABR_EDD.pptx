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Lst>
  <p:sldSz cx="18288000" cy="10287000"/>
  <p:notesSz cx="6858000" cy="9144000"/>
  <p:embeddedFontLst>
    <p:embeddedFont>
      <p:font typeface="Tex Gyre Termes Italics" charset="1" panose="00000500000000000000"/>
      <p:regular r:id="rId53"/>
    </p:embeddedFont>
    <p:embeddedFont>
      <p:font typeface="Tex Gyre Termes" charset="1" panose="00000500000000000000"/>
      <p:regular r:id="rId54"/>
    </p:embeddedFont>
    <p:embeddedFont>
      <p:font typeface="Open Sans" charset="1" panose="020B0606030504020204"/>
      <p:regular r:id="rId55"/>
    </p:embeddedFont>
    <p:embeddedFont>
      <p:font typeface="Tex Gyre Termes Bold" charset="1" panose="00000800000000000000"/>
      <p:regular r:id="rId56"/>
    </p:embeddedFont>
    <p:embeddedFont>
      <p:font typeface="Tex Gyre Termes Bold Italics" charset="1" panose="00000800000000000000"/>
      <p:regular r:id="rId5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fonts/font53.fntdata" Type="http://schemas.openxmlformats.org/officeDocument/2006/relationships/font"/><Relationship Id="rId54" Target="fonts/font54.fntdata" Type="http://schemas.openxmlformats.org/officeDocument/2006/relationships/font"/><Relationship Id="rId55" Target="fonts/font55.fntdata" Type="http://schemas.openxmlformats.org/officeDocument/2006/relationships/font"/><Relationship Id="rId56" Target="fonts/font56.fntdata" Type="http://schemas.openxmlformats.org/officeDocument/2006/relationships/font"/><Relationship Id="rId57" Target="fonts/font57.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 Id="rId6" Target="../media/image2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26.png" Type="http://schemas.openxmlformats.org/officeDocument/2006/relationships/image"/><Relationship Id="rId5" Target="../media/image2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2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9.png" Type="http://schemas.openxmlformats.org/officeDocument/2006/relationships/image"/><Relationship Id="rId7" Target="../media/image30.png" Type="http://schemas.openxmlformats.org/officeDocument/2006/relationships/image"/><Relationship Id="rId8" Target="../media/image31.png" Type="http://schemas.openxmlformats.org/officeDocument/2006/relationships/image"/><Relationship Id="rId9" Target="../media/image32.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3.png" Type="http://schemas.openxmlformats.org/officeDocument/2006/relationships/image"/><Relationship Id="rId7" Target="../media/image34.png" Type="http://schemas.openxmlformats.org/officeDocument/2006/relationships/image"/><Relationship Id="rId8" Target="../media/image35.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6.png" Type="http://schemas.openxmlformats.org/officeDocument/2006/relationships/image"/><Relationship Id="rId7" Target="../media/image37.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8.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9.png" Type="http://schemas.openxmlformats.org/officeDocument/2006/relationships/image"/><Relationship Id="rId7" Target="../media/image40.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41.png" Type="http://schemas.openxmlformats.org/officeDocument/2006/relationships/image"/><Relationship Id="rId5" Target="../media/image42.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43.png" Type="http://schemas.openxmlformats.org/officeDocument/2006/relationships/image"/><Relationship Id="rId5" Target="../media/image44.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45.png" Type="http://schemas.openxmlformats.org/officeDocument/2006/relationships/image"/><Relationship Id="rId5" Target="../media/image46.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47.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48.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49.png" Type="http://schemas.openxmlformats.org/officeDocument/2006/relationships/image"/><Relationship Id="rId5" Target="../media/image50.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51.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52.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6.png" Type="http://schemas.openxmlformats.org/officeDocument/2006/relationships/image"/><Relationship Id="rId11" Target="../embeddings/oleObject4.bin" Type="http://schemas.openxmlformats.org/officeDocument/2006/relationships/oleObject"/><Relationship Id="rId12" Target="../media/image57.png" Type="http://schemas.openxmlformats.org/officeDocument/2006/relationships/image"/><Relationship Id="rId13" Target="../embeddings/oleObject5.bin" Type="http://schemas.openxmlformats.org/officeDocument/2006/relationships/oleObject"/><Relationship Id="rId2" Target="../media/image17.png" Type="http://schemas.openxmlformats.org/officeDocument/2006/relationships/image"/><Relationship Id="rId3" Target="../media/image18.svg" Type="http://schemas.openxmlformats.org/officeDocument/2006/relationships/image"/><Relationship Id="rId4" Target="../media/image53.png" Type="http://schemas.openxmlformats.org/officeDocument/2006/relationships/image"/><Relationship Id="rId5" Target="../embeddings/oleObject1.bin" Type="http://schemas.openxmlformats.org/officeDocument/2006/relationships/oleObject"/><Relationship Id="rId6" Target="../media/image54.png" Type="http://schemas.openxmlformats.org/officeDocument/2006/relationships/image"/><Relationship Id="rId7" Target="../embeddings/oleObject2.bin" Type="http://schemas.openxmlformats.org/officeDocument/2006/relationships/oleObject"/><Relationship Id="rId8" Target="../media/image55.png" Type="http://schemas.openxmlformats.org/officeDocument/2006/relationships/image"/><Relationship Id="rId9" Target="../embeddings/oleObject3.bin" Type="http://schemas.openxmlformats.org/officeDocument/2006/relationships/oleObject"/></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58.png" Type="http://schemas.openxmlformats.org/officeDocument/2006/relationships/image"/><Relationship Id="rId5" Target="../embeddings/oleObject6.bin" Type="http://schemas.openxmlformats.org/officeDocument/2006/relationships/oleObject"/><Relationship Id="rId6" Target="../media/image59.png" Type="http://schemas.openxmlformats.org/officeDocument/2006/relationships/image"/><Relationship Id="rId7" Target="../embeddings/oleObject7.bin" Type="http://schemas.openxmlformats.org/officeDocument/2006/relationships/oleObject"/></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60.png" Type="http://schemas.openxmlformats.org/officeDocument/2006/relationships/image"/><Relationship Id="rId5" Target="../media/image61.png" Type="http://schemas.openxmlformats.org/officeDocument/2006/relationships/image"/><Relationship Id="rId6" Target="../embeddings/oleObject8.bin" Type="http://schemas.openxmlformats.org/officeDocument/2006/relationships/oleObject"/><Relationship Id="rId7" Target="../media/image62.png" Type="http://schemas.openxmlformats.org/officeDocument/2006/relationships/image"/><Relationship Id="rId8" Target="../embeddings/oleObject9.bin" Type="http://schemas.openxmlformats.org/officeDocument/2006/relationships/oleObject"/></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63.png" Type="http://schemas.openxmlformats.org/officeDocument/2006/relationships/image"/><Relationship Id="rId5" Target="../media/image64.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5.png" Type="http://schemas.openxmlformats.org/officeDocument/2006/relationships/image"/><Relationship Id="rId3" Target="../media/image66.sv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7.png" Type="http://schemas.openxmlformats.org/officeDocument/2006/relationships/image"/><Relationship Id="rId3" Target="../media/image68.svg" Type="http://schemas.openxmlformats.org/officeDocument/2006/relationships/image"/><Relationship Id="rId4" Target="../media/image69.png" Type="http://schemas.openxmlformats.org/officeDocument/2006/relationships/image"/><Relationship Id="rId5" Target="../media/image7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a:off x="-1130260" y="9277350"/>
            <a:ext cx="20548521" cy="0"/>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820488" y="-3456152"/>
            <a:ext cx="0" cy="20548521"/>
          </a:xfrm>
          <a:prstGeom prst="line">
            <a:avLst/>
          </a:prstGeom>
          <a:ln cap="flat" w="38100">
            <a:solidFill>
              <a:srgbClr val="000000"/>
            </a:solidFill>
            <a:prstDash val="solid"/>
            <a:headEnd type="none" len="sm" w="sm"/>
            <a:tailEnd type="none" len="sm" w="sm"/>
          </a:ln>
        </p:spPr>
      </p:sp>
      <p:sp>
        <p:nvSpPr>
          <p:cNvPr name="AutoShape 5" id="5"/>
          <p:cNvSpPr/>
          <p:nvPr/>
        </p:nvSpPr>
        <p:spPr>
          <a:xfrm flipV="true">
            <a:off x="16486562" y="-3456152"/>
            <a:ext cx="0" cy="20548521"/>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0">
            <a:off x="-33126" y="3289887"/>
            <a:ext cx="1853613" cy="1853613"/>
          </a:xfrm>
          <a:custGeom>
            <a:avLst/>
            <a:gdLst/>
            <a:ahLst/>
            <a:cxnLst/>
            <a:rect r="r" b="b" t="t" l="l"/>
            <a:pathLst>
              <a:path h="1853613" w="1853613">
                <a:moveTo>
                  <a:pt x="0" y="0"/>
                </a:moveTo>
                <a:lnTo>
                  <a:pt x="1853614" y="0"/>
                </a:lnTo>
                <a:lnTo>
                  <a:pt x="1853614" y="1853613"/>
                </a:lnTo>
                <a:lnTo>
                  <a:pt x="0" y="18536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33126" y="6898960"/>
            <a:ext cx="1853613" cy="1853613"/>
          </a:xfrm>
          <a:custGeom>
            <a:avLst/>
            <a:gdLst/>
            <a:ahLst/>
            <a:cxnLst/>
            <a:rect r="r" b="b" t="t" l="l"/>
            <a:pathLst>
              <a:path h="1853613" w="1853613">
                <a:moveTo>
                  <a:pt x="0" y="0"/>
                </a:moveTo>
                <a:lnTo>
                  <a:pt x="1853614" y="0"/>
                </a:lnTo>
                <a:lnTo>
                  <a:pt x="1853614" y="1853613"/>
                </a:lnTo>
                <a:lnTo>
                  <a:pt x="0" y="18536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33126" y="1534427"/>
            <a:ext cx="1853613" cy="1853613"/>
          </a:xfrm>
          <a:custGeom>
            <a:avLst/>
            <a:gdLst/>
            <a:ahLst/>
            <a:cxnLst/>
            <a:rect r="r" b="b" t="t" l="l"/>
            <a:pathLst>
              <a:path h="1853613" w="1853613">
                <a:moveTo>
                  <a:pt x="0" y="0"/>
                </a:moveTo>
                <a:lnTo>
                  <a:pt x="1853614" y="0"/>
                </a:lnTo>
                <a:lnTo>
                  <a:pt x="1853614" y="1853613"/>
                </a:lnTo>
                <a:lnTo>
                  <a:pt x="0" y="18536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33126" y="5143500"/>
            <a:ext cx="1853613" cy="1853613"/>
          </a:xfrm>
          <a:custGeom>
            <a:avLst/>
            <a:gdLst/>
            <a:ahLst/>
            <a:cxnLst/>
            <a:rect r="r" b="b" t="t" l="l"/>
            <a:pathLst>
              <a:path h="1853613" w="1853613">
                <a:moveTo>
                  <a:pt x="0" y="0"/>
                </a:moveTo>
                <a:lnTo>
                  <a:pt x="1853614" y="0"/>
                </a:lnTo>
                <a:lnTo>
                  <a:pt x="1853614" y="1853613"/>
                </a:lnTo>
                <a:lnTo>
                  <a:pt x="0" y="18536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6716932" y="2940842"/>
            <a:ext cx="3769754" cy="2652536"/>
          </a:xfrm>
          <a:custGeom>
            <a:avLst/>
            <a:gdLst/>
            <a:ahLst/>
            <a:cxnLst/>
            <a:rect r="r" b="b" t="t" l="l"/>
            <a:pathLst>
              <a:path h="2652536" w="3769754">
                <a:moveTo>
                  <a:pt x="0" y="0"/>
                </a:moveTo>
                <a:lnTo>
                  <a:pt x="3769754" y="0"/>
                </a:lnTo>
                <a:lnTo>
                  <a:pt x="3769754" y="2652536"/>
                </a:lnTo>
                <a:lnTo>
                  <a:pt x="0" y="26525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6716932" y="4693622"/>
            <a:ext cx="3769754" cy="2652536"/>
          </a:xfrm>
          <a:custGeom>
            <a:avLst/>
            <a:gdLst/>
            <a:ahLst/>
            <a:cxnLst/>
            <a:rect r="r" b="b" t="t" l="l"/>
            <a:pathLst>
              <a:path h="2652536" w="3769754">
                <a:moveTo>
                  <a:pt x="0" y="0"/>
                </a:moveTo>
                <a:lnTo>
                  <a:pt x="3769754" y="0"/>
                </a:lnTo>
                <a:lnTo>
                  <a:pt x="3769754" y="2652536"/>
                </a:lnTo>
                <a:lnTo>
                  <a:pt x="0" y="26525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2780126" y="2659385"/>
            <a:ext cx="12996218" cy="2444223"/>
          </a:xfrm>
          <a:prstGeom prst="rect">
            <a:avLst/>
          </a:prstGeom>
        </p:spPr>
        <p:txBody>
          <a:bodyPr anchor="t" rtlCol="false" tIns="0" lIns="0" bIns="0" rIns="0">
            <a:spAutoFit/>
          </a:bodyPr>
          <a:lstStyle/>
          <a:p>
            <a:pPr algn="ctr">
              <a:lnSpc>
                <a:spcPts val="8837"/>
              </a:lnSpc>
            </a:pPr>
            <a:r>
              <a:rPr lang="en-US" sz="11942" i="true">
                <a:solidFill>
                  <a:srgbClr val="1E1D1C"/>
                </a:solidFill>
                <a:latin typeface="Tex Gyre Termes Italics"/>
                <a:ea typeface="Tex Gyre Termes Italics"/>
                <a:cs typeface="Tex Gyre Termes Italics"/>
                <a:sym typeface="Tex Gyre Termes Italics"/>
              </a:rPr>
              <a:t>Sistema de gestion de proceso simulado</a:t>
            </a:r>
          </a:p>
        </p:txBody>
      </p:sp>
      <p:sp>
        <p:nvSpPr>
          <p:cNvPr name="Freeform 13" id="13"/>
          <p:cNvSpPr/>
          <p:nvPr/>
        </p:nvSpPr>
        <p:spPr>
          <a:xfrm flipH="false" flipV="false" rot="0">
            <a:off x="16716932" y="-1268748"/>
            <a:ext cx="2278398" cy="2278398"/>
          </a:xfrm>
          <a:custGeom>
            <a:avLst/>
            <a:gdLst/>
            <a:ahLst/>
            <a:cxnLst/>
            <a:rect r="r" b="b" t="t" l="l"/>
            <a:pathLst>
              <a:path h="2278398" w="2278398">
                <a:moveTo>
                  <a:pt x="0" y="0"/>
                </a:moveTo>
                <a:lnTo>
                  <a:pt x="2278398" y="0"/>
                </a:lnTo>
                <a:lnTo>
                  <a:pt x="2278398" y="2278398"/>
                </a:lnTo>
                <a:lnTo>
                  <a:pt x="0" y="22783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16487865" y="9277350"/>
            <a:ext cx="2278398" cy="2278398"/>
          </a:xfrm>
          <a:custGeom>
            <a:avLst/>
            <a:gdLst/>
            <a:ahLst/>
            <a:cxnLst/>
            <a:rect r="r" b="b" t="t" l="l"/>
            <a:pathLst>
              <a:path h="2278398" w="2278398">
                <a:moveTo>
                  <a:pt x="0" y="0"/>
                </a:moveTo>
                <a:lnTo>
                  <a:pt x="2278398" y="0"/>
                </a:lnTo>
                <a:lnTo>
                  <a:pt x="2278398" y="2278398"/>
                </a:lnTo>
                <a:lnTo>
                  <a:pt x="0" y="22783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5" id="15"/>
          <p:cNvSpPr txBox="true"/>
          <p:nvPr/>
        </p:nvSpPr>
        <p:spPr>
          <a:xfrm rot="0">
            <a:off x="6767439" y="6176058"/>
            <a:ext cx="4753122" cy="821056"/>
          </a:xfrm>
          <a:prstGeom prst="rect">
            <a:avLst/>
          </a:prstGeom>
        </p:spPr>
        <p:txBody>
          <a:bodyPr anchor="t" rtlCol="false" tIns="0" lIns="0" bIns="0" rIns="0">
            <a:spAutoFit/>
          </a:bodyPr>
          <a:lstStyle/>
          <a:p>
            <a:pPr algn="ctr">
              <a:lnSpc>
                <a:spcPts val="6719"/>
              </a:lnSpc>
            </a:pPr>
            <a:r>
              <a:rPr lang="en-US" sz="4799">
                <a:solidFill>
                  <a:srgbClr val="1E1D1C"/>
                </a:solidFill>
                <a:latin typeface="Tex Gyre Termes"/>
                <a:ea typeface="Tex Gyre Termes"/>
                <a:cs typeface="Tex Gyre Termes"/>
                <a:sym typeface="Tex Gyre Termes"/>
              </a:rPr>
              <a:t>Equipo 3</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a:off x="-1130260" y="9277350"/>
            <a:ext cx="20548521" cy="0"/>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820488" y="-3456152"/>
            <a:ext cx="0" cy="20548521"/>
          </a:xfrm>
          <a:prstGeom prst="line">
            <a:avLst/>
          </a:prstGeom>
          <a:ln cap="flat" w="38100">
            <a:solidFill>
              <a:srgbClr val="000000"/>
            </a:solidFill>
            <a:prstDash val="solid"/>
            <a:headEnd type="none" len="sm" w="sm"/>
            <a:tailEnd type="none" len="sm" w="sm"/>
          </a:ln>
        </p:spPr>
      </p:sp>
      <p:sp>
        <p:nvSpPr>
          <p:cNvPr name="AutoShape 5" id="5"/>
          <p:cNvSpPr/>
          <p:nvPr/>
        </p:nvSpPr>
        <p:spPr>
          <a:xfrm flipV="true">
            <a:off x="16486562" y="-3456152"/>
            <a:ext cx="0" cy="20548521"/>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0">
            <a:off x="0" y="4233256"/>
            <a:ext cx="1820488" cy="1820488"/>
          </a:xfrm>
          <a:custGeom>
            <a:avLst/>
            <a:gdLst/>
            <a:ahLst/>
            <a:cxnLst/>
            <a:rect r="r" b="b" t="t" l="l"/>
            <a:pathLst>
              <a:path h="1820488" w="1820488">
                <a:moveTo>
                  <a:pt x="0" y="0"/>
                </a:moveTo>
                <a:lnTo>
                  <a:pt x="1820488" y="0"/>
                </a:lnTo>
                <a:lnTo>
                  <a:pt x="1820488" y="1820488"/>
                </a:lnTo>
                <a:lnTo>
                  <a:pt x="0" y="18204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6486562" y="4233256"/>
            <a:ext cx="1820488" cy="1820488"/>
          </a:xfrm>
          <a:custGeom>
            <a:avLst/>
            <a:gdLst/>
            <a:ahLst/>
            <a:cxnLst/>
            <a:rect r="r" b="b" t="t" l="l"/>
            <a:pathLst>
              <a:path h="1820488" w="1820488">
                <a:moveTo>
                  <a:pt x="0" y="0"/>
                </a:moveTo>
                <a:lnTo>
                  <a:pt x="1820488" y="0"/>
                </a:lnTo>
                <a:lnTo>
                  <a:pt x="1820488" y="1820488"/>
                </a:lnTo>
                <a:lnTo>
                  <a:pt x="0" y="18204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0" y="1720734"/>
            <a:ext cx="1820488" cy="1820488"/>
          </a:xfrm>
          <a:custGeom>
            <a:avLst/>
            <a:gdLst/>
            <a:ahLst/>
            <a:cxnLst/>
            <a:rect r="r" b="b" t="t" l="l"/>
            <a:pathLst>
              <a:path h="1820488" w="1820488">
                <a:moveTo>
                  <a:pt x="0" y="0"/>
                </a:moveTo>
                <a:lnTo>
                  <a:pt x="1820488" y="0"/>
                </a:lnTo>
                <a:lnTo>
                  <a:pt x="1820488" y="1820488"/>
                </a:lnTo>
                <a:lnTo>
                  <a:pt x="0" y="18204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6486562" y="1720734"/>
            <a:ext cx="1820488" cy="1820488"/>
          </a:xfrm>
          <a:custGeom>
            <a:avLst/>
            <a:gdLst/>
            <a:ahLst/>
            <a:cxnLst/>
            <a:rect r="r" b="b" t="t" l="l"/>
            <a:pathLst>
              <a:path h="1820488" w="1820488">
                <a:moveTo>
                  <a:pt x="0" y="0"/>
                </a:moveTo>
                <a:lnTo>
                  <a:pt x="1820488" y="0"/>
                </a:lnTo>
                <a:lnTo>
                  <a:pt x="1820488" y="1820488"/>
                </a:lnTo>
                <a:lnTo>
                  <a:pt x="0" y="18204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0" y="6749069"/>
            <a:ext cx="1820488" cy="1820488"/>
          </a:xfrm>
          <a:custGeom>
            <a:avLst/>
            <a:gdLst/>
            <a:ahLst/>
            <a:cxnLst/>
            <a:rect r="r" b="b" t="t" l="l"/>
            <a:pathLst>
              <a:path h="1820488" w="1820488">
                <a:moveTo>
                  <a:pt x="0" y="0"/>
                </a:moveTo>
                <a:lnTo>
                  <a:pt x="1820488" y="0"/>
                </a:lnTo>
                <a:lnTo>
                  <a:pt x="1820488" y="1820488"/>
                </a:lnTo>
                <a:lnTo>
                  <a:pt x="0" y="18204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6486562" y="6749069"/>
            <a:ext cx="1820488" cy="1820488"/>
          </a:xfrm>
          <a:custGeom>
            <a:avLst/>
            <a:gdLst/>
            <a:ahLst/>
            <a:cxnLst/>
            <a:rect r="r" b="b" t="t" l="l"/>
            <a:pathLst>
              <a:path h="1820488" w="1820488">
                <a:moveTo>
                  <a:pt x="0" y="0"/>
                </a:moveTo>
                <a:lnTo>
                  <a:pt x="1820488" y="0"/>
                </a:lnTo>
                <a:lnTo>
                  <a:pt x="1820488" y="1820488"/>
                </a:lnTo>
                <a:lnTo>
                  <a:pt x="0" y="18204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420957" y="4103197"/>
            <a:ext cx="8500557" cy="1233747"/>
          </a:xfrm>
          <a:prstGeom prst="rect">
            <a:avLst/>
          </a:prstGeom>
        </p:spPr>
        <p:txBody>
          <a:bodyPr anchor="t" rtlCol="false" tIns="0" lIns="0" bIns="0" rIns="0">
            <a:spAutoFit/>
          </a:bodyPr>
          <a:lstStyle/>
          <a:p>
            <a:pPr algn="ctr">
              <a:lnSpc>
                <a:spcPts val="10080"/>
              </a:lnSpc>
            </a:pPr>
            <a:r>
              <a:rPr lang="en-US" sz="7200" i="true">
                <a:solidFill>
                  <a:srgbClr val="1E1D1C"/>
                </a:solidFill>
                <a:latin typeface="Tex Gyre Termes Italics"/>
                <a:ea typeface="Tex Gyre Termes Italics"/>
                <a:cs typeface="Tex Gyre Termes Italics"/>
                <a:sym typeface="Tex Gyre Termes Italics"/>
              </a:rPr>
              <a:t>Integrantes:</a:t>
            </a:r>
          </a:p>
        </p:txBody>
      </p:sp>
      <p:sp>
        <p:nvSpPr>
          <p:cNvPr name="TextBox 13" id="13"/>
          <p:cNvSpPr txBox="true"/>
          <p:nvPr/>
        </p:nvSpPr>
        <p:spPr>
          <a:xfrm rot="0">
            <a:off x="2640669" y="5545051"/>
            <a:ext cx="9528958" cy="3024506"/>
          </a:xfrm>
          <a:prstGeom prst="rect">
            <a:avLst/>
          </a:prstGeom>
        </p:spPr>
        <p:txBody>
          <a:bodyPr anchor="t" rtlCol="false" tIns="0" lIns="0" bIns="0" rIns="0">
            <a:spAutoFit/>
          </a:bodyPr>
          <a:lstStyle/>
          <a:p>
            <a:pPr algn="l">
              <a:lnSpc>
                <a:spcPts val="6019"/>
              </a:lnSpc>
            </a:pPr>
            <a:r>
              <a:rPr lang="en-US" sz="4299">
                <a:solidFill>
                  <a:srgbClr val="1E1D1C"/>
                </a:solidFill>
                <a:latin typeface="Tex Gyre Termes"/>
                <a:ea typeface="Tex Gyre Termes"/>
                <a:cs typeface="Tex Gyre Termes"/>
                <a:sym typeface="Tex Gyre Termes"/>
              </a:rPr>
              <a:t>Castellanos Palomino Cesar</a:t>
            </a:r>
          </a:p>
          <a:p>
            <a:pPr algn="l">
              <a:lnSpc>
                <a:spcPts val="6019"/>
              </a:lnSpc>
            </a:pPr>
            <a:r>
              <a:rPr lang="en-US" sz="4299">
                <a:solidFill>
                  <a:srgbClr val="1E1D1C"/>
                </a:solidFill>
                <a:latin typeface="Tex Gyre Termes"/>
                <a:ea typeface="Tex Gyre Termes"/>
                <a:cs typeface="Tex Gyre Termes"/>
                <a:sym typeface="Tex Gyre Termes"/>
              </a:rPr>
              <a:t>Huanuco Rivero Fabricio Gabriel</a:t>
            </a:r>
          </a:p>
          <a:p>
            <a:pPr algn="l">
              <a:lnSpc>
                <a:spcPts val="6019"/>
              </a:lnSpc>
            </a:pPr>
            <a:r>
              <a:rPr lang="en-US" sz="4299">
                <a:solidFill>
                  <a:srgbClr val="1E1D1C"/>
                </a:solidFill>
                <a:latin typeface="Tex Gyre Termes"/>
                <a:ea typeface="Tex Gyre Termes"/>
                <a:cs typeface="Tex Gyre Termes"/>
                <a:sym typeface="Tex Gyre Termes"/>
              </a:rPr>
              <a:t>Rosales Colonio Jose Fabrizio</a:t>
            </a:r>
          </a:p>
          <a:p>
            <a:pPr algn="l">
              <a:lnSpc>
                <a:spcPts val="6019"/>
              </a:lnSpc>
            </a:pPr>
            <a:r>
              <a:rPr lang="en-US" sz="4299">
                <a:solidFill>
                  <a:srgbClr val="1E1D1C"/>
                </a:solidFill>
                <a:latin typeface="Tex Gyre Termes"/>
                <a:ea typeface="Tex Gyre Termes"/>
                <a:cs typeface="Tex Gyre Termes"/>
                <a:sym typeface="Tex Gyre Termes"/>
              </a:rPr>
              <a:t>Perez Cerron Dayana Celeste</a:t>
            </a:r>
            <a:r>
              <a:rPr lang="en-US" sz="4299">
                <a:solidFill>
                  <a:srgbClr val="1E1D1C"/>
                </a:solidFill>
                <a:latin typeface="Tex Gyre Termes"/>
                <a:ea typeface="Tex Gyre Termes"/>
                <a:cs typeface="Tex Gyre Termes"/>
                <a:sym typeface="Tex Gyre Termes"/>
              </a:rPr>
              <a:t>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TextBox 2" id="2"/>
          <p:cNvSpPr txBox="true"/>
          <p:nvPr/>
        </p:nvSpPr>
        <p:spPr>
          <a:xfrm rot="0">
            <a:off x="2298761" y="2876711"/>
            <a:ext cx="12341419" cy="5971540"/>
          </a:xfrm>
          <a:prstGeom prst="rect">
            <a:avLst/>
          </a:prstGeom>
        </p:spPr>
        <p:txBody>
          <a:bodyPr anchor="t" rtlCol="false" tIns="0" lIns="0" bIns="0" rIns="0">
            <a:spAutoFit/>
          </a:bodyPr>
          <a:lstStyle/>
          <a:p>
            <a:pPr algn="just">
              <a:lnSpc>
                <a:spcPts val="4759"/>
              </a:lnSpc>
            </a:pPr>
            <a:r>
              <a:rPr lang="en-US" sz="3399">
                <a:solidFill>
                  <a:srgbClr val="1E1D1C"/>
                </a:solidFill>
                <a:latin typeface="Tex Gyre Termes"/>
                <a:ea typeface="Tex Gyre Termes"/>
                <a:cs typeface="Tex Gyre Termes"/>
                <a:sym typeface="Tex Gyre Termes"/>
              </a:rPr>
              <a:t>En los sistemas operativos, la gestión de procesos es fundamental para garantizar el uso eficiente del procesador y los recursos del sistema. Sin embargo, en el ámbito académico, resulta complejo para los estudiantes entender cómo se manejan los procesos internamente, especialmente si no cuentan con herramientas visuales o simuladores interactivos. Por ello, surge la necesidad de desarrollar una herramienta didáctica y funcional que simule el comportamiento básico de un planificador de procesos, utilizando estructuras de datos dinámicas lineales como listas enlazadas o colas, que permita observar y manipular el ciclo de vida de los procesos de manera sencilla.</a:t>
            </a:r>
          </a:p>
        </p:txBody>
      </p:sp>
      <p:sp>
        <p:nvSpPr>
          <p:cNvPr name="AutoShape 3" id="3"/>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4" id="4"/>
          <p:cNvSpPr/>
          <p:nvPr/>
        </p:nvSpPr>
        <p:spPr>
          <a:xfrm>
            <a:off x="-1130260" y="9277350"/>
            <a:ext cx="20548521" cy="0"/>
          </a:xfrm>
          <a:prstGeom prst="line">
            <a:avLst/>
          </a:prstGeom>
          <a:ln cap="flat" w="38100">
            <a:solidFill>
              <a:srgbClr val="000000"/>
            </a:solidFill>
            <a:prstDash val="solid"/>
            <a:headEnd type="none" len="sm" w="sm"/>
            <a:tailEnd type="none" len="sm" w="sm"/>
          </a:ln>
        </p:spPr>
      </p:sp>
      <p:sp>
        <p:nvSpPr>
          <p:cNvPr name="AutoShape 5" id="5"/>
          <p:cNvSpPr/>
          <p:nvPr/>
        </p:nvSpPr>
        <p:spPr>
          <a:xfrm flipV="true">
            <a:off x="1820488" y="-3456152"/>
            <a:ext cx="0" cy="20548521"/>
          </a:xfrm>
          <a:prstGeom prst="line">
            <a:avLst/>
          </a:prstGeom>
          <a:ln cap="flat" w="38100">
            <a:solidFill>
              <a:srgbClr val="000000"/>
            </a:solidFill>
            <a:prstDash val="solid"/>
            <a:headEnd type="none" len="sm" w="sm"/>
            <a:tailEnd type="none" len="sm" w="sm"/>
          </a:ln>
        </p:spPr>
      </p:sp>
      <p:sp>
        <p:nvSpPr>
          <p:cNvPr name="AutoShape 6" id="6"/>
          <p:cNvSpPr/>
          <p:nvPr/>
        </p:nvSpPr>
        <p:spPr>
          <a:xfrm flipV="true">
            <a:off x="16486562" y="-3456152"/>
            <a:ext cx="0" cy="20548521"/>
          </a:xfrm>
          <a:prstGeom prst="line">
            <a:avLst/>
          </a:prstGeom>
          <a:ln cap="flat" w="38100">
            <a:solidFill>
              <a:srgbClr val="000000"/>
            </a:solidFill>
            <a:prstDash val="solid"/>
            <a:headEnd type="none" len="sm" w="sm"/>
            <a:tailEnd type="none" len="sm" w="sm"/>
          </a:ln>
        </p:spPr>
      </p:sp>
      <p:sp>
        <p:nvSpPr>
          <p:cNvPr name="Freeform 7" id="7"/>
          <p:cNvSpPr/>
          <p:nvPr/>
        </p:nvSpPr>
        <p:spPr>
          <a:xfrm flipH="false" flipV="false" rot="0">
            <a:off x="15786593" y="-2191756"/>
            <a:ext cx="6449720" cy="6402813"/>
          </a:xfrm>
          <a:custGeom>
            <a:avLst/>
            <a:gdLst/>
            <a:ahLst/>
            <a:cxnLst/>
            <a:rect r="r" b="b" t="t" l="l"/>
            <a:pathLst>
              <a:path h="6402813" w="6449720">
                <a:moveTo>
                  <a:pt x="0" y="0"/>
                </a:moveTo>
                <a:lnTo>
                  <a:pt x="6449720" y="0"/>
                </a:lnTo>
                <a:lnTo>
                  <a:pt x="6449720" y="6402812"/>
                </a:lnTo>
                <a:lnTo>
                  <a:pt x="0" y="64028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404372" y="8459220"/>
            <a:ext cx="6449720" cy="6402813"/>
          </a:xfrm>
          <a:custGeom>
            <a:avLst/>
            <a:gdLst/>
            <a:ahLst/>
            <a:cxnLst/>
            <a:rect r="r" b="b" t="t" l="l"/>
            <a:pathLst>
              <a:path h="6402813" w="6449720">
                <a:moveTo>
                  <a:pt x="0" y="0"/>
                </a:moveTo>
                <a:lnTo>
                  <a:pt x="6449719" y="0"/>
                </a:lnTo>
                <a:lnTo>
                  <a:pt x="6449719" y="6402812"/>
                </a:lnTo>
                <a:lnTo>
                  <a:pt x="0" y="64028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820488" y="1471636"/>
            <a:ext cx="10947368" cy="1233747"/>
          </a:xfrm>
          <a:prstGeom prst="rect">
            <a:avLst/>
          </a:prstGeom>
        </p:spPr>
        <p:txBody>
          <a:bodyPr anchor="t" rtlCol="false" tIns="0" lIns="0" bIns="0" rIns="0">
            <a:spAutoFit/>
          </a:bodyPr>
          <a:lstStyle/>
          <a:p>
            <a:pPr algn="ctr">
              <a:lnSpc>
                <a:spcPts val="10080"/>
              </a:lnSpc>
            </a:pPr>
            <a:r>
              <a:rPr lang="en-US" sz="7200" i="true">
                <a:solidFill>
                  <a:srgbClr val="1E1D1C"/>
                </a:solidFill>
                <a:latin typeface="Tex Gyre Termes Italics"/>
                <a:ea typeface="Tex Gyre Termes Italics"/>
                <a:cs typeface="Tex Gyre Termes Italics"/>
                <a:sym typeface="Tex Gyre Termes Italics"/>
              </a:rPr>
              <a:t>Indroducción al problema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a:off x="-1130260" y="9277350"/>
            <a:ext cx="20548521" cy="0"/>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820488" y="-3456152"/>
            <a:ext cx="0" cy="20548521"/>
          </a:xfrm>
          <a:prstGeom prst="line">
            <a:avLst/>
          </a:prstGeom>
          <a:ln cap="flat" w="38100">
            <a:solidFill>
              <a:srgbClr val="000000"/>
            </a:solidFill>
            <a:prstDash val="solid"/>
            <a:headEnd type="none" len="sm" w="sm"/>
            <a:tailEnd type="none" len="sm" w="sm"/>
          </a:ln>
        </p:spPr>
      </p:sp>
      <p:sp>
        <p:nvSpPr>
          <p:cNvPr name="AutoShape 5" id="5"/>
          <p:cNvSpPr/>
          <p:nvPr/>
        </p:nvSpPr>
        <p:spPr>
          <a:xfrm flipV="true">
            <a:off x="16486562" y="-3456152"/>
            <a:ext cx="0" cy="20548521"/>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0">
            <a:off x="0" y="4228409"/>
            <a:ext cx="1820199" cy="1830182"/>
          </a:xfrm>
          <a:custGeom>
            <a:avLst/>
            <a:gdLst/>
            <a:ahLst/>
            <a:cxnLst/>
            <a:rect r="r" b="b" t="t" l="l"/>
            <a:pathLst>
              <a:path h="1830182" w="1820199">
                <a:moveTo>
                  <a:pt x="0" y="0"/>
                </a:moveTo>
                <a:lnTo>
                  <a:pt x="1820199" y="0"/>
                </a:lnTo>
                <a:lnTo>
                  <a:pt x="1820199" y="1830182"/>
                </a:lnTo>
                <a:lnTo>
                  <a:pt x="0" y="18301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6486562" y="4228927"/>
            <a:ext cx="1820199" cy="1830182"/>
          </a:xfrm>
          <a:custGeom>
            <a:avLst/>
            <a:gdLst/>
            <a:ahLst/>
            <a:cxnLst/>
            <a:rect r="r" b="b" t="t" l="l"/>
            <a:pathLst>
              <a:path h="1830182" w="1820199">
                <a:moveTo>
                  <a:pt x="0" y="0"/>
                </a:moveTo>
                <a:lnTo>
                  <a:pt x="1820199" y="0"/>
                </a:lnTo>
                <a:lnTo>
                  <a:pt x="1820199" y="1830182"/>
                </a:lnTo>
                <a:lnTo>
                  <a:pt x="0" y="18301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289" y="1712427"/>
            <a:ext cx="1820199" cy="1830182"/>
          </a:xfrm>
          <a:custGeom>
            <a:avLst/>
            <a:gdLst/>
            <a:ahLst/>
            <a:cxnLst/>
            <a:rect r="r" b="b" t="t" l="l"/>
            <a:pathLst>
              <a:path h="1830182" w="1820199">
                <a:moveTo>
                  <a:pt x="0" y="0"/>
                </a:moveTo>
                <a:lnTo>
                  <a:pt x="1820199" y="0"/>
                </a:lnTo>
                <a:lnTo>
                  <a:pt x="1820199" y="1830182"/>
                </a:lnTo>
                <a:lnTo>
                  <a:pt x="0" y="18301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6486851" y="1712946"/>
            <a:ext cx="1820199" cy="1830182"/>
          </a:xfrm>
          <a:custGeom>
            <a:avLst/>
            <a:gdLst/>
            <a:ahLst/>
            <a:cxnLst/>
            <a:rect r="r" b="b" t="t" l="l"/>
            <a:pathLst>
              <a:path h="1830182" w="1820199">
                <a:moveTo>
                  <a:pt x="0" y="0"/>
                </a:moveTo>
                <a:lnTo>
                  <a:pt x="1820199" y="0"/>
                </a:lnTo>
                <a:lnTo>
                  <a:pt x="1820199" y="1830181"/>
                </a:lnTo>
                <a:lnTo>
                  <a:pt x="0" y="18301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289" y="6743355"/>
            <a:ext cx="1820199" cy="1830182"/>
          </a:xfrm>
          <a:custGeom>
            <a:avLst/>
            <a:gdLst/>
            <a:ahLst/>
            <a:cxnLst/>
            <a:rect r="r" b="b" t="t" l="l"/>
            <a:pathLst>
              <a:path h="1830182" w="1820199">
                <a:moveTo>
                  <a:pt x="0" y="0"/>
                </a:moveTo>
                <a:lnTo>
                  <a:pt x="1820199" y="0"/>
                </a:lnTo>
                <a:lnTo>
                  <a:pt x="1820199" y="1830181"/>
                </a:lnTo>
                <a:lnTo>
                  <a:pt x="0" y="18301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6486851" y="6743873"/>
            <a:ext cx="1820199" cy="1830182"/>
          </a:xfrm>
          <a:custGeom>
            <a:avLst/>
            <a:gdLst/>
            <a:ahLst/>
            <a:cxnLst/>
            <a:rect r="r" b="b" t="t" l="l"/>
            <a:pathLst>
              <a:path h="1830182" w="1820199">
                <a:moveTo>
                  <a:pt x="0" y="0"/>
                </a:moveTo>
                <a:lnTo>
                  <a:pt x="1820199" y="0"/>
                </a:lnTo>
                <a:lnTo>
                  <a:pt x="1820199" y="1830181"/>
                </a:lnTo>
                <a:lnTo>
                  <a:pt x="0" y="18301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2094139" y="1799599"/>
            <a:ext cx="7512810" cy="1167707"/>
          </a:xfrm>
          <a:prstGeom prst="rect">
            <a:avLst/>
          </a:prstGeom>
        </p:spPr>
        <p:txBody>
          <a:bodyPr anchor="t" rtlCol="false" tIns="0" lIns="0" bIns="0" rIns="0">
            <a:spAutoFit/>
          </a:bodyPr>
          <a:lstStyle/>
          <a:p>
            <a:pPr algn="l">
              <a:lnSpc>
                <a:spcPts val="9520"/>
              </a:lnSpc>
            </a:pPr>
            <a:r>
              <a:rPr lang="en-US" sz="6800" i="true">
                <a:solidFill>
                  <a:srgbClr val="1E1D1C"/>
                </a:solidFill>
                <a:latin typeface="Tex Gyre Termes Italics"/>
                <a:ea typeface="Tex Gyre Termes Italics"/>
                <a:cs typeface="Tex Gyre Termes Italics"/>
                <a:sym typeface="Tex Gyre Termes Italics"/>
              </a:rPr>
              <a:t>Objetivos especificos</a:t>
            </a:r>
          </a:p>
        </p:txBody>
      </p:sp>
      <p:sp>
        <p:nvSpPr>
          <p:cNvPr name="TextBox 13" id="13"/>
          <p:cNvSpPr txBox="true"/>
          <p:nvPr/>
        </p:nvSpPr>
        <p:spPr>
          <a:xfrm rot="0">
            <a:off x="1820199" y="3485977"/>
            <a:ext cx="13738886" cy="4471670"/>
          </a:xfrm>
          <a:prstGeom prst="rect">
            <a:avLst/>
          </a:prstGeom>
        </p:spPr>
        <p:txBody>
          <a:bodyPr anchor="t" rtlCol="false" tIns="0" lIns="0" bIns="0" rIns="0">
            <a:spAutoFit/>
          </a:bodyPr>
          <a:lstStyle/>
          <a:p>
            <a:pPr algn="l" marL="690881" indent="-345440" lvl="1">
              <a:lnSpc>
                <a:spcPts val="4480"/>
              </a:lnSpc>
              <a:buFont typeface="Arial"/>
              <a:buChar char="•"/>
            </a:pPr>
            <a:r>
              <a:rPr lang="en-US" sz="3200">
                <a:solidFill>
                  <a:srgbClr val="000000"/>
                </a:solidFill>
                <a:latin typeface="Open Sans"/>
                <a:ea typeface="Open Sans"/>
                <a:cs typeface="Open Sans"/>
                <a:sym typeface="Open Sans"/>
              </a:rPr>
              <a:t>Dise</a:t>
            </a:r>
            <a:r>
              <a:rPr lang="en-US" sz="3200" strike="noStrike" u="none">
                <a:solidFill>
                  <a:srgbClr val="000000"/>
                </a:solidFill>
                <a:latin typeface="Open Sans"/>
                <a:ea typeface="Open Sans"/>
                <a:cs typeface="Open Sans"/>
                <a:sym typeface="Open Sans"/>
              </a:rPr>
              <a:t>ñar un</a:t>
            </a:r>
            <a:r>
              <a:rPr lang="en-US" sz="3200" strike="noStrike" u="none">
                <a:solidFill>
                  <a:srgbClr val="000000"/>
                </a:solidFill>
                <a:latin typeface="Open Sans"/>
                <a:ea typeface="Open Sans"/>
                <a:cs typeface="Open Sans"/>
                <a:sym typeface="Open Sans"/>
              </a:rPr>
              <a:t>a</a:t>
            </a:r>
            <a:r>
              <a:rPr lang="en-US" sz="3200" strike="noStrike" u="none">
                <a:solidFill>
                  <a:srgbClr val="000000"/>
                </a:solidFill>
                <a:latin typeface="Open Sans"/>
                <a:ea typeface="Open Sans"/>
                <a:cs typeface="Open Sans"/>
                <a:sym typeface="Open Sans"/>
              </a:rPr>
              <a:t> </a:t>
            </a:r>
            <a:r>
              <a:rPr lang="en-US" sz="3200" strike="noStrike" u="none">
                <a:solidFill>
                  <a:srgbClr val="000000"/>
                </a:solidFill>
                <a:latin typeface="Open Sans"/>
                <a:ea typeface="Open Sans"/>
                <a:cs typeface="Open Sans"/>
                <a:sym typeface="Open Sans"/>
              </a:rPr>
              <a:t>estructura de datos dinámica ti</a:t>
            </a:r>
            <a:r>
              <a:rPr lang="en-US" sz="3200" strike="noStrike" u="none">
                <a:solidFill>
                  <a:srgbClr val="000000"/>
                </a:solidFill>
                <a:latin typeface="Open Sans"/>
                <a:ea typeface="Open Sans"/>
                <a:cs typeface="Open Sans"/>
                <a:sym typeface="Open Sans"/>
              </a:rPr>
              <a:t>po</a:t>
            </a:r>
            <a:r>
              <a:rPr lang="en-US" sz="3200" strike="noStrike" u="none">
                <a:solidFill>
                  <a:srgbClr val="000000"/>
                </a:solidFill>
                <a:latin typeface="Open Sans"/>
                <a:ea typeface="Open Sans"/>
                <a:cs typeface="Open Sans"/>
                <a:sym typeface="Open Sans"/>
              </a:rPr>
              <a:t> </a:t>
            </a:r>
            <a:r>
              <a:rPr lang="en-US" sz="3200" strike="noStrike" u="none">
                <a:solidFill>
                  <a:srgbClr val="000000"/>
                </a:solidFill>
                <a:latin typeface="Open Sans"/>
                <a:ea typeface="Open Sans"/>
                <a:cs typeface="Open Sans"/>
                <a:sym typeface="Open Sans"/>
              </a:rPr>
              <a:t>co</a:t>
            </a:r>
            <a:r>
              <a:rPr lang="en-US" sz="3200" strike="noStrike" u="none">
                <a:solidFill>
                  <a:srgbClr val="000000"/>
                </a:solidFill>
                <a:latin typeface="Open Sans"/>
                <a:ea typeface="Open Sans"/>
                <a:cs typeface="Open Sans"/>
                <a:sym typeface="Open Sans"/>
              </a:rPr>
              <a:t>la</a:t>
            </a:r>
            <a:r>
              <a:rPr lang="en-US" sz="3200" strike="noStrike" u="none">
                <a:solidFill>
                  <a:srgbClr val="000000"/>
                </a:solidFill>
                <a:latin typeface="Open Sans"/>
                <a:ea typeface="Open Sans"/>
                <a:cs typeface="Open Sans"/>
                <a:sym typeface="Open Sans"/>
              </a:rPr>
              <a:t> </a:t>
            </a:r>
            <a:r>
              <a:rPr lang="en-US" sz="3200" strike="noStrike" u="none">
                <a:solidFill>
                  <a:srgbClr val="000000"/>
                </a:solidFill>
                <a:latin typeface="Open Sans"/>
                <a:ea typeface="Open Sans"/>
                <a:cs typeface="Open Sans"/>
                <a:sym typeface="Open Sans"/>
              </a:rPr>
              <a:t>qu</a:t>
            </a:r>
            <a:r>
              <a:rPr lang="en-US" sz="3200" strike="noStrike" u="none">
                <a:solidFill>
                  <a:srgbClr val="000000"/>
                </a:solidFill>
                <a:latin typeface="Open Sans"/>
                <a:ea typeface="Open Sans"/>
                <a:cs typeface="Open Sans"/>
                <a:sym typeface="Open Sans"/>
              </a:rPr>
              <a:t>e </a:t>
            </a:r>
            <a:r>
              <a:rPr lang="en-US" sz="3200" strike="noStrike" u="none">
                <a:solidFill>
                  <a:srgbClr val="000000"/>
                </a:solidFill>
                <a:latin typeface="Open Sans"/>
                <a:ea typeface="Open Sans"/>
                <a:cs typeface="Open Sans"/>
                <a:sym typeface="Open Sans"/>
              </a:rPr>
              <a:t>permi</a:t>
            </a:r>
            <a:r>
              <a:rPr lang="en-US" sz="3200" strike="noStrike" u="none">
                <a:solidFill>
                  <a:srgbClr val="000000"/>
                </a:solidFill>
                <a:latin typeface="Open Sans"/>
                <a:ea typeface="Open Sans"/>
                <a:cs typeface="Open Sans"/>
                <a:sym typeface="Open Sans"/>
              </a:rPr>
              <a:t>t</a:t>
            </a:r>
            <a:r>
              <a:rPr lang="en-US" sz="3200" strike="noStrike" u="none">
                <a:solidFill>
                  <a:srgbClr val="000000"/>
                </a:solidFill>
                <a:latin typeface="Open Sans"/>
                <a:ea typeface="Open Sans"/>
                <a:cs typeface="Open Sans"/>
                <a:sym typeface="Open Sans"/>
              </a:rPr>
              <a:t>a almac</a:t>
            </a:r>
            <a:r>
              <a:rPr lang="en-US" sz="3200" strike="noStrike" u="none">
                <a:solidFill>
                  <a:srgbClr val="000000"/>
                </a:solidFill>
                <a:latin typeface="Open Sans"/>
                <a:ea typeface="Open Sans"/>
                <a:cs typeface="Open Sans"/>
                <a:sym typeface="Open Sans"/>
              </a:rPr>
              <a:t>e</a:t>
            </a:r>
            <a:r>
              <a:rPr lang="en-US" sz="3200" strike="noStrike" u="none">
                <a:solidFill>
                  <a:srgbClr val="000000"/>
                </a:solidFill>
                <a:latin typeface="Open Sans"/>
                <a:ea typeface="Open Sans"/>
                <a:cs typeface="Open Sans"/>
                <a:sym typeface="Open Sans"/>
              </a:rPr>
              <a:t>nar y ges</a:t>
            </a:r>
            <a:r>
              <a:rPr lang="en-US" sz="3200" strike="noStrike" u="none">
                <a:solidFill>
                  <a:srgbClr val="000000"/>
                </a:solidFill>
                <a:latin typeface="Open Sans"/>
                <a:ea typeface="Open Sans"/>
                <a:cs typeface="Open Sans"/>
                <a:sym typeface="Open Sans"/>
              </a:rPr>
              <a:t>t</a:t>
            </a:r>
            <a:r>
              <a:rPr lang="en-US" sz="3200" strike="noStrike" u="none">
                <a:solidFill>
                  <a:srgbClr val="000000"/>
                </a:solidFill>
                <a:latin typeface="Open Sans"/>
                <a:ea typeface="Open Sans"/>
                <a:cs typeface="Open Sans"/>
                <a:sym typeface="Open Sans"/>
              </a:rPr>
              <a:t>i</a:t>
            </a:r>
            <a:r>
              <a:rPr lang="en-US" sz="3200" strike="noStrike" u="none">
                <a:solidFill>
                  <a:srgbClr val="000000"/>
                </a:solidFill>
                <a:latin typeface="Open Sans"/>
                <a:ea typeface="Open Sans"/>
                <a:cs typeface="Open Sans"/>
                <a:sym typeface="Open Sans"/>
              </a:rPr>
              <a:t>o</a:t>
            </a:r>
            <a:r>
              <a:rPr lang="en-US" sz="3200" strike="noStrike" u="none">
                <a:solidFill>
                  <a:srgbClr val="000000"/>
                </a:solidFill>
                <a:latin typeface="Open Sans"/>
                <a:ea typeface="Open Sans"/>
                <a:cs typeface="Open Sans"/>
                <a:sym typeface="Open Sans"/>
              </a:rPr>
              <a:t>nar procesos en orden de llegada (FIFO).</a:t>
            </a:r>
          </a:p>
          <a:p>
            <a:pPr algn="l" marL="690881" indent="-345440" lvl="1">
              <a:lnSpc>
                <a:spcPts val="4480"/>
              </a:lnSpc>
              <a:buFont typeface="Arial"/>
              <a:buChar char="•"/>
            </a:pPr>
            <a:r>
              <a:rPr lang="en-US" sz="3200" strike="noStrike" u="none">
                <a:solidFill>
                  <a:srgbClr val="000000"/>
                </a:solidFill>
                <a:latin typeface="Open Sans"/>
                <a:ea typeface="Open Sans"/>
                <a:cs typeface="Open Sans"/>
                <a:sym typeface="Open Sans"/>
              </a:rPr>
              <a:t>Implementar un módulo en C++ que permita agregar, visualizar y ejecutar procesos desde la cola, simulando el comportamiento secuencial de un planificador básico.</a:t>
            </a:r>
          </a:p>
          <a:p>
            <a:pPr algn="l" marL="690881" indent="-345440" lvl="1">
              <a:lnSpc>
                <a:spcPts val="4480"/>
              </a:lnSpc>
              <a:buFont typeface="Arial"/>
              <a:buChar char="•"/>
            </a:pPr>
            <a:r>
              <a:rPr lang="en-US" sz="3200" strike="noStrike" u="none">
                <a:solidFill>
                  <a:srgbClr val="000000"/>
                </a:solidFill>
                <a:latin typeface="Open Sans"/>
                <a:ea typeface="Open Sans"/>
                <a:cs typeface="Open Sans"/>
                <a:sym typeface="Open Sans"/>
              </a:rPr>
              <a:t>Crear una interfaz de consola que permita al usuario interactuar con el sistema, eligiendo acciones como agregar procesos, ejecutar el siguiente proceso o visualizar la cola actual.</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a:off x="-1130260" y="9277350"/>
            <a:ext cx="20548521" cy="0"/>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820488" y="-3456152"/>
            <a:ext cx="0" cy="20548521"/>
          </a:xfrm>
          <a:prstGeom prst="line">
            <a:avLst/>
          </a:prstGeom>
          <a:ln cap="flat" w="38100">
            <a:solidFill>
              <a:srgbClr val="000000"/>
            </a:solidFill>
            <a:prstDash val="solid"/>
            <a:headEnd type="none" len="sm" w="sm"/>
            <a:tailEnd type="none" len="sm" w="sm"/>
          </a:ln>
        </p:spPr>
      </p:sp>
      <p:sp>
        <p:nvSpPr>
          <p:cNvPr name="AutoShape 5" id="5"/>
          <p:cNvSpPr/>
          <p:nvPr/>
        </p:nvSpPr>
        <p:spPr>
          <a:xfrm flipV="true">
            <a:off x="16486562" y="-3456152"/>
            <a:ext cx="0" cy="20548521"/>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0">
            <a:off x="-1837112" y="-872351"/>
            <a:ext cx="7315200" cy="3764003"/>
          </a:xfrm>
          <a:custGeom>
            <a:avLst/>
            <a:gdLst/>
            <a:ahLst/>
            <a:cxnLst/>
            <a:rect r="r" b="b" t="t" l="l"/>
            <a:pathLst>
              <a:path h="3764003" w="7315200">
                <a:moveTo>
                  <a:pt x="0" y="0"/>
                </a:moveTo>
                <a:lnTo>
                  <a:pt x="7315200" y="0"/>
                </a:lnTo>
                <a:lnTo>
                  <a:pt x="7315200" y="3764002"/>
                </a:lnTo>
                <a:lnTo>
                  <a:pt x="0" y="37640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828962" y="7395349"/>
            <a:ext cx="7315200" cy="3764003"/>
          </a:xfrm>
          <a:custGeom>
            <a:avLst/>
            <a:gdLst/>
            <a:ahLst/>
            <a:cxnLst/>
            <a:rect r="r" b="b" t="t" l="l"/>
            <a:pathLst>
              <a:path h="3764003" w="7315200">
                <a:moveTo>
                  <a:pt x="0" y="0"/>
                </a:moveTo>
                <a:lnTo>
                  <a:pt x="7315200" y="0"/>
                </a:lnTo>
                <a:lnTo>
                  <a:pt x="7315200" y="3764002"/>
                </a:lnTo>
                <a:lnTo>
                  <a:pt x="0" y="37640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1982317" y="1789985"/>
            <a:ext cx="13763600" cy="1101667"/>
          </a:xfrm>
          <a:prstGeom prst="rect">
            <a:avLst/>
          </a:prstGeom>
        </p:spPr>
        <p:txBody>
          <a:bodyPr anchor="t" rtlCol="false" tIns="0" lIns="0" bIns="0" rIns="0">
            <a:spAutoFit/>
          </a:bodyPr>
          <a:lstStyle/>
          <a:p>
            <a:pPr algn="l">
              <a:lnSpc>
                <a:spcPts val="8960"/>
              </a:lnSpc>
            </a:pPr>
            <a:r>
              <a:rPr lang="en-US" sz="6400" i="true">
                <a:solidFill>
                  <a:srgbClr val="1E1D1C"/>
                </a:solidFill>
                <a:latin typeface="Tex Gyre Termes Italics"/>
                <a:ea typeface="Tex Gyre Termes Italics"/>
                <a:cs typeface="Tex Gyre Termes Italics"/>
                <a:sym typeface="Tex Gyre Termes Italics"/>
              </a:rPr>
              <a:t>Solución planteada por el grupo:</a:t>
            </a:r>
          </a:p>
        </p:txBody>
      </p:sp>
      <p:sp>
        <p:nvSpPr>
          <p:cNvPr name="TextBox 9" id="9"/>
          <p:cNvSpPr txBox="true"/>
          <p:nvPr/>
        </p:nvSpPr>
        <p:spPr>
          <a:xfrm rot="0">
            <a:off x="2262200" y="3215501"/>
            <a:ext cx="13763600" cy="4596765"/>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1E1D1C"/>
                </a:solidFill>
                <a:latin typeface="Tex Gyre Termes"/>
                <a:ea typeface="Tex Gyre Termes"/>
                <a:cs typeface="Tex Gyre Termes"/>
                <a:sym typeface="Tex Gyre Termes"/>
              </a:rPr>
              <a:t>Para abordar el problema identificado, se optó por desarrollar un sistema de gestión de procesos basado en el modelo de planificación FIFO (First In, First Out), que representa uno de los algoritmos más sencillos y directos para administrar tareas en un sistema operativo. La elección de este modelo se debe a su simplicidad, lo que permite enfocarse en la lógica interna de cómo se encolan, procesan y eliminan procesos sin introducir complejidades adicionales como prioridades o interrupciones.</a:t>
            </a:r>
          </a:p>
          <a:p>
            <a:pPr algn="l" marL="518160" indent="-259080" lvl="1">
              <a:lnSpc>
                <a:spcPts val="3359"/>
              </a:lnSpc>
              <a:buFont typeface="Arial"/>
              <a:buChar char="•"/>
            </a:pPr>
            <a:r>
              <a:rPr lang="en-US" sz="2400">
                <a:solidFill>
                  <a:srgbClr val="1E1D1C"/>
                </a:solidFill>
                <a:latin typeface="Tex Gyre Termes"/>
                <a:ea typeface="Tex Gyre Termes"/>
                <a:cs typeface="Tex Gyre Termes"/>
                <a:sym typeface="Tex Gyre Termes"/>
              </a:rPr>
              <a:t>El sistema será desarrollado en C++ utilizando estructuras de datos dinámicas lineales, específicamente una cola implementada con listas enlazadas simples. Esta elección permite que los procesos sean gestionados en memoria dinámica, simulando cómo un sistema operativo real puede manejar tareas de forma secuencial y eficiente. Cada proceso se representará como un nodo de la lista, conteniendo un identificador único y un tiempo estimado de ejecución.</a:t>
            </a:r>
          </a:p>
          <a:p>
            <a:pPr algn="l">
              <a:lnSpc>
                <a:spcPts val="335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a:off x="-1130260" y="9277350"/>
            <a:ext cx="20548521" cy="0"/>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820488" y="-3456152"/>
            <a:ext cx="0" cy="20548521"/>
          </a:xfrm>
          <a:prstGeom prst="line">
            <a:avLst/>
          </a:prstGeom>
          <a:ln cap="flat" w="38100">
            <a:solidFill>
              <a:srgbClr val="000000"/>
            </a:solidFill>
            <a:prstDash val="solid"/>
            <a:headEnd type="none" len="sm" w="sm"/>
            <a:tailEnd type="none" len="sm" w="sm"/>
          </a:ln>
        </p:spPr>
      </p:sp>
      <p:sp>
        <p:nvSpPr>
          <p:cNvPr name="AutoShape 5" id="5"/>
          <p:cNvSpPr/>
          <p:nvPr/>
        </p:nvSpPr>
        <p:spPr>
          <a:xfrm flipV="true">
            <a:off x="16486562" y="-3456152"/>
            <a:ext cx="0" cy="20548521"/>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0">
            <a:off x="-1837112" y="-872351"/>
            <a:ext cx="7315200" cy="3764003"/>
          </a:xfrm>
          <a:custGeom>
            <a:avLst/>
            <a:gdLst/>
            <a:ahLst/>
            <a:cxnLst/>
            <a:rect r="r" b="b" t="t" l="l"/>
            <a:pathLst>
              <a:path h="3764003" w="7315200">
                <a:moveTo>
                  <a:pt x="0" y="0"/>
                </a:moveTo>
                <a:lnTo>
                  <a:pt x="7315200" y="0"/>
                </a:lnTo>
                <a:lnTo>
                  <a:pt x="7315200" y="3764002"/>
                </a:lnTo>
                <a:lnTo>
                  <a:pt x="0" y="37640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2828962" y="7395349"/>
            <a:ext cx="7315200" cy="3764003"/>
          </a:xfrm>
          <a:custGeom>
            <a:avLst/>
            <a:gdLst/>
            <a:ahLst/>
            <a:cxnLst/>
            <a:rect r="r" b="b" t="t" l="l"/>
            <a:pathLst>
              <a:path h="3764003" w="7315200">
                <a:moveTo>
                  <a:pt x="0" y="0"/>
                </a:moveTo>
                <a:lnTo>
                  <a:pt x="7315200" y="0"/>
                </a:lnTo>
                <a:lnTo>
                  <a:pt x="7315200" y="3764002"/>
                </a:lnTo>
                <a:lnTo>
                  <a:pt x="0" y="37640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2094510" y="2266355"/>
            <a:ext cx="13627966" cy="4774565"/>
          </a:xfrm>
          <a:prstGeom prst="rect">
            <a:avLst/>
          </a:prstGeom>
        </p:spPr>
        <p:txBody>
          <a:bodyPr anchor="t" rtlCol="false" tIns="0" lIns="0" bIns="0" rIns="0">
            <a:spAutoFit/>
          </a:bodyPr>
          <a:lstStyle/>
          <a:p>
            <a:pPr algn="l">
              <a:lnSpc>
                <a:spcPts val="4759"/>
              </a:lnSpc>
            </a:pPr>
            <a:r>
              <a:rPr lang="en-US" sz="3399">
                <a:solidFill>
                  <a:srgbClr val="1E1D1C"/>
                </a:solidFill>
                <a:latin typeface="Tex Gyre Termes"/>
                <a:ea typeface="Tex Gyre Termes"/>
                <a:cs typeface="Tex Gyre Termes"/>
                <a:sym typeface="Tex Gyre Termes"/>
              </a:rPr>
              <a:t>La solución incluirá un menú interactivo por consola que permitirá al usuario:</a:t>
            </a:r>
          </a:p>
          <a:p>
            <a:pPr algn="l" marL="518160" indent="-259080" lvl="1">
              <a:lnSpc>
                <a:spcPts val="3359"/>
              </a:lnSpc>
              <a:buFont typeface="Arial"/>
              <a:buChar char="•"/>
            </a:pPr>
            <a:r>
              <a:rPr lang="en-US" sz="2400">
                <a:solidFill>
                  <a:srgbClr val="1E1D1C"/>
                </a:solidFill>
                <a:latin typeface="Tex Gyre Termes"/>
                <a:ea typeface="Tex Gyre Termes"/>
                <a:cs typeface="Tex Gyre Termes"/>
                <a:sym typeface="Tex Gyre Termes"/>
              </a:rPr>
              <a:t>Agregar nuevos procesos con tiempos personalizados.</a:t>
            </a:r>
          </a:p>
          <a:p>
            <a:pPr algn="l" marL="518160" indent="-259080" lvl="1">
              <a:lnSpc>
                <a:spcPts val="3359"/>
              </a:lnSpc>
              <a:buFont typeface="Arial"/>
              <a:buChar char="•"/>
            </a:pPr>
            <a:r>
              <a:rPr lang="en-US" sz="2400">
                <a:solidFill>
                  <a:srgbClr val="1E1D1C"/>
                </a:solidFill>
                <a:latin typeface="Tex Gyre Termes"/>
                <a:ea typeface="Tex Gyre Termes"/>
                <a:cs typeface="Tex Gyre Termes"/>
                <a:sym typeface="Tex Gyre Termes"/>
              </a:rPr>
              <a:t>Visualizar el estado actual de la cola de procesos pendientes.</a:t>
            </a:r>
          </a:p>
          <a:p>
            <a:pPr algn="l" marL="518160" indent="-259080" lvl="1">
              <a:lnSpc>
                <a:spcPts val="3359"/>
              </a:lnSpc>
              <a:buFont typeface="Arial"/>
              <a:buChar char="•"/>
            </a:pPr>
            <a:r>
              <a:rPr lang="en-US" sz="2400">
                <a:solidFill>
                  <a:srgbClr val="1E1D1C"/>
                </a:solidFill>
                <a:latin typeface="Tex Gyre Termes"/>
                <a:ea typeface="Tex Gyre Termes"/>
                <a:cs typeface="Tex Gyre Termes"/>
                <a:sym typeface="Tex Gyre Termes"/>
              </a:rPr>
              <a:t>Ejecutar procesos uno por uno, en el orden en que fueron añadidos.</a:t>
            </a:r>
          </a:p>
          <a:p>
            <a:pPr algn="l" marL="518160" indent="-259080" lvl="1">
              <a:lnSpc>
                <a:spcPts val="3359"/>
              </a:lnSpc>
              <a:buFont typeface="Arial"/>
              <a:buChar char="•"/>
            </a:pPr>
            <a:r>
              <a:rPr lang="en-US" sz="2400">
                <a:solidFill>
                  <a:srgbClr val="1E1D1C"/>
                </a:solidFill>
                <a:latin typeface="Tex Gyre Termes"/>
                <a:ea typeface="Tex Gyre Termes"/>
                <a:cs typeface="Tex Gyre Termes"/>
                <a:sym typeface="Tex Gyre Termes"/>
              </a:rPr>
              <a:t>Este simulador no solo cumple una función educativa al ayudar a comprender cómo opera un planificador de tareas, sino que también demuestra el uso práctico de estructuras de datos dinámicas en la resolución de problemas reales. En etapas posteriores, esta solución puede escalarse para incluir algoritmos más complejos (como Round Robin o prioridades), pero inicialmente se centrará en ofrecer una implementación funcional y clara del modelo FIFO.</a:t>
            </a:r>
          </a:p>
          <a:p>
            <a:pPr algn="l">
              <a:lnSpc>
                <a:spcPts val="3359"/>
              </a:lnSpc>
            </a:pPr>
          </a:p>
          <a:p>
            <a:pPr algn="l">
              <a:lnSpc>
                <a:spcPts val="3359"/>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a:off x="-1130260" y="9277350"/>
            <a:ext cx="20548521" cy="0"/>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820488" y="-3456152"/>
            <a:ext cx="0" cy="20548521"/>
          </a:xfrm>
          <a:prstGeom prst="line">
            <a:avLst/>
          </a:prstGeom>
          <a:ln cap="flat" w="38100">
            <a:solidFill>
              <a:srgbClr val="000000"/>
            </a:solidFill>
            <a:prstDash val="solid"/>
            <a:headEnd type="none" len="sm" w="sm"/>
            <a:tailEnd type="none" len="sm" w="sm"/>
          </a:ln>
        </p:spPr>
      </p:sp>
      <p:sp>
        <p:nvSpPr>
          <p:cNvPr name="AutoShape 5" id="5"/>
          <p:cNvSpPr/>
          <p:nvPr/>
        </p:nvSpPr>
        <p:spPr>
          <a:xfrm flipV="true">
            <a:off x="16486562" y="-3456152"/>
            <a:ext cx="0" cy="20548521"/>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1376464">
            <a:off x="15742396" y="2845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376464">
            <a:off x="1076321" y="853318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1255199">
            <a:off x="15742396" y="85141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988181" y="1001466"/>
            <a:ext cx="5192607" cy="1002606"/>
          </a:xfrm>
          <a:prstGeom prst="rect">
            <a:avLst/>
          </a:prstGeom>
        </p:spPr>
        <p:txBody>
          <a:bodyPr anchor="t" rtlCol="false" tIns="0" lIns="0" bIns="0" rIns="0">
            <a:spAutoFit/>
          </a:bodyPr>
          <a:lstStyle/>
          <a:p>
            <a:pPr algn="l">
              <a:lnSpc>
                <a:spcPts val="8120"/>
              </a:lnSpc>
            </a:pPr>
            <a:r>
              <a:rPr lang="en-US" sz="5800" i="true" u="sng">
                <a:solidFill>
                  <a:srgbClr val="1E1D1C"/>
                </a:solidFill>
                <a:latin typeface="Tex Gyre Termes Italics"/>
                <a:ea typeface="Tex Gyre Termes Italics"/>
                <a:cs typeface="Tex Gyre Termes Italics"/>
                <a:sym typeface="Tex Gyre Termes Italics"/>
              </a:rPr>
              <a:t>Solución en C++</a:t>
            </a:r>
          </a:p>
        </p:txBody>
      </p:sp>
      <p:sp>
        <p:nvSpPr>
          <p:cNvPr name="TextBox 10" id="10"/>
          <p:cNvSpPr txBox="true"/>
          <p:nvPr/>
        </p:nvSpPr>
        <p:spPr>
          <a:xfrm rot="0">
            <a:off x="1988181" y="2028388"/>
            <a:ext cx="8367310" cy="629920"/>
          </a:xfrm>
          <a:prstGeom prst="rect">
            <a:avLst/>
          </a:prstGeom>
        </p:spPr>
        <p:txBody>
          <a:bodyPr anchor="t" rtlCol="false" tIns="0" lIns="0" bIns="0" rIns="0">
            <a:spAutoFit/>
          </a:bodyPr>
          <a:lstStyle/>
          <a:p>
            <a:pPr algn="l">
              <a:lnSpc>
                <a:spcPts val="5179"/>
              </a:lnSpc>
            </a:pPr>
            <a:r>
              <a:rPr lang="en-US" sz="3699" b="true">
                <a:solidFill>
                  <a:srgbClr val="1E1D1C"/>
                </a:solidFill>
                <a:latin typeface="Tex Gyre Termes Bold"/>
                <a:ea typeface="Tex Gyre Termes Bold"/>
                <a:cs typeface="Tex Gyre Termes Bold"/>
                <a:sym typeface="Tex Gyre Termes Bold"/>
              </a:rPr>
              <a:t>Lista enlazada (Gestor de procesos):</a:t>
            </a:r>
          </a:p>
        </p:txBody>
      </p:sp>
      <p:sp>
        <p:nvSpPr>
          <p:cNvPr name="TextBox 11" id="11"/>
          <p:cNvSpPr txBox="true"/>
          <p:nvPr/>
        </p:nvSpPr>
        <p:spPr>
          <a:xfrm rot="0">
            <a:off x="2146040" y="2601158"/>
            <a:ext cx="11341885" cy="5934710"/>
          </a:xfrm>
          <a:prstGeom prst="rect">
            <a:avLst/>
          </a:prstGeom>
        </p:spPr>
        <p:txBody>
          <a:bodyPr anchor="t" rtlCol="false" tIns="0" lIns="0" bIns="0" rIns="0">
            <a:spAutoFit/>
          </a:bodyPr>
          <a:lstStyle/>
          <a:p>
            <a:pPr algn="l">
              <a:lnSpc>
                <a:spcPts val="3640"/>
              </a:lnSpc>
            </a:pPr>
            <a:r>
              <a:rPr lang="en-US" sz="2600">
                <a:solidFill>
                  <a:srgbClr val="000000"/>
                </a:solidFill>
                <a:latin typeface="Open Sans"/>
                <a:ea typeface="Open Sans"/>
                <a:cs typeface="Open Sans"/>
                <a:sym typeface="Open Sans"/>
              </a:rPr>
              <a:t>Usos:</a:t>
            </a:r>
          </a:p>
          <a:p>
            <a:pPr algn="l" marL="561344" indent="-280672" lvl="1">
              <a:lnSpc>
                <a:spcPts val="3640"/>
              </a:lnSpc>
              <a:buFont typeface="Arial"/>
              <a:buChar char="•"/>
            </a:pPr>
            <a:r>
              <a:rPr lang="en-US" sz="2600">
                <a:solidFill>
                  <a:srgbClr val="000000"/>
                </a:solidFill>
                <a:latin typeface="Open Sans"/>
                <a:ea typeface="Open Sans"/>
                <a:cs typeface="Open Sans"/>
                <a:sym typeface="Open Sans"/>
              </a:rPr>
              <a:t>Cada nodo representa un proceso.</a:t>
            </a:r>
          </a:p>
          <a:p>
            <a:pPr algn="l" marL="561344" indent="-280672" lvl="1">
              <a:lnSpc>
                <a:spcPts val="3640"/>
              </a:lnSpc>
              <a:buFont typeface="Arial"/>
              <a:buChar char="•"/>
            </a:pPr>
            <a:r>
              <a:rPr lang="en-US" sz="2600">
                <a:solidFill>
                  <a:srgbClr val="000000"/>
                </a:solidFill>
                <a:latin typeface="Open Sans"/>
                <a:ea typeface="Open Sans"/>
                <a:cs typeface="Open Sans"/>
                <a:sym typeface="Open Sans"/>
              </a:rPr>
              <a:t>Los procesos se conectan como una cadena (siguiente apunta al siguiente proceso).</a:t>
            </a:r>
          </a:p>
          <a:p>
            <a:pPr algn="l">
              <a:lnSpc>
                <a:spcPts val="3640"/>
              </a:lnSpc>
            </a:pPr>
            <a:r>
              <a:rPr lang="en-US" sz="2600">
                <a:solidFill>
                  <a:srgbClr val="000000"/>
                </a:solidFill>
                <a:latin typeface="Open Sans"/>
                <a:ea typeface="Open Sans"/>
                <a:cs typeface="Open Sans"/>
                <a:sym typeface="Open Sans"/>
              </a:rPr>
              <a:t>Funciones clave:</a:t>
            </a:r>
          </a:p>
          <a:p>
            <a:pPr algn="l" marL="561344" indent="-280672" lvl="1">
              <a:lnSpc>
                <a:spcPts val="3640"/>
              </a:lnSpc>
              <a:buFont typeface="Arial"/>
              <a:buChar char="•"/>
            </a:pPr>
            <a:r>
              <a:rPr lang="en-US" sz="2600">
                <a:solidFill>
                  <a:srgbClr val="000000"/>
                </a:solidFill>
                <a:latin typeface="Open Sans"/>
                <a:ea typeface="Open Sans"/>
                <a:cs typeface="Open Sans"/>
                <a:sym typeface="Open Sans"/>
              </a:rPr>
              <a:t>insertarProceso: </a:t>
            </a:r>
            <a:r>
              <a:rPr lang="en-US" sz="2600" strike="noStrike" u="none">
                <a:solidFill>
                  <a:srgbClr val="000000"/>
                </a:solidFill>
                <a:latin typeface="Open Sans"/>
                <a:ea typeface="Open Sans"/>
                <a:cs typeface="Open Sans"/>
                <a:sym typeface="Open Sans"/>
              </a:rPr>
              <a:t>Añad</a:t>
            </a:r>
            <a:r>
              <a:rPr lang="en-US" sz="2600" strike="noStrike" u="none">
                <a:solidFill>
                  <a:srgbClr val="000000"/>
                </a:solidFill>
                <a:latin typeface="Open Sans"/>
                <a:ea typeface="Open Sans"/>
                <a:cs typeface="Open Sans"/>
                <a:sym typeface="Open Sans"/>
              </a:rPr>
              <a:t>e un nuevo proceso al </a:t>
            </a:r>
            <a:r>
              <a:rPr lang="en-US" sz="2600" strike="noStrike" u="none">
                <a:solidFill>
                  <a:srgbClr val="000000"/>
                </a:solidFill>
                <a:latin typeface="Open Sans"/>
                <a:ea typeface="Open Sans"/>
                <a:cs typeface="Open Sans"/>
                <a:sym typeface="Open Sans"/>
              </a:rPr>
              <a:t>i</a:t>
            </a:r>
            <a:r>
              <a:rPr lang="en-US" sz="2600" strike="noStrike" u="none">
                <a:solidFill>
                  <a:srgbClr val="000000"/>
                </a:solidFill>
                <a:latin typeface="Open Sans"/>
                <a:ea typeface="Open Sans"/>
                <a:cs typeface="Open Sans"/>
                <a:sym typeface="Open Sans"/>
              </a:rPr>
              <a:t>nicio de la lista.</a:t>
            </a:r>
          </a:p>
          <a:p>
            <a:pPr algn="l" marL="561344" indent="-280672" lvl="1">
              <a:lnSpc>
                <a:spcPts val="3640"/>
              </a:lnSpc>
              <a:buFont typeface="Arial"/>
              <a:buChar char="•"/>
            </a:pPr>
            <a:r>
              <a:rPr lang="en-US" sz="2600" strike="noStrike" u="none">
                <a:solidFill>
                  <a:srgbClr val="000000"/>
                </a:solidFill>
                <a:latin typeface="Open Sans"/>
                <a:ea typeface="Open Sans"/>
                <a:cs typeface="Open Sans"/>
                <a:sym typeface="Open Sans"/>
              </a:rPr>
              <a:t>busca</a:t>
            </a:r>
            <a:r>
              <a:rPr lang="en-US" sz="2600" strike="noStrike" u="none">
                <a:solidFill>
                  <a:srgbClr val="000000"/>
                </a:solidFill>
                <a:latin typeface="Open Sans"/>
                <a:ea typeface="Open Sans"/>
                <a:cs typeface="Open Sans"/>
                <a:sym typeface="Open Sans"/>
              </a:rPr>
              <a:t>r</a:t>
            </a:r>
            <a:r>
              <a:rPr lang="en-US" sz="2600" strike="noStrike" u="none">
                <a:solidFill>
                  <a:srgbClr val="000000"/>
                </a:solidFill>
                <a:latin typeface="Open Sans"/>
                <a:ea typeface="Open Sans"/>
                <a:cs typeface="Open Sans"/>
                <a:sym typeface="Open Sans"/>
              </a:rPr>
              <a:t>Proceso: Busca</a:t>
            </a:r>
            <a:r>
              <a:rPr lang="en-US" sz="2600" strike="noStrike" u="none">
                <a:solidFill>
                  <a:srgbClr val="000000"/>
                </a:solidFill>
                <a:latin typeface="Open Sans"/>
                <a:ea typeface="Open Sans"/>
                <a:cs typeface="Open Sans"/>
                <a:sym typeface="Open Sans"/>
              </a:rPr>
              <a:t> un p</a:t>
            </a:r>
            <a:r>
              <a:rPr lang="en-US" sz="2600" strike="noStrike" u="none">
                <a:solidFill>
                  <a:srgbClr val="000000"/>
                </a:solidFill>
                <a:latin typeface="Open Sans"/>
                <a:ea typeface="Open Sans"/>
                <a:cs typeface="Open Sans"/>
                <a:sym typeface="Open Sans"/>
              </a:rPr>
              <a:t>r</a:t>
            </a:r>
            <a:r>
              <a:rPr lang="en-US" sz="2600" strike="noStrike" u="none">
                <a:solidFill>
                  <a:srgbClr val="000000"/>
                </a:solidFill>
                <a:latin typeface="Open Sans"/>
                <a:ea typeface="Open Sans"/>
                <a:cs typeface="Open Sans"/>
                <a:sym typeface="Open Sans"/>
              </a:rPr>
              <a:t>oc</a:t>
            </a:r>
            <a:r>
              <a:rPr lang="en-US" sz="2600" strike="noStrike" u="none">
                <a:solidFill>
                  <a:srgbClr val="000000"/>
                </a:solidFill>
                <a:latin typeface="Open Sans"/>
                <a:ea typeface="Open Sans"/>
                <a:cs typeface="Open Sans"/>
                <a:sym typeface="Open Sans"/>
              </a:rPr>
              <a:t>es</a:t>
            </a:r>
            <a:r>
              <a:rPr lang="en-US" sz="2600" strike="noStrike" u="none">
                <a:solidFill>
                  <a:srgbClr val="000000"/>
                </a:solidFill>
                <a:latin typeface="Open Sans"/>
                <a:ea typeface="Open Sans"/>
                <a:cs typeface="Open Sans"/>
                <a:sym typeface="Open Sans"/>
              </a:rPr>
              <a:t>o </a:t>
            </a:r>
            <a:r>
              <a:rPr lang="en-US" sz="2600" strike="noStrike" u="none">
                <a:solidFill>
                  <a:srgbClr val="000000"/>
                </a:solidFill>
                <a:latin typeface="Open Sans"/>
                <a:ea typeface="Open Sans"/>
                <a:cs typeface="Open Sans"/>
                <a:sym typeface="Open Sans"/>
              </a:rPr>
              <a:t>por ID.</a:t>
            </a:r>
          </a:p>
          <a:p>
            <a:pPr algn="l" marL="561344" indent="-280672" lvl="1">
              <a:lnSpc>
                <a:spcPts val="3640"/>
              </a:lnSpc>
              <a:buFont typeface="Arial"/>
              <a:buChar char="•"/>
            </a:pPr>
            <a:r>
              <a:rPr lang="en-US" sz="2600" strike="noStrike" u="none">
                <a:solidFill>
                  <a:srgbClr val="000000"/>
                </a:solidFill>
                <a:latin typeface="Open Sans"/>
                <a:ea typeface="Open Sans"/>
                <a:cs typeface="Open Sans"/>
                <a:sym typeface="Open Sans"/>
              </a:rPr>
              <a:t>eliminarProceso: Elimina un proceso por ID.</a:t>
            </a:r>
          </a:p>
          <a:p>
            <a:pPr algn="l" marL="561344" indent="-280672" lvl="1">
              <a:lnSpc>
                <a:spcPts val="3640"/>
              </a:lnSpc>
              <a:buFont typeface="Arial"/>
              <a:buChar char="•"/>
            </a:pPr>
            <a:r>
              <a:rPr lang="en-US" sz="2600" strike="noStrike" u="none">
                <a:solidFill>
                  <a:srgbClr val="000000"/>
                </a:solidFill>
                <a:latin typeface="Open Sans"/>
                <a:ea typeface="Open Sans"/>
                <a:cs typeface="Open Sans"/>
                <a:sym typeface="Open Sans"/>
              </a:rPr>
              <a:t>modificarPrioridad: Cambia la prioridad </a:t>
            </a:r>
            <a:r>
              <a:rPr lang="en-US" sz="2600" strike="noStrike" u="none">
                <a:solidFill>
                  <a:srgbClr val="000000"/>
                </a:solidFill>
                <a:latin typeface="Open Sans"/>
                <a:ea typeface="Open Sans"/>
                <a:cs typeface="Open Sans"/>
                <a:sym typeface="Open Sans"/>
              </a:rPr>
              <a:t>de </a:t>
            </a:r>
            <a:r>
              <a:rPr lang="en-US" sz="2600" strike="noStrike" u="none">
                <a:solidFill>
                  <a:srgbClr val="000000"/>
                </a:solidFill>
                <a:latin typeface="Open Sans"/>
                <a:ea typeface="Open Sans"/>
                <a:cs typeface="Open Sans"/>
                <a:sym typeface="Open Sans"/>
              </a:rPr>
              <a:t>un proceso.</a:t>
            </a:r>
          </a:p>
          <a:p>
            <a:pPr algn="l" marL="561344" indent="-280672" lvl="1">
              <a:lnSpc>
                <a:spcPts val="3640"/>
              </a:lnSpc>
              <a:buFont typeface="Arial"/>
              <a:buChar char="•"/>
            </a:pPr>
            <a:r>
              <a:rPr lang="en-US" sz="2600" strike="noStrike" u="none">
                <a:solidFill>
                  <a:srgbClr val="000000"/>
                </a:solidFill>
                <a:latin typeface="Open Sans"/>
                <a:ea typeface="Open Sans"/>
                <a:cs typeface="Open Sans"/>
                <a:sym typeface="Open Sans"/>
              </a:rPr>
              <a:t>mos</a:t>
            </a:r>
            <a:r>
              <a:rPr lang="en-US" sz="2600" strike="noStrike" u="none">
                <a:solidFill>
                  <a:srgbClr val="000000"/>
                </a:solidFill>
                <a:latin typeface="Open Sans"/>
                <a:ea typeface="Open Sans"/>
                <a:cs typeface="Open Sans"/>
                <a:sym typeface="Open Sans"/>
              </a:rPr>
              <a:t>t</a:t>
            </a:r>
            <a:r>
              <a:rPr lang="en-US" sz="2600" strike="noStrike" u="none">
                <a:solidFill>
                  <a:srgbClr val="000000"/>
                </a:solidFill>
                <a:latin typeface="Open Sans"/>
                <a:ea typeface="Open Sans"/>
                <a:cs typeface="Open Sans"/>
                <a:sym typeface="Open Sans"/>
              </a:rPr>
              <a:t>rarProc</a:t>
            </a:r>
            <a:r>
              <a:rPr lang="en-US" sz="2600" strike="noStrike" u="none">
                <a:solidFill>
                  <a:srgbClr val="000000"/>
                </a:solidFill>
                <a:latin typeface="Open Sans"/>
                <a:ea typeface="Open Sans"/>
                <a:cs typeface="Open Sans"/>
                <a:sym typeface="Open Sans"/>
              </a:rPr>
              <a:t>e</a:t>
            </a:r>
            <a:r>
              <a:rPr lang="en-US" sz="2600" strike="noStrike" u="none">
                <a:solidFill>
                  <a:srgbClr val="000000"/>
                </a:solidFill>
                <a:latin typeface="Open Sans"/>
                <a:ea typeface="Open Sans"/>
                <a:cs typeface="Open Sans"/>
                <a:sym typeface="Open Sans"/>
              </a:rPr>
              <a:t>sos: Muestra </a:t>
            </a:r>
            <a:r>
              <a:rPr lang="en-US" sz="2600" strike="noStrike" u="none">
                <a:solidFill>
                  <a:srgbClr val="000000"/>
                </a:solidFill>
                <a:latin typeface="Open Sans"/>
                <a:ea typeface="Open Sans"/>
                <a:cs typeface="Open Sans"/>
                <a:sym typeface="Open Sans"/>
              </a:rPr>
              <a:t>to</a:t>
            </a:r>
            <a:r>
              <a:rPr lang="en-US" sz="2600" strike="noStrike" u="none">
                <a:solidFill>
                  <a:srgbClr val="000000"/>
                </a:solidFill>
                <a:latin typeface="Open Sans"/>
                <a:ea typeface="Open Sans"/>
                <a:cs typeface="Open Sans"/>
                <a:sym typeface="Open Sans"/>
              </a:rPr>
              <a:t>dos los procesos registrados.</a:t>
            </a:r>
          </a:p>
          <a:p>
            <a:pPr algn="l" marL="561344" indent="-280672" lvl="1">
              <a:lnSpc>
                <a:spcPts val="3640"/>
              </a:lnSpc>
              <a:buFont typeface="Arial"/>
              <a:buChar char="•"/>
            </a:pPr>
            <a:r>
              <a:rPr lang="en-US" sz="2600" strike="noStrike" u="none">
                <a:solidFill>
                  <a:srgbClr val="000000"/>
                </a:solidFill>
                <a:latin typeface="Open Sans"/>
                <a:ea typeface="Open Sans"/>
                <a:cs typeface="Open Sans"/>
                <a:sym typeface="Open Sans"/>
              </a:rPr>
              <a:t>guardarProcesosEnArchivo y cargarProcesosDesdeArchivo: Guardan y cargan los procesos desde un archivo .txt.</a:t>
            </a:r>
          </a:p>
          <a:p>
            <a:pPr algn="l">
              <a:lnSpc>
                <a:spcPts val="3640"/>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a:off x="-1130260" y="9277350"/>
            <a:ext cx="20548521" cy="0"/>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820488" y="-3456152"/>
            <a:ext cx="0" cy="20548521"/>
          </a:xfrm>
          <a:prstGeom prst="line">
            <a:avLst/>
          </a:prstGeom>
          <a:ln cap="flat" w="38100">
            <a:solidFill>
              <a:srgbClr val="000000"/>
            </a:solidFill>
            <a:prstDash val="solid"/>
            <a:headEnd type="none" len="sm" w="sm"/>
            <a:tailEnd type="none" len="sm" w="sm"/>
          </a:ln>
        </p:spPr>
      </p:sp>
      <p:sp>
        <p:nvSpPr>
          <p:cNvPr name="AutoShape 5" id="5"/>
          <p:cNvSpPr/>
          <p:nvPr/>
        </p:nvSpPr>
        <p:spPr>
          <a:xfrm flipV="true">
            <a:off x="16486562" y="-3456152"/>
            <a:ext cx="0" cy="20548521"/>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0">
            <a:off x="-33126" y="3289887"/>
            <a:ext cx="1853613" cy="1853613"/>
          </a:xfrm>
          <a:custGeom>
            <a:avLst/>
            <a:gdLst/>
            <a:ahLst/>
            <a:cxnLst/>
            <a:rect r="r" b="b" t="t" l="l"/>
            <a:pathLst>
              <a:path h="1853613" w="1853613">
                <a:moveTo>
                  <a:pt x="0" y="0"/>
                </a:moveTo>
                <a:lnTo>
                  <a:pt x="1853614" y="0"/>
                </a:lnTo>
                <a:lnTo>
                  <a:pt x="1853614" y="1853613"/>
                </a:lnTo>
                <a:lnTo>
                  <a:pt x="0" y="18536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33126" y="6898960"/>
            <a:ext cx="1853613" cy="1853613"/>
          </a:xfrm>
          <a:custGeom>
            <a:avLst/>
            <a:gdLst/>
            <a:ahLst/>
            <a:cxnLst/>
            <a:rect r="r" b="b" t="t" l="l"/>
            <a:pathLst>
              <a:path h="1853613" w="1853613">
                <a:moveTo>
                  <a:pt x="0" y="0"/>
                </a:moveTo>
                <a:lnTo>
                  <a:pt x="1853614" y="0"/>
                </a:lnTo>
                <a:lnTo>
                  <a:pt x="1853614" y="1853613"/>
                </a:lnTo>
                <a:lnTo>
                  <a:pt x="0" y="18536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33126" y="1534427"/>
            <a:ext cx="1853613" cy="1853613"/>
          </a:xfrm>
          <a:custGeom>
            <a:avLst/>
            <a:gdLst/>
            <a:ahLst/>
            <a:cxnLst/>
            <a:rect r="r" b="b" t="t" l="l"/>
            <a:pathLst>
              <a:path h="1853613" w="1853613">
                <a:moveTo>
                  <a:pt x="0" y="0"/>
                </a:moveTo>
                <a:lnTo>
                  <a:pt x="1853614" y="0"/>
                </a:lnTo>
                <a:lnTo>
                  <a:pt x="1853614" y="1853613"/>
                </a:lnTo>
                <a:lnTo>
                  <a:pt x="0" y="18536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33126" y="5143500"/>
            <a:ext cx="1853613" cy="1853613"/>
          </a:xfrm>
          <a:custGeom>
            <a:avLst/>
            <a:gdLst/>
            <a:ahLst/>
            <a:cxnLst/>
            <a:rect r="r" b="b" t="t" l="l"/>
            <a:pathLst>
              <a:path h="1853613" w="1853613">
                <a:moveTo>
                  <a:pt x="0" y="0"/>
                </a:moveTo>
                <a:lnTo>
                  <a:pt x="1853614" y="0"/>
                </a:lnTo>
                <a:lnTo>
                  <a:pt x="1853614" y="1853613"/>
                </a:lnTo>
                <a:lnTo>
                  <a:pt x="0" y="18536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6716932" y="2940842"/>
            <a:ext cx="3769754" cy="2652536"/>
          </a:xfrm>
          <a:custGeom>
            <a:avLst/>
            <a:gdLst/>
            <a:ahLst/>
            <a:cxnLst/>
            <a:rect r="r" b="b" t="t" l="l"/>
            <a:pathLst>
              <a:path h="2652536" w="3769754">
                <a:moveTo>
                  <a:pt x="0" y="0"/>
                </a:moveTo>
                <a:lnTo>
                  <a:pt x="3769754" y="0"/>
                </a:lnTo>
                <a:lnTo>
                  <a:pt x="3769754" y="2652536"/>
                </a:lnTo>
                <a:lnTo>
                  <a:pt x="0" y="26525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6716932" y="4693622"/>
            <a:ext cx="3769754" cy="2652536"/>
          </a:xfrm>
          <a:custGeom>
            <a:avLst/>
            <a:gdLst/>
            <a:ahLst/>
            <a:cxnLst/>
            <a:rect r="r" b="b" t="t" l="l"/>
            <a:pathLst>
              <a:path h="2652536" w="3769754">
                <a:moveTo>
                  <a:pt x="0" y="0"/>
                </a:moveTo>
                <a:lnTo>
                  <a:pt x="3769754" y="0"/>
                </a:lnTo>
                <a:lnTo>
                  <a:pt x="3769754" y="2652536"/>
                </a:lnTo>
                <a:lnTo>
                  <a:pt x="0" y="26525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2655416" y="3624036"/>
            <a:ext cx="12996218" cy="3562804"/>
          </a:xfrm>
          <a:prstGeom prst="rect">
            <a:avLst/>
          </a:prstGeom>
        </p:spPr>
        <p:txBody>
          <a:bodyPr anchor="t" rtlCol="false" tIns="0" lIns="0" bIns="0" rIns="0">
            <a:spAutoFit/>
          </a:bodyPr>
          <a:lstStyle/>
          <a:p>
            <a:pPr algn="ctr">
              <a:lnSpc>
                <a:spcPts val="8837"/>
              </a:lnSpc>
            </a:pPr>
            <a:r>
              <a:rPr lang="en-US" sz="11942" i="true">
                <a:solidFill>
                  <a:srgbClr val="1E1D1C"/>
                </a:solidFill>
                <a:latin typeface="Tex Gyre Termes Italics"/>
                <a:ea typeface="Tex Gyre Termes Italics"/>
                <a:cs typeface="Tex Gyre Termes Italics"/>
                <a:sym typeface="Tex Gyre Termes Italics"/>
              </a:rPr>
              <a:t>Explicacion del Codigo - Lista Enlazada</a:t>
            </a:r>
          </a:p>
        </p:txBody>
      </p:sp>
      <p:sp>
        <p:nvSpPr>
          <p:cNvPr name="Freeform 13" id="13"/>
          <p:cNvSpPr/>
          <p:nvPr/>
        </p:nvSpPr>
        <p:spPr>
          <a:xfrm flipH="false" flipV="false" rot="0">
            <a:off x="16716932" y="-1268748"/>
            <a:ext cx="2278398" cy="2278398"/>
          </a:xfrm>
          <a:custGeom>
            <a:avLst/>
            <a:gdLst/>
            <a:ahLst/>
            <a:cxnLst/>
            <a:rect r="r" b="b" t="t" l="l"/>
            <a:pathLst>
              <a:path h="2278398" w="2278398">
                <a:moveTo>
                  <a:pt x="0" y="0"/>
                </a:moveTo>
                <a:lnTo>
                  <a:pt x="2278398" y="0"/>
                </a:lnTo>
                <a:lnTo>
                  <a:pt x="2278398" y="2278398"/>
                </a:lnTo>
                <a:lnTo>
                  <a:pt x="0" y="22783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16487865" y="9277350"/>
            <a:ext cx="2278398" cy="2278398"/>
          </a:xfrm>
          <a:custGeom>
            <a:avLst/>
            <a:gdLst/>
            <a:ahLst/>
            <a:cxnLst/>
            <a:rect r="r" b="b" t="t" l="l"/>
            <a:pathLst>
              <a:path h="2278398" w="2278398">
                <a:moveTo>
                  <a:pt x="0" y="0"/>
                </a:moveTo>
                <a:lnTo>
                  <a:pt x="2278398" y="0"/>
                </a:lnTo>
                <a:lnTo>
                  <a:pt x="2278398" y="2278398"/>
                </a:lnTo>
                <a:lnTo>
                  <a:pt x="0" y="22783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a:off x="-1130260" y="9277350"/>
            <a:ext cx="20548521" cy="0"/>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820488" y="-3456152"/>
            <a:ext cx="0" cy="20548521"/>
          </a:xfrm>
          <a:prstGeom prst="line">
            <a:avLst/>
          </a:prstGeom>
          <a:ln cap="flat" w="38100">
            <a:solidFill>
              <a:srgbClr val="000000"/>
            </a:solidFill>
            <a:prstDash val="solid"/>
            <a:headEnd type="none" len="sm" w="sm"/>
            <a:tailEnd type="none" len="sm" w="sm"/>
          </a:ln>
        </p:spPr>
      </p:sp>
      <p:sp>
        <p:nvSpPr>
          <p:cNvPr name="AutoShape 5" id="5"/>
          <p:cNvSpPr/>
          <p:nvPr/>
        </p:nvSpPr>
        <p:spPr>
          <a:xfrm flipV="true">
            <a:off x="16486562" y="-3456152"/>
            <a:ext cx="0" cy="20548521"/>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1376464">
            <a:off x="15742396" y="2845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376464">
            <a:off x="1076321" y="853318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1255199">
            <a:off x="15742396" y="85141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8412382" y="2632692"/>
            <a:ext cx="7442624" cy="4714569"/>
          </a:xfrm>
          <a:custGeom>
            <a:avLst/>
            <a:gdLst/>
            <a:ahLst/>
            <a:cxnLst/>
            <a:rect r="r" b="b" t="t" l="l"/>
            <a:pathLst>
              <a:path h="4714569" w="7442624">
                <a:moveTo>
                  <a:pt x="0" y="0"/>
                </a:moveTo>
                <a:lnTo>
                  <a:pt x="7442624" y="0"/>
                </a:lnTo>
                <a:lnTo>
                  <a:pt x="7442624" y="4714569"/>
                </a:lnTo>
                <a:lnTo>
                  <a:pt x="0" y="4714569"/>
                </a:lnTo>
                <a:lnTo>
                  <a:pt x="0" y="0"/>
                </a:lnTo>
                <a:close/>
              </a:path>
            </a:pathLst>
          </a:custGeom>
          <a:blipFill>
            <a:blip r:embed="rId4"/>
            <a:stretch>
              <a:fillRect l="0" t="0" r="0" b="0"/>
            </a:stretch>
          </a:blipFill>
        </p:spPr>
      </p:sp>
      <p:sp>
        <p:nvSpPr>
          <p:cNvPr name="Freeform 10" id="10"/>
          <p:cNvSpPr/>
          <p:nvPr/>
        </p:nvSpPr>
        <p:spPr>
          <a:xfrm flipH="false" flipV="false" rot="0">
            <a:off x="2220113" y="2417476"/>
            <a:ext cx="5811695" cy="5145000"/>
          </a:xfrm>
          <a:custGeom>
            <a:avLst/>
            <a:gdLst/>
            <a:ahLst/>
            <a:cxnLst/>
            <a:rect r="r" b="b" t="t" l="l"/>
            <a:pathLst>
              <a:path h="5145000" w="5811695">
                <a:moveTo>
                  <a:pt x="0" y="0"/>
                </a:moveTo>
                <a:lnTo>
                  <a:pt x="5811694" y="0"/>
                </a:lnTo>
                <a:lnTo>
                  <a:pt x="5811694" y="5145000"/>
                </a:lnTo>
                <a:lnTo>
                  <a:pt x="0" y="5145000"/>
                </a:lnTo>
                <a:lnTo>
                  <a:pt x="0" y="0"/>
                </a:lnTo>
                <a:close/>
              </a:path>
            </a:pathLst>
          </a:custGeom>
          <a:blipFill>
            <a:blip r:embed="rId5"/>
            <a:stretch>
              <a:fillRect l="0" t="0" r="0" b="0"/>
            </a:stretch>
          </a:blipFill>
        </p:spPr>
      </p:sp>
      <p:sp>
        <p:nvSpPr>
          <p:cNvPr name="TextBox 11" id="11"/>
          <p:cNvSpPr txBox="true"/>
          <p:nvPr/>
        </p:nvSpPr>
        <p:spPr>
          <a:xfrm rot="0">
            <a:off x="1988181" y="1001466"/>
            <a:ext cx="5192607" cy="1003299"/>
          </a:xfrm>
          <a:prstGeom prst="rect">
            <a:avLst/>
          </a:prstGeom>
        </p:spPr>
        <p:txBody>
          <a:bodyPr anchor="t" rtlCol="false" tIns="0" lIns="0" bIns="0" rIns="0">
            <a:spAutoFit/>
          </a:bodyPr>
          <a:lstStyle/>
          <a:p>
            <a:pPr algn="l">
              <a:lnSpc>
                <a:spcPts val="8120"/>
              </a:lnSpc>
            </a:pPr>
            <a:r>
              <a:rPr lang="en-US" sz="5800" i="true" u="sng">
                <a:solidFill>
                  <a:srgbClr val="1E1D1C"/>
                </a:solidFill>
                <a:latin typeface="Tex Gyre Termes Italics"/>
                <a:ea typeface="Tex Gyre Termes Italics"/>
                <a:cs typeface="Tex Gyre Termes Italics"/>
                <a:sym typeface="Tex Gyre Termes Italics"/>
              </a:rPr>
              <a:t>Lista enlazada</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a:off x="-1130260" y="9277350"/>
            <a:ext cx="20548521" cy="0"/>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820488" y="-3456152"/>
            <a:ext cx="0" cy="20548521"/>
          </a:xfrm>
          <a:prstGeom prst="line">
            <a:avLst/>
          </a:prstGeom>
          <a:ln cap="flat" w="38100">
            <a:solidFill>
              <a:srgbClr val="000000"/>
            </a:solidFill>
            <a:prstDash val="solid"/>
            <a:headEnd type="none" len="sm" w="sm"/>
            <a:tailEnd type="none" len="sm" w="sm"/>
          </a:ln>
        </p:spPr>
      </p:sp>
      <p:sp>
        <p:nvSpPr>
          <p:cNvPr name="AutoShape 5" id="5"/>
          <p:cNvSpPr/>
          <p:nvPr/>
        </p:nvSpPr>
        <p:spPr>
          <a:xfrm flipV="true">
            <a:off x="16486562" y="-3456152"/>
            <a:ext cx="0" cy="20548521"/>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1376464">
            <a:off x="15742396" y="2845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376464">
            <a:off x="1076321" y="853318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1255199">
            <a:off x="15742396" y="85141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688747" y="2724359"/>
            <a:ext cx="6225235" cy="5509234"/>
          </a:xfrm>
          <a:custGeom>
            <a:avLst/>
            <a:gdLst/>
            <a:ahLst/>
            <a:cxnLst/>
            <a:rect r="r" b="b" t="t" l="l"/>
            <a:pathLst>
              <a:path h="5509234" w="6225235">
                <a:moveTo>
                  <a:pt x="0" y="0"/>
                </a:moveTo>
                <a:lnTo>
                  <a:pt x="6225236" y="0"/>
                </a:lnTo>
                <a:lnTo>
                  <a:pt x="6225236" y="5509233"/>
                </a:lnTo>
                <a:lnTo>
                  <a:pt x="0" y="5509233"/>
                </a:lnTo>
                <a:lnTo>
                  <a:pt x="0" y="0"/>
                </a:lnTo>
                <a:close/>
              </a:path>
            </a:pathLst>
          </a:custGeom>
          <a:blipFill>
            <a:blip r:embed="rId4"/>
            <a:stretch>
              <a:fillRect l="0" t="0" r="0" b="0"/>
            </a:stretch>
          </a:blipFill>
        </p:spPr>
      </p:sp>
      <p:sp>
        <p:nvSpPr>
          <p:cNvPr name="Freeform 10" id="10"/>
          <p:cNvSpPr/>
          <p:nvPr/>
        </p:nvSpPr>
        <p:spPr>
          <a:xfrm flipH="false" flipV="false" rot="0">
            <a:off x="9376328" y="2990383"/>
            <a:ext cx="6628839" cy="4977184"/>
          </a:xfrm>
          <a:custGeom>
            <a:avLst/>
            <a:gdLst/>
            <a:ahLst/>
            <a:cxnLst/>
            <a:rect r="r" b="b" t="t" l="l"/>
            <a:pathLst>
              <a:path h="4977184" w="6628839">
                <a:moveTo>
                  <a:pt x="0" y="0"/>
                </a:moveTo>
                <a:lnTo>
                  <a:pt x="6628839" y="0"/>
                </a:lnTo>
                <a:lnTo>
                  <a:pt x="6628839" y="4977185"/>
                </a:lnTo>
                <a:lnTo>
                  <a:pt x="0" y="4977185"/>
                </a:lnTo>
                <a:lnTo>
                  <a:pt x="0" y="0"/>
                </a:lnTo>
                <a:close/>
              </a:path>
            </a:pathLst>
          </a:custGeom>
          <a:blipFill>
            <a:blip r:embed="rId5"/>
            <a:stretch>
              <a:fillRect l="0" t="0" r="0" b="0"/>
            </a:stretch>
          </a:blipFill>
        </p:spPr>
      </p:sp>
      <p:sp>
        <p:nvSpPr>
          <p:cNvPr name="TextBox 11" id="11"/>
          <p:cNvSpPr txBox="true"/>
          <p:nvPr/>
        </p:nvSpPr>
        <p:spPr>
          <a:xfrm rot="0">
            <a:off x="1988181" y="1001466"/>
            <a:ext cx="5192607" cy="1003299"/>
          </a:xfrm>
          <a:prstGeom prst="rect">
            <a:avLst/>
          </a:prstGeom>
        </p:spPr>
        <p:txBody>
          <a:bodyPr anchor="t" rtlCol="false" tIns="0" lIns="0" bIns="0" rIns="0">
            <a:spAutoFit/>
          </a:bodyPr>
          <a:lstStyle/>
          <a:p>
            <a:pPr algn="l">
              <a:lnSpc>
                <a:spcPts val="8120"/>
              </a:lnSpc>
            </a:pPr>
            <a:r>
              <a:rPr lang="en-US" sz="5800" i="true" u="sng">
                <a:solidFill>
                  <a:srgbClr val="1E1D1C"/>
                </a:solidFill>
                <a:latin typeface="Tex Gyre Termes Italics"/>
                <a:ea typeface="Tex Gyre Termes Italics"/>
                <a:cs typeface="Tex Gyre Termes Italics"/>
                <a:sym typeface="Tex Gyre Termes Italics"/>
              </a:rPr>
              <a:t>Lista enlazada</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a:off x="-1130260" y="9277350"/>
            <a:ext cx="20548521" cy="0"/>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820488" y="-3456152"/>
            <a:ext cx="0" cy="20548521"/>
          </a:xfrm>
          <a:prstGeom prst="line">
            <a:avLst/>
          </a:prstGeom>
          <a:ln cap="flat" w="38100">
            <a:solidFill>
              <a:srgbClr val="000000"/>
            </a:solidFill>
            <a:prstDash val="solid"/>
            <a:headEnd type="none" len="sm" w="sm"/>
            <a:tailEnd type="none" len="sm" w="sm"/>
          </a:ln>
        </p:spPr>
      </p:sp>
      <p:sp>
        <p:nvSpPr>
          <p:cNvPr name="AutoShape 5" id="5"/>
          <p:cNvSpPr/>
          <p:nvPr/>
        </p:nvSpPr>
        <p:spPr>
          <a:xfrm flipV="true">
            <a:off x="16486562" y="-3456152"/>
            <a:ext cx="0" cy="20548521"/>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1376464">
            <a:off x="15742396" y="2845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376464">
            <a:off x="1076321" y="853318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1255199">
            <a:off x="15742396" y="85141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191240" y="2116679"/>
            <a:ext cx="6881461" cy="3405038"/>
          </a:xfrm>
          <a:custGeom>
            <a:avLst/>
            <a:gdLst/>
            <a:ahLst/>
            <a:cxnLst/>
            <a:rect r="r" b="b" t="t" l="l"/>
            <a:pathLst>
              <a:path h="3405038" w="6881461">
                <a:moveTo>
                  <a:pt x="0" y="0"/>
                </a:moveTo>
                <a:lnTo>
                  <a:pt x="6881461" y="0"/>
                </a:lnTo>
                <a:lnTo>
                  <a:pt x="6881461" y="3405038"/>
                </a:lnTo>
                <a:lnTo>
                  <a:pt x="0" y="3405038"/>
                </a:lnTo>
                <a:lnTo>
                  <a:pt x="0" y="0"/>
                </a:lnTo>
                <a:close/>
              </a:path>
            </a:pathLst>
          </a:custGeom>
          <a:blipFill>
            <a:blip r:embed="rId4"/>
            <a:stretch>
              <a:fillRect l="0" t="0" r="0" b="0"/>
            </a:stretch>
          </a:blipFill>
        </p:spPr>
      </p:sp>
      <p:sp>
        <p:nvSpPr>
          <p:cNvPr name="Freeform 10" id="10"/>
          <p:cNvSpPr/>
          <p:nvPr/>
        </p:nvSpPr>
        <p:spPr>
          <a:xfrm flipH="false" flipV="false" rot="0">
            <a:off x="2191240" y="5657218"/>
            <a:ext cx="6881461" cy="3380861"/>
          </a:xfrm>
          <a:custGeom>
            <a:avLst/>
            <a:gdLst/>
            <a:ahLst/>
            <a:cxnLst/>
            <a:rect r="r" b="b" t="t" l="l"/>
            <a:pathLst>
              <a:path h="3380861" w="6881461">
                <a:moveTo>
                  <a:pt x="0" y="0"/>
                </a:moveTo>
                <a:lnTo>
                  <a:pt x="6881461" y="0"/>
                </a:lnTo>
                <a:lnTo>
                  <a:pt x="6881461" y="3380861"/>
                </a:lnTo>
                <a:lnTo>
                  <a:pt x="0" y="3380861"/>
                </a:lnTo>
                <a:lnTo>
                  <a:pt x="0" y="0"/>
                </a:lnTo>
                <a:close/>
              </a:path>
            </a:pathLst>
          </a:custGeom>
          <a:blipFill>
            <a:blip r:embed="rId5"/>
            <a:stretch>
              <a:fillRect l="0" t="0" r="0" b="0"/>
            </a:stretch>
          </a:blipFill>
        </p:spPr>
      </p:sp>
      <p:sp>
        <p:nvSpPr>
          <p:cNvPr name="Freeform 11" id="11"/>
          <p:cNvSpPr/>
          <p:nvPr/>
        </p:nvSpPr>
        <p:spPr>
          <a:xfrm flipH="false" flipV="false" rot="0">
            <a:off x="9687696" y="2374046"/>
            <a:ext cx="6164822" cy="6125902"/>
          </a:xfrm>
          <a:custGeom>
            <a:avLst/>
            <a:gdLst/>
            <a:ahLst/>
            <a:cxnLst/>
            <a:rect r="r" b="b" t="t" l="l"/>
            <a:pathLst>
              <a:path h="6125902" w="6164822">
                <a:moveTo>
                  <a:pt x="0" y="0"/>
                </a:moveTo>
                <a:lnTo>
                  <a:pt x="6164821" y="0"/>
                </a:lnTo>
                <a:lnTo>
                  <a:pt x="6164821" y="6125902"/>
                </a:lnTo>
                <a:lnTo>
                  <a:pt x="0" y="6125902"/>
                </a:lnTo>
                <a:lnTo>
                  <a:pt x="0" y="0"/>
                </a:lnTo>
                <a:close/>
              </a:path>
            </a:pathLst>
          </a:custGeom>
          <a:blipFill>
            <a:blip r:embed="rId6"/>
            <a:stretch>
              <a:fillRect l="0" t="0" r="0" b="0"/>
            </a:stretch>
          </a:blipFill>
        </p:spPr>
      </p:sp>
      <p:sp>
        <p:nvSpPr>
          <p:cNvPr name="TextBox 12" id="12"/>
          <p:cNvSpPr txBox="true"/>
          <p:nvPr/>
        </p:nvSpPr>
        <p:spPr>
          <a:xfrm rot="0">
            <a:off x="1988181" y="1001466"/>
            <a:ext cx="5192607" cy="1003299"/>
          </a:xfrm>
          <a:prstGeom prst="rect">
            <a:avLst/>
          </a:prstGeom>
        </p:spPr>
        <p:txBody>
          <a:bodyPr anchor="t" rtlCol="false" tIns="0" lIns="0" bIns="0" rIns="0">
            <a:spAutoFit/>
          </a:bodyPr>
          <a:lstStyle/>
          <a:p>
            <a:pPr algn="l">
              <a:lnSpc>
                <a:spcPts val="8120"/>
              </a:lnSpc>
            </a:pPr>
            <a:r>
              <a:rPr lang="en-US" sz="5800" i="true" u="sng">
                <a:solidFill>
                  <a:srgbClr val="1E1D1C"/>
                </a:solidFill>
                <a:latin typeface="Tex Gyre Termes Italics"/>
                <a:ea typeface="Tex Gyre Termes Italics"/>
                <a:cs typeface="Tex Gyre Termes Italics"/>
                <a:sym typeface="Tex Gyre Termes Italics"/>
              </a:rPr>
              <a:t>Lista enlazada</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a:off x="-1130260" y="9277350"/>
            <a:ext cx="20548521" cy="0"/>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820488" y="-3456152"/>
            <a:ext cx="0" cy="20548521"/>
          </a:xfrm>
          <a:prstGeom prst="line">
            <a:avLst/>
          </a:prstGeom>
          <a:ln cap="flat" w="38100">
            <a:solidFill>
              <a:srgbClr val="000000"/>
            </a:solidFill>
            <a:prstDash val="solid"/>
            <a:headEnd type="none" len="sm" w="sm"/>
            <a:tailEnd type="none" len="sm" w="sm"/>
          </a:ln>
        </p:spPr>
      </p:sp>
      <p:sp>
        <p:nvSpPr>
          <p:cNvPr name="AutoShape 5" id="5"/>
          <p:cNvSpPr/>
          <p:nvPr/>
        </p:nvSpPr>
        <p:spPr>
          <a:xfrm flipV="true">
            <a:off x="16486562" y="-3456152"/>
            <a:ext cx="0" cy="20548521"/>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1376464">
            <a:off x="15742396" y="2845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376464">
            <a:off x="1076321" y="853318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1255199">
            <a:off x="15742396" y="85141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321230" y="2511525"/>
            <a:ext cx="6973151" cy="5856454"/>
          </a:xfrm>
          <a:custGeom>
            <a:avLst/>
            <a:gdLst/>
            <a:ahLst/>
            <a:cxnLst/>
            <a:rect r="r" b="b" t="t" l="l"/>
            <a:pathLst>
              <a:path h="5856454" w="6973151">
                <a:moveTo>
                  <a:pt x="0" y="0"/>
                </a:moveTo>
                <a:lnTo>
                  <a:pt x="6973151" y="0"/>
                </a:lnTo>
                <a:lnTo>
                  <a:pt x="6973151" y="5856454"/>
                </a:lnTo>
                <a:lnTo>
                  <a:pt x="0" y="5856454"/>
                </a:lnTo>
                <a:lnTo>
                  <a:pt x="0" y="0"/>
                </a:lnTo>
                <a:close/>
              </a:path>
            </a:pathLst>
          </a:custGeom>
          <a:blipFill>
            <a:blip r:embed="rId4"/>
            <a:stretch>
              <a:fillRect l="0" t="0" r="0" b="0"/>
            </a:stretch>
          </a:blipFill>
        </p:spPr>
      </p:sp>
      <p:sp>
        <p:nvSpPr>
          <p:cNvPr name="Freeform 10" id="10"/>
          <p:cNvSpPr/>
          <p:nvPr/>
        </p:nvSpPr>
        <p:spPr>
          <a:xfrm flipH="false" flipV="false" rot="0">
            <a:off x="9776073" y="2156219"/>
            <a:ext cx="6117740" cy="6567066"/>
          </a:xfrm>
          <a:custGeom>
            <a:avLst/>
            <a:gdLst/>
            <a:ahLst/>
            <a:cxnLst/>
            <a:rect r="r" b="b" t="t" l="l"/>
            <a:pathLst>
              <a:path h="6567066" w="6117740">
                <a:moveTo>
                  <a:pt x="0" y="0"/>
                </a:moveTo>
                <a:lnTo>
                  <a:pt x="6117741" y="0"/>
                </a:lnTo>
                <a:lnTo>
                  <a:pt x="6117741" y="6567066"/>
                </a:lnTo>
                <a:lnTo>
                  <a:pt x="0" y="6567066"/>
                </a:lnTo>
                <a:lnTo>
                  <a:pt x="0" y="0"/>
                </a:lnTo>
                <a:close/>
              </a:path>
            </a:pathLst>
          </a:custGeom>
          <a:blipFill>
            <a:blip r:embed="rId5"/>
            <a:stretch>
              <a:fillRect l="0" t="0" r="0" b="0"/>
            </a:stretch>
          </a:blipFill>
        </p:spPr>
      </p:sp>
      <p:sp>
        <p:nvSpPr>
          <p:cNvPr name="TextBox 11" id="11"/>
          <p:cNvSpPr txBox="true"/>
          <p:nvPr/>
        </p:nvSpPr>
        <p:spPr>
          <a:xfrm rot="0">
            <a:off x="1988181" y="1001466"/>
            <a:ext cx="5192607" cy="1003299"/>
          </a:xfrm>
          <a:prstGeom prst="rect">
            <a:avLst/>
          </a:prstGeom>
        </p:spPr>
        <p:txBody>
          <a:bodyPr anchor="t" rtlCol="false" tIns="0" lIns="0" bIns="0" rIns="0">
            <a:spAutoFit/>
          </a:bodyPr>
          <a:lstStyle/>
          <a:p>
            <a:pPr algn="l">
              <a:lnSpc>
                <a:spcPts val="8120"/>
              </a:lnSpc>
            </a:pPr>
            <a:r>
              <a:rPr lang="en-US" sz="5800" i="true" u="sng">
                <a:solidFill>
                  <a:srgbClr val="1E1D1C"/>
                </a:solidFill>
                <a:latin typeface="Tex Gyre Termes Italics"/>
                <a:ea typeface="Tex Gyre Termes Italics"/>
                <a:cs typeface="Tex Gyre Termes Italics"/>
                <a:sym typeface="Tex Gyre Termes Italics"/>
              </a:rPr>
              <a:t>Lista enlazada</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a:off x="-1130260" y="9277350"/>
            <a:ext cx="20548521" cy="0"/>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820488" y="-3456152"/>
            <a:ext cx="0" cy="20548521"/>
          </a:xfrm>
          <a:prstGeom prst="line">
            <a:avLst/>
          </a:prstGeom>
          <a:ln cap="flat" w="38100">
            <a:solidFill>
              <a:srgbClr val="000000"/>
            </a:solidFill>
            <a:prstDash val="solid"/>
            <a:headEnd type="none" len="sm" w="sm"/>
            <a:tailEnd type="none" len="sm" w="sm"/>
          </a:ln>
        </p:spPr>
      </p:sp>
      <p:sp>
        <p:nvSpPr>
          <p:cNvPr name="AutoShape 5" id="5"/>
          <p:cNvSpPr/>
          <p:nvPr/>
        </p:nvSpPr>
        <p:spPr>
          <a:xfrm flipV="true">
            <a:off x="16486562" y="-3456152"/>
            <a:ext cx="0" cy="20548521"/>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1376464">
            <a:off x="15742396" y="2845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376464">
            <a:off x="1076321" y="853318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1255199">
            <a:off x="15742396" y="85141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198569" y="3429019"/>
            <a:ext cx="11909912" cy="3848361"/>
          </a:xfrm>
          <a:custGeom>
            <a:avLst/>
            <a:gdLst/>
            <a:ahLst/>
            <a:cxnLst/>
            <a:rect r="r" b="b" t="t" l="l"/>
            <a:pathLst>
              <a:path h="3848361" w="11909912">
                <a:moveTo>
                  <a:pt x="0" y="0"/>
                </a:moveTo>
                <a:lnTo>
                  <a:pt x="11909912" y="0"/>
                </a:lnTo>
                <a:lnTo>
                  <a:pt x="11909912" y="3848361"/>
                </a:lnTo>
                <a:lnTo>
                  <a:pt x="0" y="3848361"/>
                </a:lnTo>
                <a:lnTo>
                  <a:pt x="0" y="0"/>
                </a:lnTo>
                <a:close/>
              </a:path>
            </a:pathLst>
          </a:custGeom>
          <a:blipFill>
            <a:blip r:embed="rId4"/>
            <a:stretch>
              <a:fillRect l="0" t="0" r="0" b="0"/>
            </a:stretch>
          </a:blipFill>
        </p:spPr>
      </p:sp>
      <p:sp>
        <p:nvSpPr>
          <p:cNvPr name="TextBox 10" id="10"/>
          <p:cNvSpPr txBox="true"/>
          <p:nvPr/>
        </p:nvSpPr>
        <p:spPr>
          <a:xfrm rot="0">
            <a:off x="1988181" y="1001466"/>
            <a:ext cx="5192607" cy="1003299"/>
          </a:xfrm>
          <a:prstGeom prst="rect">
            <a:avLst/>
          </a:prstGeom>
        </p:spPr>
        <p:txBody>
          <a:bodyPr anchor="t" rtlCol="false" tIns="0" lIns="0" bIns="0" rIns="0">
            <a:spAutoFit/>
          </a:bodyPr>
          <a:lstStyle/>
          <a:p>
            <a:pPr algn="l">
              <a:lnSpc>
                <a:spcPts val="8120"/>
              </a:lnSpc>
            </a:pPr>
            <a:r>
              <a:rPr lang="en-US" sz="5800" i="true" u="sng">
                <a:solidFill>
                  <a:srgbClr val="1E1D1C"/>
                </a:solidFill>
                <a:latin typeface="Tex Gyre Termes Italics"/>
                <a:ea typeface="Tex Gyre Termes Italics"/>
                <a:cs typeface="Tex Gyre Termes Italics"/>
                <a:sym typeface="Tex Gyre Termes Italics"/>
              </a:rPr>
              <a:t>Lista enlazada</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a:off x="-1130260" y="9277350"/>
            <a:ext cx="20548521" cy="0"/>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820488" y="-3456152"/>
            <a:ext cx="0" cy="20548521"/>
          </a:xfrm>
          <a:prstGeom prst="line">
            <a:avLst/>
          </a:prstGeom>
          <a:ln cap="flat" w="38100">
            <a:solidFill>
              <a:srgbClr val="000000"/>
            </a:solidFill>
            <a:prstDash val="solid"/>
            <a:headEnd type="none" len="sm" w="sm"/>
            <a:tailEnd type="none" len="sm" w="sm"/>
          </a:ln>
        </p:spPr>
      </p:sp>
      <p:sp>
        <p:nvSpPr>
          <p:cNvPr name="AutoShape 5" id="5"/>
          <p:cNvSpPr/>
          <p:nvPr/>
        </p:nvSpPr>
        <p:spPr>
          <a:xfrm flipV="true">
            <a:off x="16486562" y="-3456152"/>
            <a:ext cx="0" cy="20548521"/>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1376464">
            <a:off x="15742396" y="2845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376464">
            <a:off x="1076321" y="853318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1255199">
            <a:off x="15742396" y="85141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3286532" y="1073403"/>
            <a:ext cx="11714936" cy="2039619"/>
          </a:xfrm>
          <a:prstGeom prst="rect">
            <a:avLst/>
          </a:prstGeom>
        </p:spPr>
        <p:txBody>
          <a:bodyPr anchor="t" rtlCol="false" tIns="0" lIns="0" bIns="0" rIns="0">
            <a:spAutoFit/>
          </a:bodyPr>
          <a:lstStyle/>
          <a:p>
            <a:pPr algn="ctr">
              <a:lnSpc>
                <a:spcPts val="8120"/>
              </a:lnSpc>
            </a:pPr>
            <a:r>
              <a:rPr lang="en-US" sz="5800" i="true">
                <a:solidFill>
                  <a:srgbClr val="1E1D1C"/>
                </a:solidFill>
                <a:latin typeface="Tex Gyre Termes Italics"/>
                <a:ea typeface="Tex Gyre Termes Italics"/>
                <a:cs typeface="Tex Gyre Termes Italics"/>
                <a:sym typeface="Tex Gyre Termes Italics"/>
              </a:rPr>
              <a:t>🧸 La Fábrica de Procesos Mágicos✨ </a:t>
            </a:r>
          </a:p>
        </p:txBody>
      </p:sp>
      <p:sp>
        <p:nvSpPr>
          <p:cNvPr name="TextBox 10" id="10"/>
          <p:cNvSpPr txBox="true"/>
          <p:nvPr/>
        </p:nvSpPr>
        <p:spPr>
          <a:xfrm rot="0">
            <a:off x="2626323" y="3208272"/>
            <a:ext cx="13054404" cy="5393055"/>
          </a:xfrm>
          <a:prstGeom prst="rect">
            <a:avLst/>
          </a:prstGeom>
        </p:spPr>
        <p:txBody>
          <a:bodyPr anchor="t" rtlCol="false" tIns="0" lIns="0" bIns="0" rIns="0">
            <a:spAutoFit/>
          </a:bodyPr>
          <a:lstStyle/>
          <a:p>
            <a:pPr algn="ctr">
              <a:lnSpc>
                <a:spcPts val="4200"/>
              </a:lnSpc>
            </a:pPr>
            <a:r>
              <a:rPr lang="en-US" sz="3000" i="true">
                <a:solidFill>
                  <a:srgbClr val="1E1D1C"/>
                </a:solidFill>
                <a:latin typeface="Tex Gyre Termes Italics"/>
                <a:ea typeface="Tex Gyre Termes Italics"/>
                <a:cs typeface="Tex Gyre Termes Italics"/>
                <a:sym typeface="Tex Gyre Termes Italics"/>
              </a:rPr>
              <a:t>Imagina que estamos en una fábrica mágica donde se crean, buscan, modifican y eliminan tareas llamadas procesos. Cada proceso es como un juguete especial que tiene:</a:t>
            </a:r>
          </a:p>
          <a:p>
            <a:pPr algn="ctr" marL="647700" indent="-323850" lvl="1">
              <a:lnSpc>
                <a:spcPts val="4200"/>
              </a:lnSpc>
              <a:buFont typeface="Arial"/>
              <a:buChar char="•"/>
            </a:pPr>
            <a:r>
              <a:rPr lang="en-US" sz="3000" i="true">
                <a:solidFill>
                  <a:srgbClr val="1E1D1C"/>
                </a:solidFill>
                <a:latin typeface="Tex Gyre Termes Italics"/>
                <a:ea typeface="Tex Gyre Termes Italics"/>
                <a:cs typeface="Tex Gyre Termes Italics"/>
                <a:sym typeface="Tex Gyre Termes Italics"/>
              </a:rPr>
              <a:t>🪪 Un número de identificación (id) para que nunca se confunda con otro.</a:t>
            </a:r>
          </a:p>
          <a:p>
            <a:pPr algn="ctr" marL="647700" indent="-323850" lvl="1">
              <a:lnSpc>
                <a:spcPts val="4200"/>
              </a:lnSpc>
              <a:buFont typeface="Arial"/>
              <a:buChar char="•"/>
            </a:pPr>
            <a:r>
              <a:rPr lang="en-US" sz="3000" i="true">
                <a:solidFill>
                  <a:srgbClr val="1E1D1C"/>
                </a:solidFill>
                <a:latin typeface="Tex Gyre Termes Italics"/>
                <a:ea typeface="Tex Gyre Termes Italics"/>
                <a:cs typeface="Tex Gyre Termes Italics"/>
                <a:sym typeface="Tex Gyre Termes Italics"/>
              </a:rPr>
              <a:t>🧸 Un nombre, como si fuera el nombre del juguete.</a:t>
            </a:r>
          </a:p>
          <a:p>
            <a:pPr algn="ctr" marL="647700" indent="-323850" lvl="1">
              <a:lnSpc>
                <a:spcPts val="4200"/>
              </a:lnSpc>
              <a:buFont typeface="Arial"/>
              <a:buChar char="•"/>
            </a:pPr>
            <a:r>
              <a:rPr lang="en-US" sz="3000" i="true">
                <a:solidFill>
                  <a:srgbClr val="1E1D1C"/>
                </a:solidFill>
                <a:latin typeface="Tex Gyre Termes Italics"/>
                <a:ea typeface="Tex Gyre Termes Italics"/>
                <a:cs typeface="Tex Gyre Termes Italics"/>
                <a:sym typeface="Tex Gyre Termes Italics"/>
              </a:rPr>
              <a:t>🌟 Una prioridad, que nos dice qué tan importante es ese juguete en la fábrica.</a:t>
            </a:r>
          </a:p>
          <a:p>
            <a:pPr algn="ctr">
              <a:lnSpc>
                <a:spcPts val="4200"/>
              </a:lnSpc>
            </a:pPr>
            <a:r>
              <a:rPr lang="en-US" sz="3000" i="true">
                <a:solidFill>
                  <a:srgbClr val="1E1D1C"/>
                </a:solidFill>
                <a:latin typeface="Tex Gyre Termes Italics"/>
                <a:ea typeface="Tex Gyre Termes Italics"/>
                <a:cs typeface="Tex Gyre Termes Italics"/>
                <a:sym typeface="Tex Gyre Termes Italics"/>
              </a:rPr>
              <a:t>Y hay un duendecito llamado Gestor que se encarga de organizar estos juguetes mágicos en una lista invisible (¡una lista enlazada!), donde cada juguete está tomado de la mano con el siguiente.</a:t>
            </a:r>
          </a:p>
          <a:p>
            <a:pPr algn="ctr">
              <a:lnSpc>
                <a:spcPts val="4200"/>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a:off x="-1130260" y="9277350"/>
            <a:ext cx="20548521" cy="0"/>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820488" y="-3456152"/>
            <a:ext cx="0" cy="20548521"/>
          </a:xfrm>
          <a:prstGeom prst="line">
            <a:avLst/>
          </a:prstGeom>
          <a:ln cap="flat" w="38100">
            <a:solidFill>
              <a:srgbClr val="000000"/>
            </a:solidFill>
            <a:prstDash val="solid"/>
            <a:headEnd type="none" len="sm" w="sm"/>
            <a:tailEnd type="none" len="sm" w="sm"/>
          </a:ln>
        </p:spPr>
      </p:sp>
      <p:sp>
        <p:nvSpPr>
          <p:cNvPr name="AutoShape 5" id="5"/>
          <p:cNvSpPr/>
          <p:nvPr/>
        </p:nvSpPr>
        <p:spPr>
          <a:xfrm flipV="true">
            <a:off x="16486562" y="-3456152"/>
            <a:ext cx="0" cy="20548521"/>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1376464">
            <a:off x="15742396" y="2845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376464">
            <a:off x="1076321" y="853318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1255199">
            <a:off x="15742396" y="85141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3286532" y="1073403"/>
            <a:ext cx="11714936" cy="2039619"/>
          </a:xfrm>
          <a:prstGeom prst="rect">
            <a:avLst/>
          </a:prstGeom>
        </p:spPr>
        <p:txBody>
          <a:bodyPr anchor="t" rtlCol="false" tIns="0" lIns="0" bIns="0" rIns="0">
            <a:spAutoFit/>
          </a:bodyPr>
          <a:lstStyle/>
          <a:p>
            <a:pPr algn="ctr">
              <a:lnSpc>
                <a:spcPts val="8120"/>
              </a:lnSpc>
            </a:pPr>
            <a:r>
              <a:rPr lang="en-US" sz="5800" i="true">
                <a:solidFill>
                  <a:srgbClr val="1E1D1C"/>
                </a:solidFill>
                <a:latin typeface="Tex Gyre Termes Italics"/>
                <a:ea typeface="Tex Gyre Termes Italics"/>
                <a:cs typeface="Tex Gyre Termes Italics"/>
                <a:sym typeface="Tex Gyre Termes Italics"/>
              </a:rPr>
              <a:t>🔨 ¿Qué puede hacer este gestor mágico?</a:t>
            </a:r>
          </a:p>
        </p:txBody>
      </p:sp>
      <p:sp>
        <p:nvSpPr>
          <p:cNvPr name="TextBox 10" id="10"/>
          <p:cNvSpPr txBox="true"/>
          <p:nvPr/>
        </p:nvSpPr>
        <p:spPr>
          <a:xfrm rot="0">
            <a:off x="2616798" y="3065397"/>
            <a:ext cx="13054404" cy="6483985"/>
          </a:xfrm>
          <a:prstGeom prst="rect">
            <a:avLst/>
          </a:prstGeom>
        </p:spPr>
        <p:txBody>
          <a:bodyPr anchor="t" rtlCol="false" tIns="0" lIns="0" bIns="0" rIns="0">
            <a:spAutoFit/>
          </a:bodyPr>
          <a:lstStyle/>
          <a:p>
            <a:pPr algn="l">
              <a:lnSpc>
                <a:spcPts val="3919"/>
              </a:lnSpc>
            </a:pPr>
            <a:r>
              <a:rPr lang="en-US" sz="2799" i="true">
                <a:solidFill>
                  <a:srgbClr val="1E1D1C"/>
                </a:solidFill>
                <a:latin typeface="Tex Gyre Termes Italics"/>
                <a:ea typeface="Tex Gyre Termes Italics"/>
                <a:cs typeface="Tex Gyre Termes Italics"/>
                <a:sym typeface="Tex Gyre Termes Italics"/>
              </a:rPr>
              <a:t>🌱 Crear un nuevo juguete:</a:t>
            </a:r>
          </a:p>
          <a:p>
            <a:pPr algn="l">
              <a:lnSpc>
                <a:spcPts val="3919"/>
              </a:lnSpc>
            </a:pPr>
          </a:p>
          <a:p>
            <a:pPr algn="l" marL="604519" indent="-302260" lvl="1">
              <a:lnSpc>
                <a:spcPts val="3919"/>
              </a:lnSpc>
              <a:buFont typeface="Arial"/>
              <a:buChar char="•"/>
            </a:pPr>
            <a:r>
              <a:rPr lang="en-US" sz="2799" i="true">
                <a:solidFill>
                  <a:srgbClr val="1E1D1C"/>
                </a:solidFill>
                <a:latin typeface="Tex Gyre Termes Italics"/>
                <a:ea typeface="Tex Gyre Termes Italics"/>
                <a:cs typeface="Tex Gyre Termes Italics"/>
                <a:sym typeface="Tex Gyre Termes Italics"/>
              </a:rPr>
              <a:t>El duendecito revisa si ya hay un juguete con ese nombre, número o nivel de importancia.</a:t>
            </a:r>
          </a:p>
          <a:p>
            <a:pPr algn="l" marL="604519" indent="-302260" lvl="1">
              <a:lnSpc>
                <a:spcPts val="3919"/>
              </a:lnSpc>
              <a:buFont typeface="Arial"/>
              <a:buChar char="•"/>
            </a:pPr>
            <a:r>
              <a:rPr lang="en-US" sz="2799" i="true">
                <a:solidFill>
                  <a:srgbClr val="1E1D1C"/>
                </a:solidFill>
                <a:latin typeface="Tex Gyre Termes Italics"/>
                <a:ea typeface="Tex Gyre Termes Italics"/>
                <a:cs typeface="Tex Gyre Termes Italics"/>
                <a:sym typeface="Tex Gyre Termes Italics"/>
              </a:rPr>
              <a:t>Si es único, lo pone al principio de la fila.</a:t>
            </a:r>
          </a:p>
          <a:p>
            <a:pPr algn="ctr">
              <a:lnSpc>
                <a:spcPts val="3919"/>
              </a:lnSpc>
            </a:pPr>
            <a:r>
              <a:rPr lang="en-US" sz="2799" i="true">
                <a:solidFill>
                  <a:srgbClr val="1E1D1C"/>
                </a:solidFill>
                <a:latin typeface="Tex Gyre Termes Italics"/>
                <a:ea typeface="Tex Gyre Termes Italics"/>
                <a:cs typeface="Tex Gyre Termes Italics"/>
                <a:sym typeface="Tex Gyre Termes Italics"/>
              </a:rPr>
              <a:t>(¡Como cuando te formas primero en la cola del recreo!)</a:t>
            </a:r>
          </a:p>
          <a:p>
            <a:pPr algn="l">
              <a:lnSpc>
                <a:spcPts val="3919"/>
              </a:lnSpc>
            </a:pPr>
          </a:p>
          <a:p>
            <a:pPr algn="l">
              <a:lnSpc>
                <a:spcPts val="3919"/>
              </a:lnSpc>
            </a:pPr>
            <a:r>
              <a:rPr lang="en-US" sz="2799" i="true">
                <a:solidFill>
                  <a:srgbClr val="1E1D1C"/>
                </a:solidFill>
                <a:latin typeface="Tex Gyre Termes Italics"/>
                <a:ea typeface="Tex Gyre Termes Italics"/>
                <a:cs typeface="Tex Gyre Termes Italics"/>
                <a:sym typeface="Tex Gyre Termes Italics"/>
              </a:rPr>
              <a:t>🔍 Buscar un juguete especial:</a:t>
            </a:r>
          </a:p>
          <a:p>
            <a:pPr algn="l">
              <a:lnSpc>
                <a:spcPts val="3919"/>
              </a:lnSpc>
            </a:pPr>
          </a:p>
          <a:p>
            <a:pPr algn="l" marL="604519" indent="-302260" lvl="1">
              <a:lnSpc>
                <a:spcPts val="3919"/>
              </a:lnSpc>
              <a:buFont typeface="Arial"/>
              <a:buChar char="•"/>
            </a:pPr>
            <a:r>
              <a:rPr lang="en-US" sz="2799" i="true">
                <a:solidFill>
                  <a:srgbClr val="1E1D1C"/>
                </a:solidFill>
                <a:latin typeface="Tex Gyre Termes Italics"/>
                <a:ea typeface="Tex Gyre Termes Italics"/>
                <a:cs typeface="Tex Gyre Termes Italics"/>
                <a:sym typeface="Tex Gyre Termes Italics"/>
              </a:rPr>
              <a:t>El gestor camina por toda la fila y revisa uno por uno hasta encontrar el que tenga el número correcto.</a:t>
            </a:r>
          </a:p>
          <a:p>
            <a:pPr algn="l" marL="604519" indent="-302260" lvl="1">
              <a:lnSpc>
                <a:spcPts val="3919"/>
              </a:lnSpc>
              <a:buFont typeface="Arial"/>
              <a:buChar char="•"/>
            </a:pPr>
            <a:r>
              <a:rPr lang="en-US" sz="2799" i="true">
                <a:solidFill>
                  <a:srgbClr val="1E1D1C"/>
                </a:solidFill>
                <a:latin typeface="Tex Gyre Termes Italics"/>
                <a:ea typeface="Tex Gyre Termes Italics"/>
                <a:cs typeface="Tex Gyre Termes Italics"/>
                <a:sym typeface="Tex Gyre Termes Italics"/>
              </a:rPr>
              <a:t>Si lo encuentra, te lo muestra con una sonrisa.</a:t>
            </a:r>
          </a:p>
          <a:p>
            <a:pPr algn="ctr">
              <a:lnSpc>
                <a:spcPts val="3919"/>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a:off x="-1130260" y="9277350"/>
            <a:ext cx="20548521" cy="0"/>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820488" y="-3456152"/>
            <a:ext cx="0" cy="20548521"/>
          </a:xfrm>
          <a:prstGeom prst="line">
            <a:avLst/>
          </a:prstGeom>
          <a:ln cap="flat" w="38100">
            <a:solidFill>
              <a:srgbClr val="000000"/>
            </a:solidFill>
            <a:prstDash val="solid"/>
            <a:headEnd type="none" len="sm" w="sm"/>
            <a:tailEnd type="none" len="sm" w="sm"/>
          </a:ln>
        </p:spPr>
      </p:sp>
      <p:sp>
        <p:nvSpPr>
          <p:cNvPr name="AutoShape 5" id="5"/>
          <p:cNvSpPr/>
          <p:nvPr/>
        </p:nvSpPr>
        <p:spPr>
          <a:xfrm flipV="true">
            <a:off x="16486562" y="-3456152"/>
            <a:ext cx="0" cy="20548521"/>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1376464">
            <a:off x="15742396" y="2845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376464">
            <a:off x="1076321" y="853318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1255199">
            <a:off x="15742396" y="85141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2616798" y="1090879"/>
            <a:ext cx="13054404" cy="8480425"/>
          </a:xfrm>
          <a:prstGeom prst="rect">
            <a:avLst/>
          </a:prstGeom>
        </p:spPr>
        <p:txBody>
          <a:bodyPr anchor="t" rtlCol="false" tIns="0" lIns="0" bIns="0" rIns="0">
            <a:spAutoFit/>
          </a:bodyPr>
          <a:lstStyle/>
          <a:p>
            <a:pPr algn="l">
              <a:lnSpc>
                <a:spcPts val="3919"/>
              </a:lnSpc>
            </a:pPr>
            <a:r>
              <a:rPr lang="en-US" sz="2799" i="true">
                <a:solidFill>
                  <a:srgbClr val="1E1D1C"/>
                </a:solidFill>
                <a:latin typeface="Tex Gyre Termes Italics"/>
                <a:ea typeface="Tex Gyre Termes Italics"/>
                <a:cs typeface="Tex Gyre Termes Italics"/>
                <a:sym typeface="Tex Gyre Termes Italics"/>
              </a:rPr>
              <a:t>🧼 Eliminar un juguete roto:</a:t>
            </a:r>
          </a:p>
          <a:p>
            <a:pPr algn="l">
              <a:lnSpc>
                <a:spcPts val="3919"/>
              </a:lnSpc>
            </a:pPr>
          </a:p>
          <a:p>
            <a:pPr algn="l" marL="604519" indent="-302260" lvl="1">
              <a:lnSpc>
                <a:spcPts val="3919"/>
              </a:lnSpc>
              <a:buFont typeface="Arial"/>
              <a:buChar char="•"/>
            </a:pPr>
            <a:r>
              <a:rPr lang="en-US" sz="2799" i="true">
                <a:solidFill>
                  <a:srgbClr val="1E1D1C"/>
                </a:solidFill>
                <a:latin typeface="Tex Gyre Termes Italics"/>
                <a:ea typeface="Tex Gyre Termes Italics"/>
                <a:cs typeface="Tex Gyre Termes Italics"/>
                <a:sym typeface="Tex Gyre Termes Italics"/>
              </a:rPr>
              <a:t>Si un juguete ya no sirve, el gestor lo saca de la fila y lo lleva a reciclar.</a:t>
            </a:r>
          </a:p>
          <a:p>
            <a:pPr algn="l" marL="604519" indent="-302260" lvl="1">
              <a:lnSpc>
                <a:spcPts val="3919"/>
              </a:lnSpc>
              <a:buFont typeface="Arial"/>
              <a:buChar char="•"/>
            </a:pPr>
            <a:r>
              <a:rPr lang="en-US" sz="2799" i="true">
                <a:solidFill>
                  <a:srgbClr val="1E1D1C"/>
                </a:solidFill>
                <a:latin typeface="Tex Gyre Termes Italics"/>
                <a:ea typeface="Tex Gyre Termes Italics"/>
                <a:cs typeface="Tex Gyre Termes Italics"/>
                <a:sym typeface="Tex Gyre Termes Italics"/>
              </a:rPr>
              <a:t>Pero lo hace con cuidado para no romper la cadena de manos.</a:t>
            </a:r>
          </a:p>
          <a:p>
            <a:pPr algn="l">
              <a:lnSpc>
                <a:spcPts val="3919"/>
              </a:lnSpc>
            </a:pPr>
          </a:p>
          <a:p>
            <a:pPr algn="l">
              <a:lnSpc>
                <a:spcPts val="3919"/>
              </a:lnSpc>
            </a:pPr>
            <a:r>
              <a:rPr lang="en-US" sz="2799" i="true">
                <a:solidFill>
                  <a:srgbClr val="1E1D1C"/>
                </a:solidFill>
                <a:latin typeface="Tex Gyre Termes Italics"/>
                <a:ea typeface="Tex Gyre Termes Italics"/>
                <a:cs typeface="Tex Gyre Termes Italics"/>
                <a:sym typeface="Tex Gyre Termes Italics"/>
              </a:rPr>
              <a:t>🔧 Cambiar la prioridad de un juguete:</a:t>
            </a:r>
          </a:p>
          <a:p>
            <a:pPr algn="l">
              <a:lnSpc>
                <a:spcPts val="3919"/>
              </a:lnSpc>
            </a:pPr>
          </a:p>
          <a:p>
            <a:pPr algn="l" marL="604519" indent="-302260" lvl="1">
              <a:lnSpc>
                <a:spcPts val="3919"/>
              </a:lnSpc>
              <a:buFont typeface="Arial"/>
              <a:buChar char="•"/>
            </a:pPr>
            <a:r>
              <a:rPr lang="en-US" sz="2799" i="true">
                <a:solidFill>
                  <a:srgbClr val="1E1D1C"/>
                </a:solidFill>
                <a:latin typeface="Tex Gyre Termes Italics"/>
                <a:ea typeface="Tex Gyre Termes Italics"/>
                <a:cs typeface="Tex Gyre Termes Italics"/>
                <a:sym typeface="Tex Gyre Termes Italics"/>
              </a:rPr>
              <a:t>A veces un juguete se vuelve más importante. El gestor simplemente le cambia el número de prioridad.</a:t>
            </a:r>
          </a:p>
          <a:p>
            <a:pPr algn="l">
              <a:lnSpc>
                <a:spcPts val="3919"/>
              </a:lnSpc>
            </a:pPr>
          </a:p>
          <a:p>
            <a:pPr algn="l">
              <a:lnSpc>
                <a:spcPts val="3919"/>
              </a:lnSpc>
            </a:pPr>
            <a:r>
              <a:rPr lang="en-US" sz="2799" i="true">
                <a:solidFill>
                  <a:srgbClr val="1E1D1C"/>
                </a:solidFill>
                <a:latin typeface="Tex Gyre Termes Italics"/>
                <a:ea typeface="Tex Gyre Termes Italics"/>
                <a:cs typeface="Tex Gyre Termes Italics"/>
                <a:sym typeface="Tex Gyre Termes Italics"/>
              </a:rPr>
              <a:t>💾 Guardar la fila en un papel (archivo):</a:t>
            </a:r>
          </a:p>
          <a:p>
            <a:pPr algn="l">
              <a:lnSpc>
                <a:spcPts val="3919"/>
              </a:lnSpc>
            </a:pPr>
          </a:p>
          <a:p>
            <a:pPr algn="l" marL="604519" indent="-302260" lvl="1">
              <a:lnSpc>
                <a:spcPts val="3919"/>
              </a:lnSpc>
              <a:buFont typeface="Arial"/>
              <a:buChar char="•"/>
            </a:pPr>
            <a:r>
              <a:rPr lang="en-US" sz="2799" i="true">
                <a:solidFill>
                  <a:srgbClr val="1E1D1C"/>
                </a:solidFill>
                <a:latin typeface="Tex Gyre Termes Italics"/>
                <a:ea typeface="Tex Gyre Termes Italics"/>
                <a:cs typeface="Tex Gyre Termes Italics"/>
                <a:sym typeface="Tex Gyre Termes Italics"/>
              </a:rPr>
              <a:t>Antes de irse a dormir, el gestor anota todos los juguetes y sus datos en un cuaderno (un archivo .txt), por si al día siguiente se olvidara.</a:t>
            </a:r>
          </a:p>
          <a:p>
            <a:pPr algn="l" marL="604519" indent="-302260" lvl="1">
              <a:lnSpc>
                <a:spcPts val="3919"/>
              </a:lnSpc>
              <a:buFont typeface="Arial"/>
              <a:buChar char="•"/>
            </a:pPr>
            <a:r>
              <a:rPr lang="en-US" sz="2799" i="true">
                <a:solidFill>
                  <a:srgbClr val="1E1D1C"/>
                </a:solidFill>
                <a:latin typeface="Tex Gyre Termes Italics"/>
                <a:ea typeface="Tex Gyre Termes Italics"/>
                <a:cs typeface="Tex Gyre Termes Italics"/>
                <a:sym typeface="Tex Gyre Termes Italics"/>
              </a:rPr>
              <a:t>Cuando la fábrica se abre de nuevo, revisa ese cuaderno y recrea la fila tal como estaba.</a:t>
            </a:r>
          </a:p>
          <a:p>
            <a:pPr algn="ctr">
              <a:lnSpc>
                <a:spcPts val="3919"/>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a:off x="-1130260" y="9277350"/>
            <a:ext cx="20548521" cy="0"/>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820488" y="-3456152"/>
            <a:ext cx="0" cy="20548521"/>
          </a:xfrm>
          <a:prstGeom prst="line">
            <a:avLst/>
          </a:prstGeom>
          <a:ln cap="flat" w="38100">
            <a:solidFill>
              <a:srgbClr val="000000"/>
            </a:solidFill>
            <a:prstDash val="solid"/>
            <a:headEnd type="none" len="sm" w="sm"/>
            <a:tailEnd type="none" len="sm" w="sm"/>
          </a:ln>
        </p:spPr>
      </p:sp>
      <p:sp>
        <p:nvSpPr>
          <p:cNvPr name="AutoShape 5" id="5"/>
          <p:cNvSpPr/>
          <p:nvPr/>
        </p:nvSpPr>
        <p:spPr>
          <a:xfrm flipV="true">
            <a:off x="16486562" y="-3456152"/>
            <a:ext cx="0" cy="20548521"/>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1376464">
            <a:off x="15742396" y="2845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376464">
            <a:off x="1076321" y="853318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1255199">
            <a:off x="15742396" y="85141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3286532" y="1632948"/>
            <a:ext cx="11714936" cy="1003299"/>
          </a:xfrm>
          <a:prstGeom prst="rect">
            <a:avLst/>
          </a:prstGeom>
        </p:spPr>
        <p:txBody>
          <a:bodyPr anchor="t" rtlCol="false" tIns="0" lIns="0" bIns="0" rIns="0">
            <a:spAutoFit/>
          </a:bodyPr>
          <a:lstStyle/>
          <a:p>
            <a:pPr algn="ctr">
              <a:lnSpc>
                <a:spcPts val="8120"/>
              </a:lnSpc>
            </a:pPr>
            <a:r>
              <a:rPr lang="en-US" sz="5800" i="true">
                <a:solidFill>
                  <a:srgbClr val="1E1D1C"/>
                </a:solidFill>
                <a:latin typeface="Tex Gyre Termes Italics"/>
                <a:ea typeface="Tex Gyre Termes Italics"/>
                <a:cs typeface="Tex Gyre Termes Italics"/>
                <a:sym typeface="Tex Gyre Termes Italics"/>
              </a:rPr>
              <a:t>🎮 ¿Y el menú?</a:t>
            </a:r>
          </a:p>
        </p:txBody>
      </p:sp>
      <p:sp>
        <p:nvSpPr>
          <p:cNvPr name="TextBox 10" id="10"/>
          <p:cNvSpPr txBox="true"/>
          <p:nvPr/>
        </p:nvSpPr>
        <p:spPr>
          <a:xfrm rot="0">
            <a:off x="2471333" y="4023486"/>
            <a:ext cx="13054404" cy="3221355"/>
          </a:xfrm>
          <a:prstGeom prst="rect">
            <a:avLst/>
          </a:prstGeom>
        </p:spPr>
        <p:txBody>
          <a:bodyPr anchor="t" rtlCol="false" tIns="0" lIns="0" bIns="0" rIns="0">
            <a:spAutoFit/>
          </a:bodyPr>
          <a:lstStyle/>
          <a:p>
            <a:pPr algn="ctr">
              <a:lnSpc>
                <a:spcPts val="4200"/>
              </a:lnSpc>
            </a:pPr>
            <a:r>
              <a:rPr lang="en-US" sz="3000" i="true">
                <a:solidFill>
                  <a:srgbClr val="1E1D1C"/>
                </a:solidFill>
                <a:latin typeface="Tex Gyre Termes Italics"/>
                <a:ea typeface="Tex Gyre Termes Italics"/>
                <a:cs typeface="Tex Gyre Termes Italics"/>
                <a:sym typeface="Tex Gyre Termes Italics"/>
              </a:rPr>
              <a:t>Cuando prendes la consola, es como abrir el juguetero mágico:</a:t>
            </a:r>
          </a:p>
          <a:p>
            <a:pPr algn="ctr">
              <a:lnSpc>
                <a:spcPts val="4200"/>
              </a:lnSpc>
            </a:pPr>
          </a:p>
          <a:p>
            <a:pPr algn="l" marL="647700" indent="-323850" lvl="1">
              <a:lnSpc>
                <a:spcPts val="4200"/>
              </a:lnSpc>
              <a:buFont typeface="Arial"/>
              <a:buChar char="•"/>
            </a:pPr>
            <a:r>
              <a:rPr lang="en-US" sz="3000" i="true">
                <a:solidFill>
                  <a:srgbClr val="1E1D1C"/>
                </a:solidFill>
                <a:latin typeface="Tex Gyre Termes Italics"/>
                <a:ea typeface="Tex Gyre Termes Italics"/>
                <a:cs typeface="Tex Gyre Termes Italics"/>
                <a:sym typeface="Tex Gyre Termes Italics"/>
              </a:rPr>
              <a:t>Te pregunta qué quieres hacer.</a:t>
            </a:r>
          </a:p>
          <a:p>
            <a:pPr algn="l" marL="647700" indent="-323850" lvl="1">
              <a:lnSpc>
                <a:spcPts val="4200"/>
              </a:lnSpc>
              <a:buFont typeface="Arial"/>
              <a:buChar char="•"/>
            </a:pPr>
            <a:r>
              <a:rPr lang="en-US" sz="3000" i="true">
                <a:solidFill>
                  <a:srgbClr val="1E1D1C"/>
                </a:solidFill>
                <a:latin typeface="Tex Gyre Termes Italics"/>
                <a:ea typeface="Tex Gyre Termes Italics"/>
                <a:cs typeface="Tex Gyre Termes Italics"/>
                <a:sym typeface="Tex Gyre Termes Italics"/>
              </a:rPr>
              <a:t>Tú eliges un número (como un botón de con</a:t>
            </a:r>
            <a:r>
              <a:rPr lang="en-US" sz="3000" i="true">
                <a:solidFill>
                  <a:srgbClr val="1E1D1C"/>
                </a:solidFill>
                <a:latin typeface="Tex Gyre Termes Italics"/>
                <a:ea typeface="Tex Gyre Termes Italics"/>
                <a:cs typeface="Tex Gyre Termes Italics"/>
                <a:sym typeface="Tex Gyre Termes Italics"/>
              </a:rPr>
              <a:t>sola de videojuegos).</a:t>
            </a:r>
          </a:p>
          <a:p>
            <a:pPr algn="l" marL="647700" indent="-323850" lvl="1">
              <a:lnSpc>
                <a:spcPts val="4200"/>
              </a:lnSpc>
              <a:buFont typeface="Arial"/>
              <a:buChar char="•"/>
            </a:pPr>
            <a:r>
              <a:rPr lang="en-US" sz="3000" i="true">
                <a:solidFill>
                  <a:srgbClr val="1E1D1C"/>
                </a:solidFill>
                <a:latin typeface="Tex Gyre Termes Italics"/>
                <a:ea typeface="Tex Gyre Termes Italics"/>
                <a:cs typeface="Tex Gyre Termes Italics"/>
                <a:sym typeface="Tex Gyre Termes Italics"/>
              </a:rPr>
              <a:t>Y él hace la magia.</a:t>
            </a:r>
          </a:p>
          <a:p>
            <a:pPr algn="ctr">
              <a:lnSpc>
                <a:spcPts val="4200"/>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a:off x="-1130260" y="9277350"/>
            <a:ext cx="20548521" cy="0"/>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820488" y="-3456152"/>
            <a:ext cx="0" cy="20548521"/>
          </a:xfrm>
          <a:prstGeom prst="line">
            <a:avLst/>
          </a:prstGeom>
          <a:ln cap="flat" w="38100">
            <a:solidFill>
              <a:srgbClr val="000000"/>
            </a:solidFill>
            <a:prstDash val="solid"/>
            <a:headEnd type="none" len="sm" w="sm"/>
            <a:tailEnd type="none" len="sm" w="sm"/>
          </a:ln>
        </p:spPr>
      </p:sp>
      <p:sp>
        <p:nvSpPr>
          <p:cNvPr name="AutoShape 5" id="5"/>
          <p:cNvSpPr/>
          <p:nvPr/>
        </p:nvSpPr>
        <p:spPr>
          <a:xfrm flipV="true">
            <a:off x="16486562" y="-3456152"/>
            <a:ext cx="0" cy="20548521"/>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1376464">
            <a:off x="15742396" y="2845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376464">
            <a:off x="1076321" y="853318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1255199">
            <a:off x="15742396" y="85141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3286532" y="1632948"/>
            <a:ext cx="11714936" cy="1003299"/>
          </a:xfrm>
          <a:prstGeom prst="rect">
            <a:avLst/>
          </a:prstGeom>
        </p:spPr>
        <p:txBody>
          <a:bodyPr anchor="t" rtlCol="false" tIns="0" lIns="0" bIns="0" rIns="0">
            <a:spAutoFit/>
          </a:bodyPr>
          <a:lstStyle/>
          <a:p>
            <a:pPr algn="ctr">
              <a:lnSpc>
                <a:spcPts val="8120"/>
              </a:lnSpc>
            </a:pPr>
            <a:r>
              <a:rPr lang="en-US" sz="5800" i="true">
                <a:solidFill>
                  <a:srgbClr val="1E1D1C"/>
                </a:solidFill>
                <a:latin typeface="Tex Gyre Termes Italics"/>
                <a:ea typeface="Tex Gyre Termes Italics"/>
                <a:cs typeface="Tex Gyre Termes Italics"/>
                <a:sym typeface="Tex Gyre Termes Italics"/>
              </a:rPr>
              <a:t>💡 Ejemplo</a:t>
            </a:r>
          </a:p>
        </p:txBody>
      </p:sp>
      <p:sp>
        <p:nvSpPr>
          <p:cNvPr name="TextBox 10" id="10"/>
          <p:cNvSpPr txBox="true"/>
          <p:nvPr/>
        </p:nvSpPr>
        <p:spPr>
          <a:xfrm rot="0">
            <a:off x="2616798" y="3983361"/>
            <a:ext cx="13054404" cy="3228975"/>
          </a:xfrm>
          <a:prstGeom prst="rect">
            <a:avLst/>
          </a:prstGeom>
        </p:spPr>
        <p:txBody>
          <a:bodyPr anchor="t" rtlCol="false" tIns="0" lIns="0" bIns="0" rIns="0">
            <a:spAutoFit/>
          </a:bodyPr>
          <a:lstStyle/>
          <a:p>
            <a:pPr algn="just">
              <a:lnSpc>
                <a:spcPts val="4200"/>
              </a:lnSpc>
            </a:pPr>
            <a:r>
              <a:rPr lang="en-US" b="true" sz="3000" i="true">
                <a:solidFill>
                  <a:srgbClr val="1E1D1C"/>
                </a:solidFill>
                <a:latin typeface="Tex Gyre Termes Bold Italics"/>
                <a:ea typeface="Tex Gyre Termes Bold Italics"/>
                <a:cs typeface="Tex Gyre Termes Bold Italics"/>
                <a:sym typeface="Tex Gyre Termes Bold Italics"/>
              </a:rPr>
              <a:t>Tú:</a:t>
            </a:r>
            <a:r>
              <a:rPr lang="en-US" sz="3000" i="true">
                <a:solidFill>
                  <a:srgbClr val="1E1D1C"/>
                </a:solidFill>
                <a:latin typeface="Tex Gyre Termes Italics"/>
                <a:ea typeface="Tex Gyre Termes Italics"/>
                <a:cs typeface="Tex Gyre Termes Italics"/>
                <a:sym typeface="Tex Gyre Termes Italics"/>
              </a:rPr>
              <a:t> “Quiero agregar un juguete llamado DragónRojo con prioridad 3.”</a:t>
            </a:r>
          </a:p>
          <a:p>
            <a:pPr algn="just">
              <a:lnSpc>
                <a:spcPts val="4200"/>
              </a:lnSpc>
            </a:pPr>
            <a:r>
              <a:rPr lang="en-US" b="true" sz="3000" i="true">
                <a:solidFill>
                  <a:srgbClr val="1E1D1C"/>
                </a:solidFill>
                <a:latin typeface="Tex Gyre Termes Bold Italics"/>
                <a:ea typeface="Tex Gyre Termes Bold Italics"/>
                <a:cs typeface="Tex Gyre Termes Bold Italics"/>
                <a:sym typeface="Tex Gyre Termes Bold Italics"/>
              </a:rPr>
              <a:t>Gestor:</a:t>
            </a:r>
            <a:r>
              <a:rPr lang="en-US" sz="3000" i="true">
                <a:solidFill>
                  <a:srgbClr val="1E1D1C"/>
                </a:solidFill>
                <a:latin typeface="Tex Gyre Termes Italics"/>
                <a:ea typeface="Tex Gyre Termes Italics"/>
                <a:cs typeface="Tex Gyre Termes Italics"/>
                <a:sym typeface="Tex Gyre Termes Italics"/>
              </a:rPr>
              <a:t> “¿No hay otro DragónRojo? ¿No hay otro con</a:t>
            </a:r>
            <a:r>
              <a:rPr lang="en-US" sz="3000" i="true">
                <a:solidFill>
                  <a:srgbClr val="1E1D1C"/>
                </a:solidFill>
                <a:latin typeface="Tex Gyre Termes Italics"/>
                <a:ea typeface="Tex Gyre Termes Italics"/>
                <a:cs typeface="Tex Gyre Termes Italics"/>
                <a:sym typeface="Tex Gyre Termes Italics"/>
              </a:rPr>
              <a:t> prioridad 3? ¡Perfecto! ¡Bienvenido, DragónRojo! 🐉”</a:t>
            </a:r>
          </a:p>
          <a:p>
            <a:pPr algn="just">
              <a:lnSpc>
                <a:spcPts val="4200"/>
              </a:lnSpc>
            </a:pPr>
            <a:r>
              <a:rPr lang="en-US" b="true" sz="3000" i="true">
                <a:solidFill>
                  <a:srgbClr val="1E1D1C"/>
                </a:solidFill>
                <a:latin typeface="Tex Gyre Termes Bold Italics"/>
                <a:ea typeface="Tex Gyre Termes Bold Italics"/>
                <a:cs typeface="Tex Gyre Termes Bold Italics"/>
                <a:sym typeface="Tex Gyre Termes Bold Italics"/>
              </a:rPr>
              <a:t>Tú:</a:t>
            </a:r>
            <a:r>
              <a:rPr lang="en-US" sz="3000" i="true">
                <a:solidFill>
                  <a:srgbClr val="1E1D1C"/>
                </a:solidFill>
                <a:latin typeface="Tex Gyre Termes Italics"/>
                <a:ea typeface="Tex Gyre Termes Italics"/>
                <a:cs typeface="Tex Gyre Termes Italics"/>
                <a:sym typeface="Tex Gyre Termes Italics"/>
              </a:rPr>
              <a:t> “Ahora quiero busc</a:t>
            </a:r>
            <a:r>
              <a:rPr lang="en-US" sz="3000" i="true">
                <a:solidFill>
                  <a:srgbClr val="1E1D1C"/>
                </a:solidFill>
                <a:latin typeface="Tex Gyre Termes Italics"/>
                <a:ea typeface="Tex Gyre Termes Italics"/>
                <a:cs typeface="Tex Gyre Termes Italics"/>
                <a:sym typeface="Tex Gyre Termes Italics"/>
              </a:rPr>
              <a:t>ar el juguete con ID 5.”</a:t>
            </a:r>
          </a:p>
          <a:p>
            <a:pPr algn="just">
              <a:lnSpc>
                <a:spcPts val="4200"/>
              </a:lnSpc>
            </a:pPr>
            <a:r>
              <a:rPr lang="en-US" b="true" sz="3000" i="true">
                <a:solidFill>
                  <a:srgbClr val="1E1D1C"/>
                </a:solidFill>
                <a:latin typeface="Tex Gyre Termes Bold Italics"/>
                <a:ea typeface="Tex Gyre Termes Bold Italics"/>
                <a:cs typeface="Tex Gyre Termes Bold Italics"/>
                <a:sym typeface="Tex Gyre Termes Bold Italics"/>
              </a:rPr>
              <a:t>Gestor:</a:t>
            </a:r>
            <a:r>
              <a:rPr lang="en-US" b="true" sz="3000" i="true">
                <a:solidFill>
                  <a:srgbClr val="1E1D1C"/>
                </a:solidFill>
                <a:latin typeface="Tex Gyre Termes Bold Italics"/>
                <a:ea typeface="Tex Gyre Termes Bold Italics"/>
                <a:cs typeface="Tex Gyre Termes Bold Italics"/>
                <a:sym typeface="Tex Gyre Termes Bold Italics"/>
              </a:rPr>
              <a:t> </a:t>
            </a:r>
            <a:r>
              <a:rPr lang="en-US" sz="3000" i="true">
                <a:solidFill>
                  <a:srgbClr val="1E1D1C"/>
                </a:solidFill>
                <a:latin typeface="Tex Gyre Termes Italics"/>
                <a:ea typeface="Tex Gyre Termes Italics"/>
                <a:cs typeface="Tex Gyre Termes Italics"/>
                <a:sym typeface="Tex Gyre Termes Italics"/>
              </a:rPr>
              <a:t>“¡Lo encontré! Se llama CarroAzul y tiene prioridad 2. 🚗✨”</a:t>
            </a:r>
          </a:p>
          <a:p>
            <a:pPr algn="just">
              <a:lnSpc>
                <a:spcPts val="4200"/>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a:off x="-1130260" y="9277350"/>
            <a:ext cx="20548521" cy="0"/>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820488" y="-3456152"/>
            <a:ext cx="0" cy="20548521"/>
          </a:xfrm>
          <a:prstGeom prst="line">
            <a:avLst/>
          </a:prstGeom>
          <a:ln cap="flat" w="38100">
            <a:solidFill>
              <a:srgbClr val="000000"/>
            </a:solidFill>
            <a:prstDash val="solid"/>
            <a:headEnd type="none" len="sm" w="sm"/>
            <a:tailEnd type="none" len="sm" w="sm"/>
          </a:ln>
        </p:spPr>
      </p:sp>
      <p:sp>
        <p:nvSpPr>
          <p:cNvPr name="AutoShape 5" id="5"/>
          <p:cNvSpPr/>
          <p:nvPr/>
        </p:nvSpPr>
        <p:spPr>
          <a:xfrm flipV="true">
            <a:off x="16486562" y="-3456152"/>
            <a:ext cx="0" cy="20548521"/>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0">
            <a:off x="-33126" y="3289887"/>
            <a:ext cx="1853613" cy="1853613"/>
          </a:xfrm>
          <a:custGeom>
            <a:avLst/>
            <a:gdLst/>
            <a:ahLst/>
            <a:cxnLst/>
            <a:rect r="r" b="b" t="t" l="l"/>
            <a:pathLst>
              <a:path h="1853613" w="1853613">
                <a:moveTo>
                  <a:pt x="0" y="0"/>
                </a:moveTo>
                <a:lnTo>
                  <a:pt x="1853614" y="0"/>
                </a:lnTo>
                <a:lnTo>
                  <a:pt x="1853614" y="1853613"/>
                </a:lnTo>
                <a:lnTo>
                  <a:pt x="0" y="18536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33126" y="6898960"/>
            <a:ext cx="1853613" cy="1853613"/>
          </a:xfrm>
          <a:custGeom>
            <a:avLst/>
            <a:gdLst/>
            <a:ahLst/>
            <a:cxnLst/>
            <a:rect r="r" b="b" t="t" l="l"/>
            <a:pathLst>
              <a:path h="1853613" w="1853613">
                <a:moveTo>
                  <a:pt x="0" y="0"/>
                </a:moveTo>
                <a:lnTo>
                  <a:pt x="1853614" y="0"/>
                </a:lnTo>
                <a:lnTo>
                  <a:pt x="1853614" y="1853613"/>
                </a:lnTo>
                <a:lnTo>
                  <a:pt x="0" y="18536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33126" y="1534427"/>
            <a:ext cx="1853613" cy="1853613"/>
          </a:xfrm>
          <a:custGeom>
            <a:avLst/>
            <a:gdLst/>
            <a:ahLst/>
            <a:cxnLst/>
            <a:rect r="r" b="b" t="t" l="l"/>
            <a:pathLst>
              <a:path h="1853613" w="1853613">
                <a:moveTo>
                  <a:pt x="0" y="0"/>
                </a:moveTo>
                <a:lnTo>
                  <a:pt x="1853614" y="0"/>
                </a:lnTo>
                <a:lnTo>
                  <a:pt x="1853614" y="1853613"/>
                </a:lnTo>
                <a:lnTo>
                  <a:pt x="0" y="18536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33126" y="5143500"/>
            <a:ext cx="1853613" cy="1853613"/>
          </a:xfrm>
          <a:custGeom>
            <a:avLst/>
            <a:gdLst/>
            <a:ahLst/>
            <a:cxnLst/>
            <a:rect r="r" b="b" t="t" l="l"/>
            <a:pathLst>
              <a:path h="1853613" w="1853613">
                <a:moveTo>
                  <a:pt x="0" y="0"/>
                </a:moveTo>
                <a:lnTo>
                  <a:pt x="1853614" y="0"/>
                </a:lnTo>
                <a:lnTo>
                  <a:pt x="1853614" y="1853613"/>
                </a:lnTo>
                <a:lnTo>
                  <a:pt x="0" y="18536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6716932" y="2940842"/>
            <a:ext cx="3769754" cy="2652536"/>
          </a:xfrm>
          <a:custGeom>
            <a:avLst/>
            <a:gdLst/>
            <a:ahLst/>
            <a:cxnLst/>
            <a:rect r="r" b="b" t="t" l="l"/>
            <a:pathLst>
              <a:path h="2652536" w="3769754">
                <a:moveTo>
                  <a:pt x="0" y="0"/>
                </a:moveTo>
                <a:lnTo>
                  <a:pt x="3769754" y="0"/>
                </a:lnTo>
                <a:lnTo>
                  <a:pt x="3769754" y="2652536"/>
                </a:lnTo>
                <a:lnTo>
                  <a:pt x="0" y="26525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6716932" y="4693622"/>
            <a:ext cx="3769754" cy="2652536"/>
          </a:xfrm>
          <a:custGeom>
            <a:avLst/>
            <a:gdLst/>
            <a:ahLst/>
            <a:cxnLst/>
            <a:rect r="r" b="b" t="t" l="l"/>
            <a:pathLst>
              <a:path h="2652536" w="3769754">
                <a:moveTo>
                  <a:pt x="0" y="0"/>
                </a:moveTo>
                <a:lnTo>
                  <a:pt x="3769754" y="0"/>
                </a:lnTo>
                <a:lnTo>
                  <a:pt x="3769754" y="2652536"/>
                </a:lnTo>
                <a:lnTo>
                  <a:pt x="0" y="26525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2655416" y="3624036"/>
            <a:ext cx="12996218" cy="2440759"/>
          </a:xfrm>
          <a:prstGeom prst="rect">
            <a:avLst/>
          </a:prstGeom>
        </p:spPr>
        <p:txBody>
          <a:bodyPr anchor="t" rtlCol="false" tIns="0" lIns="0" bIns="0" rIns="0">
            <a:spAutoFit/>
          </a:bodyPr>
          <a:lstStyle/>
          <a:p>
            <a:pPr algn="ctr">
              <a:lnSpc>
                <a:spcPts val="8837"/>
              </a:lnSpc>
            </a:pPr>
            <a:r>
              <a:rPr lang="en-US" sz="11942" i="true">
                <a:solidFill>
                  <a:srgbClr val="1E1D1C"/>
                </a:solidFill>
                <a:latin typeface="Tex Gyre Termes Italics"/>
                <a:ea typeface="Tex Gyre Termes Italics"/>
                <a:cs typeface="Tex Gyre Termes Italics"/>
                <a:sym typeface="Tex Gyre Termes Italics"/>
              </a:rPr>
              <a:t>Explicación del Código - Pila</a:t>
            </a:r>
          </a:p>
        </p:txBody>
      </p:sp>
      <p:sp>
        <p:nvSpPr>
          <p:cNvPr name="Freeform 13" id="13"/>
          <p:cNvSpPr/>
          <p:nvPr/>
        </p:nvSpPr>
        <p:spPr>
          <a:xfrm flipH="false" flipV="false" rot="0">
            <a:off x="16716932" y="-1268748"/>
            <a:ext cx="2278398" cy="2278398"/>
          </a:xfrm>
          <a:custGeom>
            <a:avLst/>
            <a:gdLst/>
            <a:ahLst/>
            <a:cxnLst/>
            <a:rect r="r" b="b" t="t" l="l"/>
            <a:pathLst>
              <a:path h="2278398" w="2278398">
                <a:moveTo>
                  <a:pt x="0" y="0"/>
                </a:moveTo>
                <a:lnTo>
                  <a:pt x="2278398" y="0"/>
                </a:lnTo>
                <a:lnTo>
                  <a:pt x="2278398" y="2278398"/>
                </a:lnTo>
                <a:lnTo>
                  <a:pt x="0" y="22783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16487865" y="9277350"/>
            <a:ext cx="2278398" cy="2278398"/>
          </a:xfrm>
          <a:custGeom>
            <a:avLst/>
            <a:gdLst/>
            <a:ahLst/>
            <a:cxnLst/>
            <a:rect r="r" b="b" t="t" l="l"/>
            <a:pathLst>
              <a:path h="2278398" w="2278398">
                <a:moveTo>
                  <a:pt x="0" y="0"/>
                </a:moveTo>
                <a:lnTo>
                  <a:pt x="2278398" y="0"/>
                </a:lnTo>
                <a:lnTo>
                  <a:pt x="2278398" y="2278398"/>
                </a:lnTo>
                <a:lnTo>
                  <a:pt x="0" y="22783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a:off x="-1130260" y="9277350"/>
            <a:ext cx="20548521" cy="0"/>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820488" y="-3456152"/>
            <a:ext cx="0" cy="20548521"/>
          </a:xfrm>
          <a:prstGeom prst="line">
            <a:avLst/>
          </a:prstGeom>
          <a:ln cap="flat" w="38100">
            <a:solidFill>
              <a:srgbClr val="000000"/>
            </a:solidFill>
            <a:prstDash val="solid"/>
            <a:headEnd type="none" len="sm" w="sm"/>
            <a:tailEnd type="none" len="sm" w="sm"/>
          </a:ln>
        </p:spPr>
      </p:sp>
      <p:sp>
        <p:nvSpPr>
          <p:cNvPr name="AutoShape 5" id="5"/>
          <p:cNvSpPr/>
          <p:nvPr/>
        </p:nvSpPr>
        <p:spPr>
          <a:xfrm flipV="true">
            <a:off x="16486562" y="-3456152"/>
            <a:ext cx="0" cy="20548521"/>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1376464">
            <a:off x="15742396" y="2845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376464">
            <a:off x="1076321" y="853318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1255199">
            <a:off x="15742396" y="85141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988181" y="1001466"/>
            <a:ext cx="5192607" cy="1002606"/>
          </a:xfrm>
          <a:prstGeom prst="rect">
            <a:avLst/>
          </a:prstGeom>
        </p:spPr>
        <p:txBody>
          <a:bodyPr anchor="t" rtlCol="false" tIns="0" lIns="0" bIns="0" rIns="0">
            <a:spAutoFit/>
          </a:bodyPr>
          <a:lstStyle/>
          <a:p>
            <a:pPr algn="l">
              <a:lnSpc>
                <a:spcPts val="8120"/>
              </a:lnSpc>
            </a:pPr>
            <a:r>
              <a:rPr lang="en-US" sz="5800" i="true" u="sng">
                <a:solidFill>
                  <a:srgbClr val="1E1D1C"/>
                </a:solidFill>
                <a:latin typeface="Tex Gyre Termes Italics"/>
                <a:ea typeface="Tex Gyre Termes Italics"/>
                <a:cs typeface="Tex Gyre Termes Italics"/>
                <a:sym typeface="Tex Gyre Termes Italics"/>
              </a:rPr>
              <a:t>Solución en C++</a:t>
            </a:r>
          </a:p>
        </p:txBody>
      </p:sp>
      <p:sp>
        <p:nvSpPr>
          <p:cNvPr name="TextBox 10" id="10"/>
          <p:cNvSpPr txBox="true"/>
          <p:nvPr/>
        </p:nvSpPr>
        <p:spPr>
          <a:xfrm rot="0">
            <a:off x="1988181" y="2028388"/>
            <a:ext cx="6157287" cy="629920"/>
          </a:xfrm>
          <a:prstGeom prst="rect">
            <a:avLst/>
          </a:prstGeom>
        </p:spPr>
        <p:txBody>
          <a:bodyPr anchor="t" rtlCol="false" tIns="0" lIns="0" bIns="0" rIns="0">
            <a:spAutoFit/>
          </a:bodyPr>
          <a:lstStyle/>
          <a:p>
            <a:pPr algn="l">
              <a:lnSpc>
                <a:spcPts val="5179"/>
              </a:lnSpc>
            </a:pPr>
            <a:r>
              <a:rPr lang="en-US" sz="3699" b="true">
                <a:solidFill>
                  <a:srgbClr val="1E1D1C"/>
                </a:solidFill>
                <a:latin typeface="Tex Gyre Termes Bold"/>
                <a:ea typeface="Tex Gyre Termes Bold"/>
                <a:cs typeface="Tex Gyre Termes Bold"/>
                <a:sym typeface="Tex Gyre Termes Bold"/>
              </a:rPr>
              <a:t>Pila (Gestión de memoria):</a:t>
            </a:r>
          </a:p>
        </p:txBody>
      </p:sp>
      <p:sp>
        <p:nvSpPr>
          <p:cNvPr name="TextBox 11" id="11"/>
          <p:cNvSpPr txBox="true"/>
          <p:nvPr/>
        </p:nvSpPr>
        <p:spPr>
          <a:xfrm rot="0">
            <a:off x="2146040" y="2601158"/>
            <a:ext cx="11341885" cy="5477510"/>
          </a:xfrm>
          <a:prstGeom prst="rect">
            <a:avLst/>
          </a:prstGeom>
        </p:spPr>
        <p:txBody>
          <a:bodyPr anchor="t" rtlCol="false" tIns="0" lIns="0" bIns="0" rIns="0">
            <a:spAutoFit/>
          </a:bodyPr>
          <a:lstStyle/>
          <a:p>
            <a:pPr algn="l">
              <a:lnSpc>
                <a:spcPts val="3640"/>
              </a:lnSpc>
            </a:pPr>
            <a:r>
              <a:rPr lang="en-US" sz="2600">
                <a:solidFill>
                  <a:srgbClr val="000000"/>
                </a:solidFill>
                <a:latin typeface="Open Sans"/>
                <a:ea typeface="Open Sans"/>
                <a:cs typeface="Open Sans"/>
                <a:sym typeface="Open Sans"/>
              </a:rPr>
              <a:t>Usos:</a:t>
            </a:r>
          </a:p>
          <a:p>
            <a:pPr algn="l" marL="561344" indent="-280672" lvl="1">
              <a:lnSpc>
                <a:spcPts val="3640"/>
              </a:lnSpc>
              <a:buFont typeface="Arial"/>
              <a:buChar char="•"/>
            </a:pPr>
            <a:r>
              <a:rPr lang="en-US" sz="2600">
                <a:solidFill>
                  <a:srgbClr val="000000"/>
                </a:solidFill>
                <a:latin typeface="Open Sans"/>
                <a:ea typeface="Open Sans"/>
                <a:cs typeface="Open Sans"/>
                <a:sym typeface="Open Sans"/>
              </a:rPr>
              <a:t>Simul</a:t>
            </a:r>
            <a:r>
              <a:rPr lang="en-US" sz="2600">
                <a:solidFill>
                  <a:srgbClr val="000000"/>
                </a:solidFill>
                <a:latin typeface="Open Sans"/>
                <a:ea typeface="Open Sans"/>
                <a:cs typeface="Open Sans"/>
                <a:sym typeface="Open Sans"/>
              </a:rPr>
              <a:t>a cómo se asignan bloques de memoria.</a:t>
            </a:r>
          </a:p>
          <a:p>
            <a:pPr algn="l" marL="561344" indent="-280672" lvl="1">
              <a:lnSpc>
                <a:spcPts val="3640"/>
              </a:lnSpc>
              <a:buFont typeface="Arial"/>
              <a:buChar char="•"/>
            </a:pPr>
            <a:r>
              <a:rPr lang="en-US" sz="2600">
                <a:solidFill>
                  <a:srgbClr val="000000"/>
                </a:solidFill>
                <a:latin typeface="Open Sans"/>
                <a:ea typeface="Open Sans"/>
                <a:cs typeface="Open Sans"/>
                <a:sym typeface="Open Sans"/>
              </a:rPr>
              <a:t>La última asignación es la primera que se puede liberar (como una pila real, tipo LIFO).</a:t>
            </a:r>
          </a:p>
          <a:p>
            <a:pPr algn="l">
              <a:lnSpc>
                <a:spcPts val="3640"/>
              </a:lnSpc>
            </a:pPr>
            <a:r>
              <a:rPr lang="en-US" sz="2600">
                <a:solidFill>
                  <a:srgbClr val="000000"/>
                </a:solidFill>
                <a:latin typeface="Open Sans"/>
                <a:ea typeface="Open Sans"/>
                <a:cs typeface="Open Sans"/>
                <a:sym typeface="Open Sans"/>
              </a:rPr>
              <a:t>Funciones clave:</a:t>
            </a:r>
          </a:p>
          <a:p>
            <a:pPr algn="l" marL="561344" indent="-280672" lvl="1">
              <a:lnSpc>
                <a:spcPts val="3640"/>
              </a:lnSpc>
              <a:buFont typeface="Arial"/>
              <a:buChar char="•"/>
            </a:pPr>
            <a:r>
              <a:rPr lang="en-US" sz="2600">
                <a:solidFill>
                  <a:srgbClr val="000000"/>
                </a:solidFill>
                <a:latin typeface="Open Sans"/>
                <a:ea typeface="Open Sans"/>
                <a:cs typeface="Open Sans"/>
                <a:sym typeface="Open Sans"/>
              </a:rPr>
              <a:t>As</a:t>
            </a:r>
            <a:r>
              <a:rPr lang="en-US" sz="2600">
                <a:solidFill>
                  <a:srgbClr val="000000"/>
                </a:solidFill>
                <a:latin typeface="Open Sans"/>
                <a:ea typeface="Open Sans"/>
                <a:cs typeface="Open Sans"/>
                <a:sym typeface="Open Sans"/>
              </a:rPr>
              <a:t>ignarMemoria: Empuj</a:t>
            </a:r>
            <a:r>
              <a:rPr lang="en-US" sz="2600" strike="noStrike" u="none">
                <a:solidFill>
                  <a:srgbClr val="000000"/>
                </a:solidFill>
                <a:latin typeface="Open Sans"/>
                <a:ea typeface="Open Sans"/>
                <a:cs typeface="Open Sans"/>
                <a:sym typeface="Open Sans"/>
              </a:rPr>
              <a:t>a un nuevo </a:t>
            </a:r>
            <a:r>
              <a:rPr lang="en-US" sz="2600" strike="noStrike" u="none">
                <a:solidFill>
                  <a:srgbClr val="000000"/>
                </a:solidFill>
                <a:latin typeface="Open Sans"/>
                <a:ea typeface="Open Sans"/>
                <a:cs typeface="Open Sans"/>
                <a:sym typeface="Open Sans"/>
              </a:rPr>
              <a:t>bl</a:t>
            </a:r>
            <a:r>
              <a:rPr lang="en-US" sz="2600" strike="noStrike" u="none">
                <a:solidFill>
                  <a:srgbClr val="000000"/>
                </a:solidFill>
                <a:latin typeface="Open Sans"/>
                <a:ea typeface="Open Sans"/>
                <a:cs typeface="Open Sans"/>
                <a:sym typeface="Open Sans"/>
              </a:rPr>
              <a:t>o</a:t>
            </a:r>
            <a:r>
              <a:rPr lang="en-US" sz="2600" strike="noStrike" u="none">
                <a:solidFill>
                  <a:srgbClr val="000000"/>
                </a:solidFill>
                <a:latin typeface="Open Sans"/>
                <a:ea typeface="Open Sans"/>
                <a:cs typeface="Open Sans"/>
                <a:sym typeface="Open Sans"/>
              </a:rPr>
              <a:t>qu</a:t>
            </a:r>
            <a:r>
              <a:rPr lang="en-US" sz="2600" strike="noStrike" u="none">
                <a:solidFill>
                  <a:srgbClr val="000000"/>
                </a:solidFill>
                <a:latin typeface="Open Sans"/>
                <a:ea typeface="Open Sans"/>
                <a:cs typeface="Open Sans"/>
                <a:sym typeface="Open Sans"/>
              </a:rPr>
              <a:t>e a la </a:t>
            </a:r>
            <a:r>
              <a:rPr lang="en-US" sz="2600" strike="noStrike" u="none">
                <a:solidFill>
                  <a:srgbClr val="000000"/>
                </a:solidFill>
                <a:latin typeface="Open Sans"/>
                <a:ea typeface="Open Sans"/>
                <a:cs typeface="Open Sans"/>
                <a:sym typeface="Open Sans"/>
              </a:rPr>
              <a:t>c</a:t>
            </a:r>
            <a:r>
              <a:rPr lang="en-US" sz="2600" strike="noStrike" u="none">
                <a:solidFill>
                  <a:srgbClr val="000000"/>
                </a:solidFill>
                <a:latin typeface="Open Sans"/>
                <a:ea typeface="Open Sans"/>
                <a:cs typeface="Open Sans"/>
                <a:sym typeface="Open Sans"/>
              </a:rPr>
              <a:t>i</a:t>
            </a:r>
            <a:r>
              <a:rPr lang="en-US" sz="2600" strike="noStrike" u="none">
                <a:solidFill>
                  <a:srgbClr val="000000"/>
                </a:solidFill>
                <a:latin typeface="Open Sans"/>
                <a:ea typeface="Open Sans"/>
                <a:cs typeface="Open Sans"/>
                <a:sym typeface="Open Sans"/>
              </a:rPr>
              <a:t>m</a:t>
            </a:r>
            <a:r>
              <a:rPr lang="en-US" sz="2600" strike="noStrike" u="none">
                <a:solidFill>
                  <a:srgbClr val="000000"/>
                </a:solidFill>
                <a:latin typeface="Open Sans"/>
                <a:ea typeface="Open Sans"/>
                <a:cs typeface="Open Sans"/>
                <a:sym typeface="Open Sans"/>
              </a:rPr>
              <a:t>a.</a:t>
            </a:r>
          </a:p>
          <a:p>
            <a:pPr algn="l" marL="561344" indent="-280672" lvl="1">
              <a:lnSpc>
                <a:spcPts val="3640"/>
              </a:lnSpc>
              <a:buFont typeface="Arial"/>
              <a:buChar char="•"/>
            </a:pPr>
            <a:r>
              <a:rPr lang="en-US" sz="2600" strike="noStrike" u="none">
                <a:solidFill>
                  <a:srgbClr val="000000"/>
                </a:solidFill>
                <a:latin typeface="Open Sans"/>
                <a:ea typeface="Open Sans"/>
                <a:cs typeface="Open Sans"/>
                <a:sym typeface="Open Sans"/>
              </a:rPr>
              <a:t>Li</a:t>
            </a:r>
            <a:r>
              <a:rPr lang="en-US" sz="2600" strike="noStrike" u="none">
                <a:solidFill>
                  <a:srgbClr val="000000"/>
                </a:solidFill>
                <a:latin typeface="Open Sans"/>
                <a:ea typeface="Open Sans"/>
                <a:cs typeface="Open Sans"/>
                <a:sym typeface="Open Sans"/>
              </a:rPr>
              <a:t>b</a:t>
            </a:r>
            <a:r>
              <a:rPr lang="en-US" sz="2600" strike="noStrike" u="none">
                <a:solidFill>
                  <a:srgbClr val="000000"/>
                </a:solidFill>
                <a:latin typeface="Open Sans"/>
                <a:ea typeface="Open Sans"/>
                <a:cs typeface="Open Sans"/>
                <a:sym typeface="Open Sans"/>
              </a:rPr>
              <a:t>er</a:t>
            </a:r>
            <a:r>
              <a:rPr lang="en-US" sz="2600" strike="noStrike" u="none">
                <a:solidFill>
                  <a:srgbClr val="000000"/>
                </a:solidFill>
                <a:latin typeface="Open Sans"/>
                <a:ea typeface="Open Sans"/>
                <a:cs typeface="Open Sans"/>
                <a:sym typeface="Open Sans"/>
              </a:rPr>
              <a:t>arMemoriaP</a:t>
            </a:r>
            <a:r>
              <a:rPr lang="en-US" sz="2600" strike="noStrike" u="none">
                <a:solidFill>
                  <a:srgbClr val="000000"/>
                </a:solidFill>
                <a:latin typeface="Open Sans"/>
                <a:ea typeface="Open Sans"/>
                <a:cs typeface="Open Sans"/>
                <a:sym typeface="Open Sans"/>
              </a:rPr>
              <a:t>o</a:t>
            </a:r>
            <a:r>
              <a:rPr lang="en-US" sz="2600" strike="noStrike" u="none">
                <a:solidFill>
                  <a:srgbClr val="000000"/>
                </a:solidFill>
                <a:latin typeface="Open Sans"/>
                <a:ea typeface="Open Sans"/>
                <a:cs typeface="Open Sans"/>
                <a:sym typeface="Open Sans"/>
              </a:rPr>
              <a:t>r</a:t>
            </a:r>
            <a:r>
              <a:rPr lang="en-US" sz="2600" strike="noStrike" u="none">
                <a:solidFill>
                  <a:srgbClr val="000000"/>
                </a:solidFill>
                <a:latin typeface="Open Sans"/>
                <a:ea typeface="Open Sans"/>
                <a:cs typeface="Open Sans"/>
                <a:sym typeface="Open Sans"/>
              </a:rPr>
              <a:t>ID</a:t>
            </a:r>
            <a:r>
              <a:rPr lang="en-US" sz="2600" strike="noStrike" u="none">
                <a:solidFill>
                  <a:srgbClr val="000000"/>
                </a:solidFill>
                <a:latin typeface="Open Sans"/>
                <a:ea typeface="Open Sans"/>
                <a:cs typeface="Open Sans"/>
                <a:sym typeface="Open Sans"/>
              </a:rPr>
              <a:t>: </a:t>
            </a:r>
            <a:r>
              <a:rPr lang="en-US" sz="2600" strike="noStrike" u="none">
                <a:solidFill>
                  <a:srgbClr val="000000"/>
                </a:solidFill>
                <a:latin typeface="Open Sans"/>
                <a:ea typeface="Open Sans"/>
                <a:cs typeface="Open Sans"/>
                <a:sym typeface="Open Sans"/>
              </a:rPr>
              <a:t>Liber</a:t>
            </a:r>
            <a:r>
              <a:rPr lang="en-US" sz="2600" strike="noStrike" u="none">
                <a:solidFill>
                  <a:srgbClr val="000000"/>
                </a:solidFill>
                <a:latin typeface="Open Sans"/>
                <a:ea typeface="Open Sans"/>
                <a:cs typeface="Open Sans"/>
                <a:sym typeface="Open Sans"/>
              </a:rPr>
              <a:t>a un bloque por ID</a:t>
            </a:r>
            <a:r>
              <a:rPr lang="en-US" sz="2600" strike="noStrike" u="none">
                <a:solidFill>
                  <a:srgbClr val="000000"/>
                </a:solidFill>
                <a:latin typeface="Open Sans"/>
                <a:ea typeface="Open Sans"/>
                <a:cs typeface="Open Sans"/>
                <a:sym typeface="Open Sans"/>
              </a:rPr>
              <a:t> (aunqu</a:t>
            </a:r>
            <a:r>
              <a:rPr lang="en-US" sz="2600" strike="noStrike" u="none">
                <a:solidFill>
                  <a:srgbClr val="000000"/>
                </a:solidFill>
                <a:latin typeface="Open Sans"/>
                <a:ea typeface="Open Sans"/>
                <a:cs typeface="Open Sans"/>
                <a:sym typeface="Open Sans"/>
              </a:rPr>
              <a:t>e</a:t>
            </a:r>
            <a:r>
              <a:rPr lang="en-US" sz="2600" strike="noStrike" u="none">
                <a:solidFill>
                  <a:srgbClr val="000000"/>
                </a:solidFill>
                <a:latin typeface="Open Sans"/>
                <a:ea typeface="Open Sans"/>
                <a:cs typeface="Open Sans"/>
                <a:sym typeface="Open Sans"/>
              </a:rPr>
              <a:t> en una p</a:t>
            </a:r>
            <a:r>
              <a:rPr lang="en-US" sz="2600" strike="noStrike" u="none">
                <a:solidFill>
                  <a:srgbClr val="000000"/>
                </a:solidFill>
                <a:latin typeface="Open Sans"/>
                <a:ea typeface="Open Sans"/>
                <a:cs typeface="Open Sans"/>
                <a:sym typeface="Open Sans"/>
              </a:rPr>
              <a:t>i</a:t>
            </a:r>
            <a:r>
              <a:rPr lang="en-US" sz="2600" strike="noStrike" u="none">
                <a:solidFill>
                  <a:srgbClr val="000000"/>
                </a:solidFill>
                <a:latin typeface="Open Sans"/>
                <a:ea typeface="Open Sans"/>
                <a:cs typeface="Open Sans"/>
                <a:sym typeface="Open Sans"/>
              </a:rPr>
              <a:t>la clás</a:t>
            </a:r>
            <a:r>
              <a:rPr lang="en-US" sz="2600" strike="noStrike" u="none">
                <a:solidFill>
                  <a:srgbClr val="000000"/>
                </a:solidFill>
                <a:latin typeface="Open Sans"/>
                <a:ea typeface="Open Sans"/>
                <a:cs typeface="Open Sans"/>
                <a:sym typeface="Open Sans"/>
              </a:rPr>
              <a:t>i</a:t>
            </a:r>
            <a:r>
              <a:rPr lang="en-US" sz="2600" strike="noStrike" u="none">
                <a:solidFill>
                  <a:srgbClr val="000000"/>
                </a:solidFill>
                <a:latin typeface="Open Sans"/>
                <a:ea typeface="Open Sans"/>
                <a:cs typeface="Open Sans"/>
                <a:sym typeface="Open Sans"/>
              </a:rPr>
              <a:t>c</a:t>
            </a:r>
            <a:r>
              <a:rPr lang="en-US" sz="2600" strike="noStrike" u="none">
                <a:solidFill>
                  <a:srgbClr val="000000"/>
                </a:solidFill>
                <a:latin typeface="Open Sans"/>
                <a:ea typeface="Open Sans"/>
                <a:cs typeface="Open Sans"/>
                <a:sym typeface="Open Sans"/>
              </a:rPr>
              <a:t>a</a:t>
            </a:r>
            <a:r>
              <a:rPr lang="en-US" sz="2600" strike="noStrike" u="none">
                <a:solidFill>
                  <a:srgbClr val="000000"/>
                </a:solidFill>
                <a:latin typeface="Open Sans"/>
                <a:ea typeface="Open Sans"/>
                <a:cs typeface="Open Sans"/>
                <a:sym typeface="Open Sans"/>
              </a:rPr>
              <a:t> sol</a:t>
            </a:r>
            <a:r>
              <a:rPr lang="en-US" sz="2600" strike="noStrike" u="none">
                <a:solidFill>
                  <a:srgbClr val="000000"/>
                </a:solidFill>
                <a:latin typeface="Open Sans"/>
                <a:ea typeface="Open Sans"/>
                <a:cs typeface="Open Sans"/>
                <a:sym typeface="Open Sans"/>
              </a:rPr>
              <a:t>o</a:t>
            </a:r>
            <a:r>
              <a:rPr lang="en-US" sz="2600" strike="noStrike" u="none">
                <a:solidFill>
                  <a:srgbClr val="000000"/>
                </a:solidFill>
                <a:latin typeface="Open Sans"/>
                <a:ea typeface="Open Sans"/>
                <a:cs typeface="Open Sans"/>
                <a:sym typeface="Open Sans"/>
              </a:rPr>
              <a:t> se sa</a:t>
            </a:r>
            <a:r>
              <a:rPr lang="en-US" sz="2600" strike="noStrike" u="none">
                <a:solidFill>
                  <a:srgbClr val="000000"/>
                </a:solidFill>
                <a:latin typeface="Open Sans"/>
                <a:ea typeface="Open Sans"/>
                <a:cs typeface="Open Sans"/>
                <a:sym typeface="Open Sans"/>
              </a:rPr>
              <a:t>c</a:t>
            </a:r>
            <a:r>
              <a:rPr lang="en-US" sz="2600" strike="noStrike" u="none">
                <a:solidFill>
                  <a:srgbClr val="000000"/>
                </a:solidFill>
                <a:latin typeface="Open Sans"/>
                <a:ea typeface="Open Sans"/>
                <a:cs typeface="Open Sans"/>
                <a:sym typeface="Open Sans"/>
              </a:rPr>
              <a:t>a d</a:t>
            </a:r>
            <a:r>
              <a:rPr lang="en-US" sz="2600" strike="noStrike" u="none">
                <a:solidFill>
                  <a:srgbClr val="000000"/>
                </a:solidFill>
                <a:latin typeface="Open Sans"/>
                <a:ea typeface="Open Sans"/>
                <a:cs typeface="Open Sans"/>
                <a:sym typeface="Open Sans"/>
              </a:rPr>
              <a:t>es</a:t>
            </a:r>
            <a:r>
              <a:rPr lang="en-US" sz="2600" strike="noStrike" u="none">
                <a:solidFill>
                  <a:srgbClr val="000000"/>
                </a:solidFill>
                <a:latin typeface="Open Sans"/>
                <a:ea typeface="Open Sans"/>
                <a:cs typeface="Open Sans"/>
                <a:sym typeface="Open Sans"/>
              </a:rPr>
              <a:t>de</a:t>
            </a:r>
            <a:r>
              <a:rPr lang="en-US" sz="2600" strike="noStrike" u="none">
                <a:solidFill>
                  <a:srgbClr val="000000"/>
                </a:solidFill>
                <a:latin typeface="Open Sans"/>
                <a:ea typeface="Open Sans"/>
                <a:cs typeface="Open Sans"/>
                <a:sym typeface="Open Sans"/>
              </a:rPr>
              <a:t> l</a:t>
            </a:r>
            <a:r>
              <a:rPr lang="en-US" sz="2600" strike="noStrike" u="none">
                <a:solidFill>
                  <a:srgbClr val="000000"/>
                </a:solidFill>
                <a:latin typeface="Open Sans"/>
                <a:ea typeface="Open Sans"/>
                <a:cs typeface="Open Sans"/>
                <a:sym typeface="Open Sans"/>
              </a:rPr>
              <a:t>a c</a:t>
            </a:r>
            <a:r>
              <a:rPr lang="en-US" sz="2600" strike="noStrike" u="none">
                <a:solidFill>
                  <a:srgbClr val="000000"/>
                </a:solidFill>
                <a:latin typeface="Open Sans"/>
                <a:ea typeface="Open Sans"/>
                <a:cs typeface="Open Sans"/>
                <a:sym typeface="Open Sans"/>
              </a:rPr>
              <a:t>ima</a:t>
            </a:r>
            <a:r>
              <a:rPr lang="en-US" sz="2600" strike="noStrike" u="none">
                <a:solidFill>
                  <a:srgbClr val="000000"/>
                </a:solidFill>
                <a:latin typeface="Open Sans"/>
                <a:ea typeface="Open Sans"/>
                <a:cs typeface="Open Sans"/>
                <a:sym typeface="Open Sans"/>
              </a:rPr>
              <a:t>,</a:t>
            </a:r>
            <a:r>
              <a:rPr lang="en-US" sz="2600" strike="noStrike" u="none">
                <a:solidFill>
                  <a:srgbClr val="000000"/>
                </a:solidFill>
                <a:latin typeface="Open Sans"/>
                <a:ea typeface="Open Sans"/>
                <a:cs typeface="Open Sans"/>
                <a:sym typeface="Open Sans"/>
              </a:rPr>
              <a:t> </a:t>
            </a:r>
            <a:r>
              <a:rPr lang="en-US" sz="2600" strike="noStrike" u="none">
                <a:solidFill>
                  <a:srgbClr val="000000"/>
                </a:solidFill>
                <a:latin typeface="Open Sans"/>
                <a:ea typeface="Open Sans"/>
                <a:cs typeface="Open Sans"/>
                <a:sym typeface="Open Sans"/>
              </a:rPr>
              <a:t>tú</a:t>
            </a:r>
            <a:r>
              <a:rPr lang="en-US" sz="2600" strike="noStrike" u="none">
                <a:solidFill>
                  <a:srgbClr val="000000"/>
                </a:solidFill>
                <a:latin typeface="Open Sans"/>
                <a:ea typeface="Open Sans"/>
                <a:cs typeface="Open Sans"/>
                <a:sym typeface="Open Sans"/>
              </a:rPr>
              <a:t> p</a:t>
            </a:r>
            <a:r>
              <a:rPr lang="en-US" sz="2600" strike="noStrike" u="none">
                <a:solidFill>
                  <a:srgbClr val="000000"/>
                </a:solidFill>
                <a:latin typeface="Open Sans"/>
                <a:ea typeface="Open Sans"/>
                <a:cs typeface="Open Sans"/>
                <a:sym typeface="Open Sans"/>
              </a:rPr>
              <a:t>e</a:t>
            </a:r>
            <a:r>
              <a:rPr lang="en-US" sz="2600" strike="noStrike" u="none">
                <a:solidFill>
                  <a:srgbClr val="000000"/>
                </a:solidFill>
                <a:latin typeface="Open Sans"/>
                <a:ea typeface="Open Sans"/>
                <a:cs typeface="Open Sans"/>
                <a:sym typeface="Open Sans"/>
              </a:rPr>
              <a:t>r</a:t>
            </a:r>
            <a:r>
              <a:rPr lang="en-US" sz="2600" strike="noStrike" u="none">
                <a:solidFill>
                  <a:srgbClr val="000000"/>
                </a:solidFill>
                <a:latin typeface="Open Sans"/>
                <a:ea typeface="Open Sans"/>
                <a:cs typeface="Open Sans"/>
                <a:sym typeface="Open Sans"/>
              </a:rPr>
              <a:t>mites bus</a:t>
            </a:r>
            <a:r>
              <a:rPr lang="en-US" sz="2600" strike="noStrike" u="none">
                <a:solidFill>
                  <a:srgbClr val="000000"/>
                </a:solidFill>
                <a:latin typeface="Open Sans"/>
                <a:ea typeface="Open Sans"/>
                <a:cs typeface="Open Sans"/>
                <a:sym typeface="Open Sans"/>
              </a:rPr>
              <a:t>c</a:t>
            </a:r>
            <a:r>
              <a:rPr lang="en-US" sz="2600" strike="noStrike" u="none">
                <a:solidFill>
                  <a:srgbClr val="000000"/>
                </a:solidFill>
                <a:latin typeface="Open Sans"/>
                <a:ea typeface="Open Sans"/>
                <a:cs typeface="Open Sans"/>
                <a:sym typeface="Open Sans"/>
              </a:rPr>
              <a:t>ar y lib</a:t>
            </a:r>
            <a:r>
              <a:rPr lang="en-US" sz="2600" strike="noStrike" u="none">
                <a:solidFill>
                  <a:srgbClr val="000000"/>
                </a:solidFill>
                <a:latin typeface="Open Sans"/>
                <a:ea typeface="Open Sans"/>
                <a:cs typeface="Open Sans"/>
                <a:sym typeface="Open Sans"/>
              </a:rPr>
              <a:t>e</a:t>
            </a:r>
            <a:r>
              <a:rPr lang="en-US" sz="2600" strike="noStrike" u="none">
                <a:solidFill>
                  <a:srgbClr val="000000"/>
                </a:solidFill>
                <a:latin typeface="Open Sans"/>
                <a:ea typeface="Open Sans"/>
                <a:cs typeface="Open Sans"/>
                <a:sym typeface="Open Sans"/>
              </a:rPr>
              <a:t>rar</a:t>
            </a:r>
            <a:r>
              <a:rPr lang="en-US" sz="2600" strike="noStrike" u="none">
                <a:solidFill>
                  <a:srgbClr val="000000"/>
                </a:solidFill>
                <a:latin typeface="Open Sans"/>
                <a:ea typeface="Open Sans"/>
                <a:cs typeface="Open Sans"/>
                <a:sym typeface="Open Sans"/>
              </a:rPr>
              <a:t> por ID</a:t>
            </a:r>
            <a:r>
              <a:rPr lang="en-US" sz="2600" strike="noStrike" u="none">
                <a:solidFill>
                  <a:srgbClr val="000000"/>
                </a:solidFill>
                <a:latin typeface="Open Sans"/>
                <a:ea typeface="Open Sans"/>
                <a:cs typeface="Open Sans"/>
                <a:sym typeface="Open Sans"/>
              </a:rPr>
              <a:t>)</a:t>
            </a:r>
            <a:r>
              <a:rPr lang="en-US" sz="2600" strike="noStrike" u="none">
                <a:solidFill>
                  <a:srgbClr val="000000"/>
                </a:solidFill>
                <a:latin typeface="Open Sans"/>
                <a:ea typeface="Open Sans"/>
                <a:cs typeface="Open Sans"/>
                <a:sym typeface="Open Sans"/>
              </a:rPr>
              <a:t>.</a:t>
            </a:r>
          </a:p>
          <a:p>
            <a:pPr algn="l" marL="561344" indent="-280672" lvl="1">
              <a:lnSpc>
                <a:spcPts val="3640"/>
              </a:lnSpc>
              <a:buFont typeface="Arial"/>
              <a:buChar char="•"/>
            </a:pPr>
            <a:r>
              <a:rPr lang="en-US" sz="2600" strike="noStrike" u="none">
                <a:solidFill>
                  <a:srgbClr val="000000"/>
                </a:solidFill>
                <a:latin typeface="Open Sans"/>
                <a:ea typeface="Open Sans"/>
                <a:cs typeface="Open Sans"/>
                <a:sym typeface="Open Sans"/>
              </a:rPr>
              <a:t>Bus</a:t>
            </a:r>
            <a:r>
              <a:rPr lang="en-US" sz="2600" strike="noStrike" u="none">
                <a:solidFill>
                  <a:srgbClr val="000000"/>
                </a:solidFill>
                <a:latin typeface="Open Sans"/>
                <a:ea typeface="Open Sans"/>
                <a:cs typeface="Open Sans"/>
                <a:sym typeface="Open Sans"/>
              </a:rPr>
              <a:t>carPor</a:t>
            </a:r>
            <a:r>
              <a:rPr lang="en-US" sz="2600" strike="noStrike" u="none">
                <a:solidFill>
                  <a:srgbClr val="000000"/>
                </a:solidFill>
                <a:latin typeface="Open Sans"/>
                <a:ea typeface="Open Sans"/>
                <a:cs typeface="Open Sans"/>
                <a:sym typeface="Open Sans"/>
              </a:rPr>
              <a:t>ID</a:t>
            </a:r>
            <a:r>
              <a:rPr lang="en-US" sz="2600" strike="noStrike" u="none">
                <a:solidFill>
                  <a:srgbClr val="000000"/>
                </a:solidFill>
                <a:latin typeface="Open Sans"/>
                <a:ea typeface="Open Sans"/>
                <a:cs typeface="Open Sans"/>
                <a:sym typeface="Open Sans"/>
              </a:rPr>
              <a:t>: </a:t>
            </a:r>
            <a:r>
              <a:rPr lang="en-US" sz="2600" strike="noStrike" u="none">
                <a:solidFill>
                  <a:srgbClr val="000000"/>
                </a:solidFill>
                <a:latin typeface="Open Sans"/>
                <a:ea typeface="Open Sans"/>
                <a:cs typeface="Open Sans"/>
                <a:sym typeface="Open Sans"/>
              </a:rPr>
              <a:t>Busc</a:t>
            </a:r>
            <a:r>
              <a:rPr lang="en-US" sz="2600" strike="noStrike" u="none">
                <a:solidFill>
                  <a:srgbClr val="000000"/>
                </a:solidFill>
                <a:latin typeface="Open Sans"/>
                <a:ea typeface="Open Sans"/>
                <a:cs typeface="Open Sans"/>
                <a:sym typeface="Open Sans"/>
              </a:rPr>
              <a:t>a un </a:t>
            </a:r>
            <a:r>
              <a:rPr lang="en-US" sz="2600" strike="noStrike" u="none">
                <a:solidFill>
                  <a:srgbClr val="000000"/>
                </a:solidFill>
                <a:latin typeface="Open Sans"/>
                <a:ea typeface="Open Sans"/>
                <a:cs typeface="Open Sans"/>
                <a:sym typeface="Open Sans"/>
              </a:rPr>
              <a:t>bl</a:t>
            </a:r>
            <a:r>
              <a:rPr lang="en-US" sz="2600" strike="noStrike" u="none">
                <a:solidFill>
                  <a:srgbClr val="000000"/>
                </a:solidFill>
                <a:latin typeface="Open Sans"/>
                <a:ea typeface="Open Sans"/>
                <a:cs typeface="Open Sans"/>
                <a:sym typeface="Open Sans"/>
              </a:rPr>
              <a:t>o</a:t>
            </a:r>
            <a:r>
              <a:rPr lang="en-US" sz="2600" strike="noStrike" u="none">
                <a:solidFill>
                  <a:srgbClr val="000000"/>
                </a:solidFill>
                <a:latin typeface="Open Sans"/>
                <a:ea typeface="Open Sans"/>
                <a:cs typeface="Open Sans"/>
                <a:sym typeface="Open Sans"/>
              </a:rPr>
              <a:t>que </a:t>
            </a:r>
            <a:r>
              <a:rPr lang="en-US" sz="2600" strike="noStrike" u="none">
                <a:solidFill>
                  <a:srgbClr val="000000"/>
                </a:solidFill>
                <a:latin typeface="Open Sans"/>
                <a:ea typeface="Open Sans"/>
                <a:cs typeface="Open Sans"/>
                <a:sym typeface="Open Sans"/>
              </a:rPr>
              <a:t>es</a:t>
            </a:r>
            <a:r>
              <a:rPr lang="en-US" sz="2600" strike="noStrike" u="none">
                <a:solidFill>
                  <a:srgbClr val="000000"/>
                </a:solidFill>
                <a:latin typeface="Open Sans"/>
                <a:ea typeface="Open Sans"/>
                <a:cs typeface="Open Sans"/>
                <a:sym typeface="Open Sans"/>
              </a:rPr>
              <a:t>pecífic</a:t>
            </a:r>
            <a:r>
              <a:rPr lang="en-US" sz="2600" strike="noStrike" u="none">
                <a:solidFill>
                  <a:srgbClr val="000000"/>
                </a:solidFill>
                <a:latin typeface="Open Sans"/>
                <a:ea typeface="Open Sans"/>
                <a:cs typeface="Open Sans"/>
                <a:sym typeface="Open Sans"/>
              </a:rPr>
              <a:t>o.</a:t>
            </a:r>
          </a:p>
          <a:p>
            <a:pPr algn="l" marL="561344" indent="-280672" lvl="1">
              <a:lnSpc>
                <a:spcPts val="3640"/>
              </a:lnSpc>
              <a:buFont typeface="Arial"/>
              <a:buChar char="•"/>
            </a:pPr>
            <a:r>
              <a:rPr lang="en-US" sz="2600" strike="noStrike" u="none">
                <a:solidFill>
                  <a:srgbClr val="000000"/>
                </a:solidFill>
                <a:latin typeface="Open Sans"/>
                <a:ea typeface="Open Sans"/>
                <a:cs typeface="Open Sans"/>
                <a:sym typeface="Open Sans"/>
              </a:rPr>
              <a:t>M</a:t>
            </a:r>
            <a:r>
              <a:rPr lang="en-US" sz="2600" strike="noStrike" u="none">
                <a:solidFill>
                  <a:srgbClr val="000000"/>
                </a:solidFill>
                <a:latin typeface="Open Sans"/>
                <a:ea typeface="Open Sans"/>
                <a:cs typeface="Open Sans"/>
                <a:sym typeface="Open Sans"/>
              </a:rPr>
              <a:t>ostrar</a:t>
            </a:r>
            <a:r>
              <a:rPr lang="en-US" sz="2600" strike="noStrike" u="none">
                <a:solidFill>
                  <a:srgbClr val="000000"/>
                </a:solidFill>
                <a:latin typeface="Open Sans"/>
                <a:ea typeface="Open Sans"/>
                <a:cs typeface="Open Sans"/>
                <a:sym typeface="Open Sans"/>
              </a:rPr>
              <a:t>M</a:t>
            </a:r>
            <a:r>
              <a:rPr lang="en-US" sz="2600" strike="noStrike" u="none">
                <a:solidFill>
                  <a:srgbClr val="000000"/>
                </a:solidFill>
                <a:latin typeface="Open Sans"/>
                <a:ea typeface="Open Sans"/>
                <a:cs typeface="Open Sans"/>
                <a:sym typeface="Open Sans"/>
              </a:rPr>
              <a:t>emo</a:t>
            </a:r>
            <a:r>
              <a:rPr lang="en-US" sz="2600" strike="noStrike" u="none">
                <a:solidFill>
                  <a:srgbClr val="000000"/>
                </a:solidFill>
                <a:latin typeface="Open Sans"/>
                <a:ea typeface="Open Sans"/>
                <a:cs typeface="Open Sans"/>
                <a:sym typeface="Open Sans"/>
              </a:rPr>
              <a:t>ria</a:t>
            </a:r>
            <a:r>
              <a:rPr lang="en-US" sz="2600" strike="noStrike" u="none">
                <a:solidFill>
                  <a:srgbClr val="000000"/>
                </a:solidFill>
                <a:latin typeface="Open Sans"/>
                <a:ea typeface="Open Sans"/>
                <a:cs typeface="Open Sans"/>
                <a:sym typeface="Open Sans"/>
              </a:rPr>
              <a:t>: Muestra </a:t>
            </a:r>
            <a:r>
              <a:rPr lang="en-US" sz="2600" strike="noStrike" u="none">
                <a:solidFill>
                  <a:srgbClr val="000000"/>
                </a:solidFill>
                <a:latin typeface="Open Sans"/>
                <a:ea typeface="Open Sans"/>
                <a:cs typeface="Open Sans"/>
                <a:sym typeface="Open Sans"/>
              </a:rPr>
              <a:t>e</a:t>
            </a:r>
            <a:r>
              <a:rPr lang="en-US" sz="2600" strike="noStrike" u="none">
                <a:solidFill>
                  <a:srgbClr val="000000"/>
                </a:solidFill>
                <a:latin typeface="Open Sans"/>
                <a:ea typeface="Open Sans"/>
                <a:cs typeface="Open Sans"/>
                <a:sym typeface="Open Sans"/>
              </a:rPr>
              <a:t>l estado</a:t>
            </a:r>
            <a:r>
              <a:rPr lang="en-US" sz="2600" strike="noStrike" u="none">
                <a:solidFill>
                  <a:srgbClr val="000000"/>
                </a:solidFill>
                <a:latin typeface="Open Sans"/>
                <a:ea typeface="Open Sans"/>
                <a:cs typeface="Open Sans"/>
                <a:sym typeface="Open Sans"/>
              </a:rPr>
              <a:t> act</a:t>
            </a:r>
            <a:r>
              <a:rPr lang="en-US" sz="2600" strike="noStrike" u="none">
                <a:solidFill>
                  <a:srgbClr val="000000"/>
                </a:solidFill>
                <a:latin typeface="Open Sans"/>
                <a:ea typeface="Open Sans"/>
                <a:cs typeface="Open Sans"/>
                <a:sym typeface="Open Sans"/>
              </a:rPr>
              <a:t>ua</a:t>
            </a:r>
            <a:r>
              <a:rPr lang="en-US" sz="2600" strike="noStrike" u="none">
                <a:solidFill>
                  <a:srgbClr val="000000"/>
                </a:solidFill>
                <a:latin typeface="Open Sans"/>
                <a:ea typeface="Open Sans"/>
                <a:cs typeface="Open Sans"/>
                <a:sym typeface="Open Sans"/>
              </a:rPr>
              <a:t>l </a:t>
            </a:r>
            <a:r>
              <a:rPr lang="en-US" sz="2600" strike="noStrike" u="none">
                <a:solidFill>
                  <a:srgbClr val="000000"/>
                </a:solidFill>
                <a:latin typeface="Open Sans"/>
                <a:ea typeface="Open Sans"/>
                <a:cs typeface="Open Sans"/>
                <a:sym typeface="Open Sans"/>
              </a:rPr>
              <a:t>d</a:t>
            </a:r>
            <a:r>
              <a:rPr lang="en-US" sz="2600" strike="noStrike" u="none">
                <a:solidFill>
                  <a:srgbClr val="000000"/>
                </a:solidFill>
                <a:latin typeface="Open Sans"/>
                <a:ea typeface="Open Sans"/>
                <a:cs typeface="Open Sans"/>
                <a:sym typeface="Open Sans"/>
              </a:rPr>
              <a:t>e l</a:t>
            </a:r>
            <a:r>
              <a:rPr lang="en-US" sz="2600" strike="noStrike" u="none">
                <a:solidFill>
                  <a:srgbClr val="000000"/>
                </a:solidFill>
                <a:latin typeface="Open Sans"/>
                <a:ea typeface="Open Sans"/>
                <a:cs typeface="Open Sans"/>
                <a:sym typeface="Open Sans"/>
              </a:rPr>
              <a:t>a</a:t>
            </a:r>
            <a:r>
              <a:rPr lang="en-US" sz="2600" strike="noStrike" u="none">
                <a:solidFill>
                  <a:srgbClr val="000000"/>
                </a:solidFill>
                <a:latin typeface="Open Sans"/>
                <a:ea typeface="Open Sans"/>
                <a:cs typeface="Open Sans"/>
                <a:sym typeface="Open Sans"/>
              </a:rPr>
              <a:t> m</a:t>
            </a:r>
            <a:r>
              <a:rPr lang="en-US" sz="2600" strike="noStrike" u="none">
                <a:solidFill>
                  <a:srgbClr val="000000"/>
                </a:solidFill>
                <a:latin typeface="Open Sans"/>
                <a:ea typeface="Open Sans"/>
                <a:cs typeface="Open Sans"/>
                <a:sym typeface="Open Sans"/>
              </a:rPr>
              <a:t>e</a:t>
            </a:r>
            <a:r>
              <a:rPr lang="en-US" sz="2600" strike="noStrike" u="none">
                <a:solidFill>
                  <a:srgbClr val="000000"/>
                </a:solidFill>
                <a:latin typeface="Open Sans"/>
                <a:ea typeface="Open Sans"/>
                <a:cs typeface="Open Sans"/>
                <a:sym typeface="Open Sans"/>
              </a:rPr>
              <a:t>m</a:t>
            </a:r>
            <a:r>
              <a:rPr lang="en-US" sz="2600" strike="noStrike" u="none">
                <a:solidFill>
                  <a:srgbClr val="000000"/>
                </a:solidFill>
                <a:latin typeface="Open Sans"/>
                <a:ea typeface="Open Sans"/>
                <a:cs typeface="Open Sans"/>
                <a:sym typeface="Open Sans"/>
              </a:rPr>
              <a:t>oria</a:t>
            </a:r>
            <a:r>
              <a:rPr lang="en-US" sz="2600" strike="noStrike" u="none">
                <a:solidFill>
                  <a:srgbClr val="000000"/>
                </a:solidFill>
                <a:latin typeface="Open Sans"/>
                <a:ea typeface="Open Sans"/>
                <a:cs typeface="Open Sans"/>
                <a:sym typeface="Open Sans"/>
              </a:rPr>
              <a:t>.</a:t>
            </a:r>
          </a:p>
          <a:p>
            <a:pPr algn="l">
              <a:lnSpc>
                <a:spcPts val="3640"/>
              </a:lnSpc>
            </a:pPr>
            <a:r>
              <a:rPr lang="en-US" sz="2600" strike="noStrike" u="none">
                <a:solidFill>
                  <a:srgbClr val="000000"/>
                </a:solidFill>
                <a:latin typeface="Open Sans"/>
                <a:ea typeface="Open Sans"/>
                <a:cs typeface="Open Sans"/>
                <a:sym typeface="Open Sans"/>
              </a:rPr>
              <a:t>Se </a:t>
            </a:r>
            <a:r>
              <a:rPr lang="en-US" sz="2600" strike="noStrike" u="none">
                <a:solidFill>
                  <a:srgbClr val="000000"/>
                </a:solidFill>
                <a:latin typeface="Open Sans"/>
                <a:ea typeface="Open Sans"/>
                <a:cs typeface="Open Sans"/>
                <a:sym typeface="Open Sans"/>
              </a:rPr>
              <a:t>ges</a:t>
            </a:r>
            <a:r>
              <a:rPr lang="en-US" sz="2600" strike="noStrike" u="none">
                <a:solidFill>
                  <a:srgbClr val="000000"/>
                </a:solidFill>
                <a:latin typeface="Open Sans"/>
                <a:ea typeface="Open Sans"/>
                <a:cs typeface="Open Sans"/>
                <a:sym typeface="Open Sans"/>
              </a:rPr>
              <a:t>t</a:t>
            </a:r>
            <a:r>
              <a:rPr lang="en-US" sz="2600" strike="noStrike" u="none">
                <a:solidFill>
                  <a:srgbClr val="000000"/>
                </a:solidFill>
                <a:latin typeface="Open Sans"/>
                <a:ea typeface="Open Sans"/>
                <a:cs typeface="Open Sans"/>
                <a:sym typeface="Open Sans"/>
              </a:rPr>
              <a:t>iona en</a:t>
            </a:r>
            <a:r>
              <a:rPr lang="en-US" sz="2600" strike="noStrike" u="none">
                <a:solidFill>
                  <a:srgbClr val="000000"/>
                </a:solidFill>
                <a:latin typeface="Open Sans"/>
                <a:ea typeface="Open Sans"/>
                <a:cs typeface="Open Sans"/>
                <a:sym typeface="Open Sans"/>
              </a:rPr>
              <a:t>:</a:t>
            </a:r>
          </a:p>
          <a:p>
            <a:pPr algn="l">
              <a:lnSpc>
                <a:spcPts val="3640"/>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flipV="true">
            <a:off x="426566" y="-3456152"/>
            <a:ext cx="0" cy="20548521"/>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7892632" y="-3456152"/>
            <a:ext cx="0" cy="20548521"/>
          </a:xfrm>
          <a:prstGeom prst="line">
            <a:avLst/>
          </a:prstGeom>
          <a:ln cap="flat" w="38100">
            <a:solidFill>
              <a:srgbClr val="000000"/>
            </a:solidFill>
            <a:prstDash val="solid"/>
            <a:headEnd type="none" len="sm" w="sm"/>
            <a:tailEnd type="none" len="sm" w="sm"/>
          </a:ln>
        </p:spPr>
      </p:sp>
      <p:sp>
        <p:nvSpPr>
          <p:cNvPr name="Freeform 5" id="5"/>
          <p:cNvSpPr/>
          <p:nvPr/>
        </p:nvSpPr>
        <p:spPr>
          <a:xfrm flipH="false" flipV="false" rot="-5400000">
            <a:off x="1823910"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5400000">
            <a:off x="3914396"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5400000">
            <a:off x="807094"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5400000">
            <a:off x="2897579"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5400000">
            <a:off x="5988190"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5400000">
            <a:off x="8078676"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5400000">
            <a:off x="4971374"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5400000">
            <a:off x="7061860"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5400000">
            <a:off x="10152471"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5400000">
            <a:off x="12242956"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5400000">
            <a:off x="9135654"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5400000">
            <a:off x="11226140"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5400000">
            <a:off x="14316751"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5400000">
            <a:off x="16407237"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5400000">
            <a:off x="13299935"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false" flipV="false" rot="-5400000">
            <a:off x="15390421"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21" id="21"/>
          <p:cNvSpPr/>
          <p:nvPr/>
        </p:nvSpPr>
        <p:spPr>
          <a:xfrm flipV="true">
            <a:off x="9431752" y="1028700"/>
            <a:ext cx="0" cy="16697564"/>
          </a:xfrm>
          <a:prstGeom prst="line">
            <a:avLst/>
          </a:prstGeom>
          <a:ln cap="flat" w="38100">
            <a:solidFill>
              <a:srgbClr val="000000"/>
            </a:solidFill>
            <a:prstDash val="solid"/>
            <a:headEnd type="none" len="sm" w="sm"/>
            <a:tailEnd type="none" len="sm" w="sm"/>
          </a:ln>
        </p:spPr>
      </p:sp>
      <p:sp>
        <p:nvSpPr>
          <p:cNvPr name="TextBox 22" id="22"/>
          <p:cNvSpPr txBox="true"/>
          <p:nvPr/>
        </p:nvSpPr>
        <p:spPr>
          <a:xfrm rot="0">
            <a:off x="1467415" y="1304925"/>
            <a:ext cx="6763434" cy="1923173"/>
          </a:xfrm>
          <a:prstGeom prst="rect">
            <a:avLst/>
          </a:prstGeom>
        </p:spPr>
        <p:txBody>
          <a:bodyPr anchor="t" rtlCol="false" tIns="0" lIns="0" bIns="0" rIns="0">
            <a:spAutoFit/>
          </a:bodyPr>
          <a:lstStyle/>
          <a:p>
            <a:pPr algn="ctr">
              <a:lnSpc>
                <a:spcPts val="4694"/>
              </a:lnSpc>
            </a:pPr>
            <a:r>
              <a:rPr lang="en-US" sz="6343" i="true">
                <a:solidFill>
                  <a:srgbClr val="1E1D1C"/>
                </a:solidFill>
                <a:latin typeface="Tex Gyre Termes Italics"/>
                <a:ea typeface="Tex Gyre Termes Italics"/>
                <a:cs typeface="Tex Gyre Termes Italics"/>
                <a:sym typeface="Tex Gyre Termes Italics"/>
              </a:rPr>
              <a:t>Estructura que representa un bloque de Memoria</a:t>
            </a:r>
          </a:p>
        </p:txBody>
      </p:sp>
      <p:sp>
        <p:nvSpPr>
          <p:cNvPr name="TextBox 23" id="23"/>
          <p:cNvSpPr txBox="true"/>
          <p:nvPr/>
        </p:nvSpPr>
        <p:spPr>
          <a:xfrm rot="0">
            <a:off x="1028700" y="3723443"/>
            <a:ext cx="7364827" cy="3408258"/>
          </a:xfrm>
          <a:prstGeom prst="rect">
            <a:avLst/>
          </a:prstGeom>
        </p:spPr>
        <p:txBody>
          <a:bodyPr anchor="t" rtlCol="false" tIns="0" lIns="0" bIns="0" rIns="0">
            <a:spAutoFit/>
          </a:bodyPr>
          <a:lstStyle/>
          <a:p>
            <a:pPr algn="ctr">
              <a:lnSpc>
                <a:spcPts val="1978"/>
              </a:lnSpc>
            </a:pPr>
            <a:r>
              <a:rPr lang="en-US" sz="2673" i="true">
                <a:solidFill>
                  <a:srgbClr val="1E1D1C"/>
                </a:solidFill>
                <a:latin typeface="Tex Gyre Termes Italics"/>
                <a:ea typeface="Tex Gyre Termes Italics"/>
                <a:cs typeface="Tex Gyre Termes Italics"/>
                <a:sym typeface="Tex Gyre Termes Italics"/>
              </a:rPr>
              <a:t>Este bloque representa un proceso que ha solicitado memoria. Se guarda:</a:t>
            </a:r>
          </a:p>
          <a:p>
            <a:pPr algn="ctr">
              <a:lnSpc>
                <a:spcPts val="1978"/>
              </a:lnSpc>
            </a:pPr>
          </a:p>
          <a:p>
            <a:pPr algn="ctr">
              <a:lnSpc>
                <a:spcPts val="1978"/>
              </a:lnSpc>
            </a:pPr>
          </a:p>
          <a:p>
            <a:pPr algn="ctr" marL="577118" indent="-288559" lvl="1">
              <a:lnSpc>
                <a:spcPts val="1978"/>
              </a:lnSpc>
              <a:buFont typeface="Arial"/>
              <a:buChar char="•"/>
            </a:pPr>
            <a:r>
              <a:rPr lang="en-US" sz="2673" i="true">
                <a:solidFill>
                  <a:srgbClr val="1E1D1C"/>
                </a:solidFill>
                <a:latin typeface="Tex Gyre Termes Italics"/>
                <a:ea typeface="Tex Gyre Termes Italics"/>
                <a:cs typeface="Tex Gyre Termes Italics"/>
                <a:sym typeface="Tex Gyre Termes Italics"/>
              </a:rPr>
              <a:t>ID del proceso.</a:t>
            </a:r>
          </a:p>
          <a:p>
            <a:pPr algn="ctr">
              <a:lnSpc>
                <a:spcPts val="1978"/>
              </a:lnSpc>
            </a:pPr>
          </a:p>
          <a:p>
            <a:pPr algn="ctr" marL="577118" indent="-288559" lvl="1">
              <a:lnSpc>
                <a:spcPts val="1978"/>
              </a:lnSpc>
              <a:buFont typeface="Arial"/>
              <a:buChar char="•"/>
            </a:pPr>
            <a:r>
              <a:rPr lang="en-US" sz="2673" i="true">
                <a:solidFill>
                  <a:srgbClr val="1E1D1C"/>
                </a:solidFill>
                <a:latin typeface="Tex Gyre Termes Italics"/>
                <a:ea typeface="Tex Gyre Termes Italics"/>
                <a:cs typeface="Tex Gyre Termes Italics"/>
                <a:sym typeface="Tex Gyre Termes Italics"/>
              </a:rPr>
              <a:t>Tamaño del bloque en MB.</a:t>
            </a:r>
          </a:p>
          <a:p>
            <a:pPr algn="ctr">
              <a:lnSpc>
                <a:spcPts val="1978"/>
              </a:lnSpc>
            </a:pPr>
          </a:p>
          <a:p>
            <a:pPr algn="ctr" marL="577118" indent="-288559" lvl="1">
              <a:lnSpc>
                <a:spcPts val="1978"/>
              </a:lnSpc>
              <a:buFont typeface="Arial"/>
              <a:buChar char="•"/>
            </a:pPr>
            <a:r>
              <a:rPr lang="en-US" sz="2673" i="true">
                <a:solidFill>
                  <a:srgbClr val="1E1D1C"/>
                </a:solidFill>
                <a:latin typeface="Tex Gyre Termes Italics"/>
                <a:ea typeface="Tex Gyre Termes Italics"/>
                <a:cs typeface="Tex Gyre Termes Italics"/>
                <a:sym typeface="Tex Gyre Termes Italics"/>
              </a:rPr>
              <a:t>Puntero al siguiente bloque (nodo).</a:t>
            </a:r>
          </a:p>
          <a:p>
            <a:pPr algn="ctr">
              <a:lnSpc>
                <a:spcPts val="7842"/>
              </a:lnSpc>
            </a:pPr>
          </a:p>
        </p:txBody>
      </p:sp>
      <p:sp>
        <p:nvSpPr>
          <p:cNvPr name="TextBox 24" id="24"/>
          <p:cNvSpPr txBox="true"/>
          <p:nvPr/>
        </p:nvSpPr>
        <p:spPr>
          <a:xfrm rot="0">
            <a:off x="10455052" y="1304925"/>
            <a:ext cx="6763434" cy="1313573"/>
          </a:xfrm>
          <a:prstGeom prst="rect">
            <a:avLst/>
          </a:prstGeom>
        </p:spPr>
        <p:txBody>
          <a:bodyPr anchor="t" rtlCol="false" tIns="0" lIns="0" bIns="0" rIns="0">
            <a:spAutoFit/>
          </a:bodyPr>
          <a:lstStyle/>
          <a:p>
            <a:pPr algn="ctr">
              <a:lnSpc>
                <a:spcPts val="4694"/>
              </a:lnSpc>
            </a:pPr>
            <a:r>
              <a:rPr lang="en-US" sz="6343" i="true">
                <a:solidFill>
                  <a:srgbClr val="1E1D1C"/>
                </a:solidFill>
                <a:latin typeface="Tex Gyre Termes Italics"/>
                <a:ea typeface="Tex Gyre Termes Italics"/>
                <a:cs typeface="Tex Gyre Termes Italics"/>
                <a:sym typeface="Tex Gyre Termes Italics"/>
              </a:rPr>
              <a:t>Función para ingresar el tamaño </a:t>
            </a:r>
          </a:p>
        </p:txBody>
      </p:sp>
      <p:sp>
        <p:nvSpPr>
          <p:cNvPr name="TextBox 25" id="25"/>
          <p:cNvSpPr txBox="true"/>
          <p:nvPr/>
        </p:nvSpPr>
        <p:spPr>
          <a:xfrm rot="0">
            <a:off x="9791294" y="7368704"/>
            <a:ext cx="7741795" cy="283486"/>
          </a:xfrm>
          <a:prstGeom prst="rect">
            <a:avLst/>
          </a:prstGeom>
        </p:spPr>
        <p:txBody>
          <a:bodyPr anchor="t" rtlCol="false" tIns="0" lIns="0" bIns="0" rIns="0">
            <a:spAutoFit/>
          </a:bodyPr>
          <a:lstStyle/>
          <a:p>
            <a:pPr algn="ctr">
              <a:lnSpc>
                <a:spcPts val="2019"/>
              </a:lnSpc>
            </a:pPr>
            <a:r>
              <a:rPr lang="en-US" sz="2729" i="true">
                <a:solidFill>
                  <a:srgbClr val="1E1D1C"/>
                </a:solidFill>
                <a:latin typeface="Tex Gyre Termes Italics"/>
                <a:ea typeface="Tex Gyre Termes Italics"/>
                <a:cs typeface="Tex Gyre Termes Italics"/>
                <a:sym typeface="Tex Gyre Termes Italics"/>
              </a:rPr>
              <a:t>Suma todos los tamaños de los bloques en la pila</a:t>
            </a:r>
          </a:p>
        </p:txBody>
      </p:sp>
      <p:sp>
        <p:nvSpPr>
          <p:cNvPr name="Freeform 26" id="26"/>
          <p:cNvSpPr/>
          <p:nvPr/>
        </p:nvSpPr>
        <p:spPr>
          <a:xfrm flipH="false" flipV="false" rot="0">
            <a:off x="1028700" y="6328981"/>
            <a:ext cx="7364827" cy="1850846"/>
          </a:xfrm>
          <a:custGeom>
            <a:avLst/>
            <a:gdLst/>
            <a:ahLst/>
            <a:cxnLst/>
            <a:rect r="r" b="b" t="t" l="l"/>
            <a:pathLst>
              <a:path h="1850846" w="7364827">
                <a:moveTo>
                  <a:pt x="0" y="0"/>
                </a:moveTo>
                <a:lnTo>
                  <a:pt x="7364827" y="0"/>
                </a:lnTo>
                <a:lnTo>
                  <a:pt x="7364827" y="1850846"/>
                </a:lnTo>
                <a:lnTo>
                  <a:pt x="0" y="1850846"/>
                </a:lnTo>
                <a:lnTo>
                  <a:pt x="0" y="0"/>
                </a:lnTo>
                <a:close/>
              </a:path>
            </a:pathLst>
          </a:custGeom>
          <a:blipFill>
            <a:blip r:embed="rId6"/>
            <a:stretch>
              <a:fillRect l="0" t="0" r="0" b="0"/>
            </a:stretch>
          </a:blipFill>
        </p:spPr>
      </p:sp>
      <p:sp>
        <p:nvSpPr>
          <p:cNvPr name="Freeform 27" id="27"/>
          <p:cNvSpPr/>
          <p:nvPr/>
        </p:nvSpPr>
        <p:spPr>
          <a:xfrm flipH="false" flipV="false" rot="0">
            <a:off x="9892033" y="3812873"/>
            <a:ext cx="7184365" cy="852820"/>
          </a:xfrm>
          <a:custGeom>
            <a:avLst/>
            <a:gdLst/>
            <a:ahLst/>
            <a:cxnLst/>
            <a:rect r="r" b="b" t="t" l="l"/>
            <a:pathLst>
              <a:path h="852820" w="7184365">
                <a:moveTo>
                  <a:pt x="0" y="0"/>
                </a:moveTo>
                <a:lnTo>
                  <a:pt x="7184365" y="0"/>
                </a:lnTo>
                <a:lnTo>
                  <a:pt x="7184365" y="852821"/>
                </a:lnTo>
                <a:lnTo>
                  <a:pt x="0" y="852821"/>
                </a:lnTo>
                <a:lnTo>
                  <a:pt x="0" y="0"/>
                </a:lnTo>
                <a:close/>
              </a:path>
            </a:pathLst>
          </a:custGeom>
          <a:blipFill>
            <a:blip r:embed="rId7"/>
            <a:stretch>
              <a:fillRect l="0" t="0" r="0" b="0"/>
            </a:stretch>
          </a:blipFill>
        </p:spPr>
      </p:sp>
      <p:sp>
        <p:nvSpPr>
          <p:cNvPr name="Freeform 28" id="28"/>
          <p:cNvSpPr/>
          <p:nvPr/>
        </p:nvSpPr>
        <p:spPr>
          <a:xfrm flipH="false" flipV="false" rot="0">
            <a:off x="9791294" y="4918941"/>
            <a:ext cx="7385843" cy="2211638"/>
          </a:xfrm>
          <a:custGeom>
            <a:avLst/>
            <a:gdLst/>
            <a:ahLst/>
            <a:cxnLst/>
            <a:rect r="r" b="b" t="t" l="l"/>
            <a:pathLst>
              <a:path h="2211638" w="7385843">
                <a:moveTo>
                  <a:pt x="0" y="0"/>
                </a:moveTo>
                <a:lnTo>
                  <a:pt x="7385843" y="0"/>
                </a:lnTo>
                <a:lnTo>
                  <a:pt x="7385843" y="2211638"/>
                </a:lnTo>
                <a:lnTo>
                  <a:pt x="0" y="2211638"/>
                </a:lnTo>
                <a:lnTo>
                  <a:pt x="0" y="0"/>
                </a:lnTo>
                <a:close/>
              </a:path>
            </a:pathLst>
          </a:custGeom>
          <a:blipFill>
            <a:blip r:embed="rId8"/>
            <a:stretch>
              <a:fillRect l="0" t="0" r="0" b="0"/>
            </a:stretch>
          </a:blipFill>
        </p:spPr>
      </p:sp>
      <p:sp>
        <p:nvSpPr>
          <p:cNvPr name="Freeform 29" id="29"/>
          <p:cNvSpPr/>
          <p:nvPr/>
        </p:nvSpPr>
        <p:spPr>
          <a:xfrm flipH="false" flipV="false" rot="0">
            <a:off x="10152471" y="7776015"/>
            <a:ext cx="6985182" cy="2202452"/>
          </a:xfrm>
          <a:custGeom>
            <a:avLst/>
            <a:gdLst/>
            <a:ahLst/>
            <a:cxnLst/>
            <a:rect r="r" b="b" t="t" l="l"/>
            <a:pathLst>
              <a:path h="2202452" w="6985182">
                <a:moveTo>
                  <a:pt x="0" y="0"/>
                </a:moveTo>
                <a:lnTo>
                  <a:pt x="6985182" y="0"/>
                </a:lnTo>
                <a:lnTo>
                  <a:pt x="6985182" y="2202452"/>
                </a:lnTo>
                <a:lnTo>
                  <a:pt x="0" y="2202452"/>
                </a:lnTo>
                <a:lnTo>
                  <a:pt x="0" y="0"/>
                </a:lnTo>
                <a:close/>
              </a:path>
            </a:pathLst>
          </a:custGeom>
          <a:blipFill>
            <a:blip r:embed="rId9"/>
            <a:stretch>
              <a:fillRect l="0" t="0" r="0" b="0"/>
            </a:stretch>
          </a:blipFill>
        </p:spPr>
      </p:sp>
      <p:sp>
        <p:nvSpPr>
          <p:cNvPr name="TextBox 30" id="30"/>
          <p:cNvSpPr txBox="true"/>
          <p:nvPr/>
        </p:nvSpPr>
        <p:spPr>
          <a:xfrm rot="0">
            <a:off x="9672489" y="3272213"/>
            <a:ext cx="7741795" cy="283486"/>
          </a:xfrm>
          <a:prstGeom prst="rect">
            <a:avLst/>
          </a:prstGeom>
        </p:spPr>
        <p:txBody>
          <a:bodyPr anchor="t" rtlCol="false" tIns="0" lIns="0" bIns="0" rIns="0">
            <a:spAutoFit/>
          </a:bodyPr>
          <a:lstStyle/>
          <a:p>
            <a:pPr algn="ctr">
              <a:lnSpc>
                <a:spcPts val="2019"/>
              </a:lnSpc>
            </a:pPr>
            <a:r>
              <a:rPr lang="en-US" sz="2729" i="true">
                <a:solidFill>
                  <a:srgbClr val="1E1D1C"/>
                </a:solidFill>
                <a:latin typeface="Tex Gyre Termes Italics"/>
                <a:ea typeface="Tex Gyre Termes Italics"/>
                <a:cs typeface="Tex Gyre Termes Italics"/>
                <a:sym typeface="Tex Gyre Termes Italics"/>
              </a:rPr>
              <a:t>Esta función permite asignar el tamaño de la Memoria</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flipV="true">
            <a:off x="426566" y="-3456152"/>
            <a:ext cx="0" cy="20548521"/>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7892632" y="-3456152"/>
            <a:ext cx="0" cy="20548521"/>
          </a:xfrm>
          <a:prstGeom prst="line">
            <a:avLst/>
          </a:prstGeom>
          <a:ln cap="flat" w="38100">
            <a:solidFill>
              <a:srgbClr val="000000"/>
            </a:solidFill>
            <a:prstDash val="solid"/>
            <a:headEnd type="none" len="sm" w="sm"/>
            <a:tailEnd type="none" len="sm" w="sm"/>
          </a:ln>
        </p:spPr>
      </p:sp>
      <p:sp>
        <p:nvSpPr>
          <p:cNvPr name="Freeform 5" id="5"/>
          <p:cNvSpPr/>
          <p:nvPr/>
        </p:nvSpPr>
        <p:spPr>
          <a:xfrm flipH="false" flipV="false" rot="-5400000">
            <a:off x="1823910"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5400000">
            <a:off x="3914396"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5400000">
            <a:off x="807094"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5400000">
            <a:off x="2897579"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5400000">
            <a:off x="5988190"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5400000">
            <a:off x="8078676"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5400000">
            <a:off x="4971374"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5400000">
            <a:off x="7061860"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5400000">
            <a:off x="10152471"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5400000">
            <a:off x="12242956"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5400000">
            <a:off x="9135654"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5400000">
            <a:off x="11226140"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5400000">
            <a:off x="14316751"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5400000">
            <a:off x="16407237"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5400000">
            <a:off x="13299935"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false" flipV="false" rot="-5400000">
            <a:off x="15390421"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21" id="21"/>
          <p:cNvSpPr/>
          <p:nvPr/>
        </p:nvSpPr>
        <p:spPr>
          <a:xfrm flipV="true">
            <a:off x="9431752" y="1028700"/>
            <a:ext cx="0" cy="16697564"/>
          </a:xfrm>
          <a:prstGeom prst="line">
            <a:avLst/>
          </a:prstGeom>
          <a:ln cap="flat" w="38100">
            <a:solidFill>
              <a:srgbClr val="000000"/>
            </a:solidFill>
            <a:prstDash val="solid"/>
            <a:headEnd type="none" len="sm" w="sm"/>
            <a:tailEnd type="none" len="sm" w="sm"/>
          </a:ln>
        </p:spPr>
      </p:sp>
      <p:sp>
        <p:nvSpPr>
          <p:cNvPr name="Freeform 22" id="22"/>
          <p:cNvSpPr/>
          <p:nvPr/>
        </p:nvSpPr>
        <p:spPr>
          <a:xfrm flipH="false" flipV="false" rot="0">
            <a:off x="807094" y="7360415"/>
            <a:ext cx="7650577" cy="1406673"/>
          </a:xfrm>
          <a:custGeom>
            <a:avLst/>
            <a:gdLst/>
            <a:ahLst/>
            <a:cxnLst/>
            <a:rect r="r" b="b" t="t" l="l"/>
            <a:pathLst>
              <a:path h="1406673" w="7650577">
                <a:moveTo>
                  <a:pt x="0" y="0"/>
                </a:moveTo>
                <a:lnTo>
                  <a:pt x="7650576" y="0"/>
                </a:lnTo>
                <a:lnTo>
                  <a:pt x="7650576" y="1406673"/>
                </a:lnTo>
                <a:lnTo>
                  <a:pt x="0" y="1406673"/>
                </a:lnTo>
                <a:lnTo>
                  <a:pt x="0" y="0"/>
                </a:lnTo>
                <a:close/>
              </a:path>
            </a:pathLst>
          </a:custGeom>
          <a:blipFill>
            <a:blip r:embed="rId6"/>
            <a:stretch>
              <a:fillRect l="0" t="0" r="0" b="0"/>
            </a:stretch>
          </a:blipFill>
        </p:spPr>
      </p:sp>
      <p:sp>
        <p:nvSpPr>
          <p:cNvPr name="Freeform 23" id="23"/>
          <p:cNvSpPr/>
          <p:nvPr/>
        </p:nvSpPr>
        <p:spPr>
          <a:xfrm flipH="false" flipV="false" rot="0">
            <a:off x="10152471" y="5108097"/>
            <a:ext cx="7040437" cy="2372561"/>
          </a:xfrm>
          <a:custGeom>
            <a:avLst/>
            <a:gdLst/>
            <a:ahLst/>
            <a:cxnLst/>
            <a:rect r="r" b="b" t="t" l="l"/>
            <a:pathLst>
              <a:path h="2372561" w="7040437">
                <a:moveTo>
                  <a:pt x="0" y="0"/>
                </a:moveTo>
                <a:lnTo>
                  <a:pt x="7040437" y="0"/>
                </a:lnTo>
                <a:lnTo>
                  <a:pt x="7040437" y="2372561"/>
                </a:lnTo>
                <a:lnTo>
                  <a:pt x="0" y="2372561"/>
                </a:lnTo>
                <a:lnTo>
                  <a:pt x="0" y="0"/>
                </a:lnTo>
                <a:close/>
              </a:path>
            </a:pathLst>
          </a:custGeom>
          <a:blipFill>
            <a:blip r:embed="rId7"/>
            <a:stretch>
              <a:fillRect l="0" t="0" r="0" b="0"/>
            </a:stretch>
          </a:blipFill>
        </p:spPr>
      </p:sp>
      <p:sp>
        <p:nvSpPr>
          <p:cNvPr name="Freeform 24" id="24"/>
          <p:cNvSpPr/>
          <p:nvPr/>
        </p:nvSpPr>
        <p:spPr>
          <a:xfrm flipH="false" flipV="false" rot="0">
            <a:off x="10209324" y="7640239"/>
            <a:ext cx="7014359" cy="2487651"/>
          </a:xfrm>
          <a:custGeom>
            <a:avLst/>
            <a:gdLst/>
            <a:ahLst/>
            <a:cxnLst/>
            <a:rect r="r" b="b" t="t" l="l"/>
            <a:pathLst>
              <a:path h="2487651" w="7014359">
                <a:moveTo>
                  <a:pt x="0" y="0"/>
                </a:moveTo>
                <a:lnTo>
                  <a:pt x="7014359" y="0"/>
                </a:lnTo>
                <a:lnTo>
                  <a:pt x="7014359" y="2487651"/>
                </a:lnTo>
                <a:lnTo>
                  <a:pt x="0" y="2487651"/>
                </a:lnTo>
                <a:lnTo>
                  <a:pt x="0" y="0"/>
                </a:lnTo>
                <a:close/>
              </a:path>
            </a:pathLst>
          </a:custGeom>
          <a:blipFill>
            <a:blip r:embed="rId8"/>
            <a:stretch>
              <a:fillRect l="0" t="0" r="0" b="0"/>
            </a:stretch>
          </a:blipFill>
        </p:spPr>
      </p:sp>
      <p:sp>
        <p:nvSpPr>
          <p:cNvPr name="TextBox 25" id="25"/>
          <p:cNvSpPr txBox="true"/>
          <p:nvPr/>
        </p:nvSpPr>
        <p:spPr>
          <a:xfrm rot="0">
            <a:off x="-1165769" y="1285875"/>
            <a:ext cx="6763434" cy="703973"/>
          </a:xfrm>
          <a:prstGeom prst="rect">
            <a:avLst/>
          </a:prstGeom>
        </p:spPr>
        <p:txBody>
          <a:bodyPr anchor="t" rtlCol="false" tIns="0" lIns="0" bIns="0" rIns="0">
            <a:spAutoFit/>
          </a:bodyPr>
          <a:lstStyle/>
          <a:p>
            <a:pPr algn="ctr">
              <a:lnSpc>
                <a:spcPts val="4694"/>
              </a:lnSpc>
            </a:pPr>
            <a:r>
              <a:rPr lang="en-US" sz="6343" i="true">
                <a:solidFill>
                  <a:srgbClr val="1E1D1C"/>
                </a:solidFill>
                <a:latin typeface="Tex Gyre Termes Italics"/>
                <a:ea typeface="Tex Gyre Termes Italics"/>
                <a:cs typeface="Tex Gyre Termes Italics"/>
                <a:sym typeface="Tex Gyre Termes Italics"/>
              </a:rPr>
              <a:t>Ejemplo:</a:t>
            </a:r>
          </a:p>
        </p:txBody>
      </p:sp>
      <p:sp>
        <p:nvSpPr>
          <p:cNvPr name="TextBox 26" id="26"/>
          <p:cNvSpPr txBox="true"/>
          <p:nvPr/>
        </p:nvSpPr>
        <p:spPr>
          <a:xfrm rot="0">
            <a:off x="2858209" y="3047745"/>
            <a:ext cx="4203650" cy="389822"/>
          </a:xfrm>
          <a:prstGeom prst="rect">
            <a:avLst/>
          </a:prstGeom>
        </p:spPr>
        <p:txBody>
          <a:bodyPr anchor="t" rtlCol="false" tIns="0" lIns="0" bIns="0" rIns="0">
            <a:spAutoFit/>
          </a:bodyPr>
          <a:lstStyle/>
          <a:p>
            <a:pPr algn="ctr">
              <a:lnSpc>
                <a:spcPts val="3188"/>
              </a:lnSpc>
              <a:spcBef>
                <a:spcPct val="0"/>
              </a:spcBef>
            </a:pPr>
            <a:r>
              <a:rPr lang="en-US" sz="2277" i="true">
                <a:solidFill>
                  <a:srgbClr val="1E1D1C"/>
                </a:solidFill>
                <a:latin typeface="Tex Gyre Termes Italics"/>
                <a:ea typeface="Tex Gyre Termes Italics"/>
                <a:cs typeface="Tex Gyre Termes Italics"/>
                <a:sym typeface="Tex Gyre Termes Italics"/>
              </a:rPr>
              <a:t>Bloque 1: ID = 1 - Tamaño = 10MB</a:t>
            </a:r>
          </a:p>
        </p:txBody>
      </p:sp>
      <p:sp>
        <p:nvSpPr>
          <p:cNvPr name="TextBox 27" id="27"/>
          <p:cNvSpPr txBox="true"/>
          <p:nvPr/>
        </p:nvSpPr>
        <p:spPr>
          <a:xfrm rot="0">
            <a:off x="691297" y="2580398"/>
            <a:ext cx="4430018" cy="389763"/>
          </a:xfrm>
          <a:prstGeom prst="rect">
            <a:avLst/>
          </a:prstGeom>
        </p:spPr>
        <p:txBody>
          <a:bodyPr anchor="t" rtlCol="false" tIns="0" lIns="0" bIns="0" rIns="0">
            <a:spAutoFit/>
          </a:bodyPr>
          <a:lstStyle/>
          <a:p>
            <a:pPr algn="ctr">
              <a:lnSpc>
                <a:spcPts val="3191"/>
              </a:lnSpc>
              <a:spcBef>
                <a:spcPct val="0"/>
              </a:spcBef>
            </a:pPr>
            <a:r>
              <a:rPr lang="en-US" sz="2279" i="true">
                <a:solidFill>
                  <a:srgbClr val="1E1D1C"/>
                </a:solidFill>
                <a:latin typeface="Tex Gyre Termes Italics"/>
                <a:ea typeface="Tex Gyre Termes Italics"/>
                <a:cs typeface="Tex Gyre Termes Italics"/>
                <a:sym typeface="Tex Gyre Termes Italics"/>
              </a:rPr>
              <a:t>Ingresamos un 3 bloques de memoria:</a:t>
            </a:r>
          </a:p>
        </p:txBody>
      </p:sp>
      <p:sp>
        <p:nvSpPr>
          <p:cNvPr name="TextBox 28" id="28"/>
          <p:cNvSpPr txBox="true"/>
          <p:nvPr/>
        </p:nvSpPr>
        <p:spPr>
          <a:xfrm rot="0">
            <a:off x="2858209" y="3513766"/>
            <a:ext cx="4203650" cy="389822"/>
          </a:xfrm>
          <a:prstGeom prst="rect">
            <a:avLst/>
          </a:prstGeom>
        </p:spPr>
        <p:txBody>
          <a:bodyPr anchor="t" rtlCol="false" tIns="0" lIns="0" bIns="0" rIns="0">
            <a:spAutoFit/>
          </a:bodyPr>
          <a:lstStyle/>
          <a:p>
            <a:pPr algn="ctr">
              <a:lnSpc>
                <a:spcPts val="3188"/>
              </a:lnSpc>
              <a:spcBef>
                <a:spcPct val="0"/>
              </a:spcBef>
            </a:pPr>
            <a:r>
              <a:rPr lang="en-US" sz="2277" i="true">
                <a:solidFill>
                  <a:srgbClr val="1E1D1C"/>
                </a:solidFill>
                <a:latin typeface="Tex Gyre Termes Italics"/>
                <a:ea typeface="Tex Gyre Termes Italics"/>
                <a:cs typeface="Tex Gyre Termes Italics"/>
                <a:sym typeface="Tex Gyre Termes Italics"/>
              </a:rPr>
              <a:t>Bloque 2: ID = 2 - Tamaño = 40MB</a:t>
            </a:r>
          </a:p>
        </p:txBody>
      </p:sp>
      <p:sp>
        <p:nvSpPr>
          <p:cNvPr name="TextBox 29" id="29"/>
          <p:cNvSpPr txBox="true"/>
          <p:nvPr/>
        </p:nvSpPr>
        <p:spPr>
          <a:xfrm rot="0">
            <a:off x="2858209" y="3979788"/>
            <a:ext cx="4203650" cy="389822"/>
          </a:xfrm>
          <a:prstGeom prst="rect">
            <a:avLst/>
          </a:prstGeom>
        </p:spPr>
        <p:txBody>
          <a:bodyPr anchor="t" rtlCol="false" tIns="0" lIns="0" bIns="0" rIns="0">
            <a:spAutoFit/>
          </a:bodyPr>
          <a:lstStyle/>
          <a:p>
            <a:pPr algn="ctr">
              <a:lnSpc>
                <a:spcPts val="3188"/>
              </a:lnSpc>
              <a:spcBef>
                <a:spcPct val="0"/>
              </a:spcBef>
            </a:pPr>
            <a:r>
              <a:rPr lang="en-US" sz="2277" i="true">
                <a:solidFill>
                  <a:srgbClr val="1E1D1C"/>
                </a:solidFill>
                <a:latin typeface="Tex Gyre Termes Italics"/>
                <a:ea typeface="Tex Gyre Termes Italics"/>
                <a:cs typeface="Tex Gyre Termes Italics"/>
                <a:sym typeface="Tex Gyre Termes Italics"/>
              </a:rPr>
              <a:t>Bloque 3: ID = 3 - Tamaño = 50MB</a:t>
            </a:r>
          </a:p>
        </p:txBody>
      </p:sp>
      <p:sp>
        <p:nvSpPr>
          <p:cNvPr name="TextBox 30" id="30"/>
          <p:cNvSpPr txBox="true"/>
          <p:nvPr/>
        </p:nvSpPr>
        <p:spPr>
          <a:xfrm rot="0">
            <a:off x="639703" y="4581401"/>
            <a:ext cx="4437013" cy="389763"/>
          </a:xfrm>
          <a:prstGeom prst="rect">
            <a:avLst/>
          </a:prstGeom>
        </p:spPr>
        <p:txBody>
          <a:bodyPr anchor="t" rtlCol="false" tIns="0" lIns="0" bIns="0" rIns="0">
            <a:spAutoFit/>
          </a:bodyPr>
          <a:lstStyle/>
          <a:p>
            <a:pPr algn="ctr">
              <a:lnSpc>
                <a:spcPts val="3191"/>
              </a:lnSpc>
              <a:spcBef>
                <a:spcPct val="0"/>
              </a:spcBef>
            </a:pPr>
            <a:r>
              <a:rPr lang="en-US" sz="2279" i="true">
                <a:solidFill>
                  <a:srgbClr val="1E1D1C"/>
                </a:solidFill>
                <a:latin typeface="Tex Gyre Termes Italics"/>
                <a:ea typeface="Tex Gyre Termes Italics"/>
                <a:cs typeface="Tex Gyre Termes Italics"/>
                <a:sym typeface="Tex Gyre Termes Italics"/>
              </a:rPr>
              <a:t>Sumando los bloques nos dan 100 MB</a:t>
            </a:r>
          </a:p>
        </p:txBody>
      </p:sp>
      <p:sp>
        <p:nvSpPr>
          <p:cNvPr name="TextBox 31" id="31"/>
          <p:cNvSpPr txBox="true"/>
          <p:nvPr/>
        </p:nvSpPr>
        <p:spPr>
          <a:xfrm rot="0">
            <a:off x="691297" y="2090241"/>
            <a:ext cx="4891088" cy="389763"/>
          </a:xfrm>
          <a:prstGeom prst="rect">
            <a:avLst/>
          </a:prstGeom>
        </p:spPr>
        <p:txBody>
          <a:bodyPr anchor="t" rtlCol="false" tIns="0" lIns="0" bIns="0" rIns="0">
            <a:spAutoFit/>
          </a:bodyPr>
          <a:lstStyle/>
          <a:p>
            <a:pPr algn="ctr">
              <a:lnSpc>
                <a:spcPts val="3191"/>
              </a:lnSpc>
              <a:spcBef>
                <a:spcPct val="0"/>
              </a:spcBef>
            </a:pPr>
            <a:r>
              <a:rPr lang="en-US" sz="2279" i="true">
                <a:solidFill>
                  <a:srgbClr val="1E1D1C"/>
                </a:solidFill>
                <a:latin typeface="Tex Gyre Termes Italics"/>
                <a:ea typeface="Tex Gyre Termes Italics"/>
                <a:cs typeface="Tex Gyre Termes Italics"/>
                <a:sym typeface="Tex Gyre Termes Italics"/>
              </a:rPr>
              <a:t>Ingresamos el tamaño MAXIMO: 100MB:</a:t>
            </a:r>
          </a:p>
        </p:txBody>
      </p:sp>
      <p:sp>
        <p:nvSpPr>
          <p:cNvPr name="TextBox 32" id="32"/>
          <p:cNvSpPr txBox="true"/>
          <p:nvPr/>
        </p:nvSpPr>
        <p:spPr>
          <a:xfrm rot="0">
            <a:off x="639703" y="5904614"/>
            <a:ext cx="5039916" cy="389763"/>
          </a:xfrm>
          <a:prstGeom prst="rect">
            <a:avLst/>
          </a:prstGeom>
        </p:spPr>
        <p:txBody>
          <a:bodyPr anchor="t" rtlCol="false" tIns="0" lIns="0" bIns="0" rIns="0">
            <a:spAutoFit/>
          </a:bodyPr>
          <a:lstStyle/>
          <a:p>
            <a:pPr algn="ctr">
              <a:lnSpc>
                <a:spcPts val="3191"/>
              </a:lnSpc>
              <a:spcBef>
                <a:spcPct val="0"/>
              </a:spcBef>
            </a:pPr>
            <a:r>
              <a:rPr lang="en-US" sz="2279" i="true">
                <a:solidFill>
                  <a:srgbClr val="1E1D1C"/>
                </a:solidFill>
                <a:latin typeface="Tex Gyre Termes Italics"/>
                <a:ea typeface="Tex Gyre Termes Italics"/>
                <a:cs typeface="Tex Gyre Termes Italics"/>
                <a:sym typeface="Tex Gyre Termes Italics"/>
              </a:rPr>
              <a:t>Pero si ingresamos otro bloque de memoria</a:t>
            </a:r>
          </a:p>
        </p:txBody>
      </p:sp>
      <p:sp>
        <p:nvSpPr>
          <p:cNvPr name="TextBox 33" id="33"/>
          <p:cNvSpPr txBox="true"/>
          <p:nvPr/>
        </p:nvSpPr>
        <p:spPr>
          <a:xfrm rot="0">
            <a:off x="426566" y="5440413"/>
            <a:ext cx="2376281" cy="388001"/>
          </a:xfrm>
          <a:prstGeom prst="rect">
            <a:avLst/>
          </a:prstGeom>
        </p:spPr>
        <p:txBody>
          <a:bodyPr anchor="t" rtlCol="false" tIns="0" lIns="0" bIns="0" rIns="0">
            <a:spAutoFit/>
          </a:bodyPr>
          <a:lstStyle/>
          <a:p>
            <a:pPr algn="ctr">
              <a:lnSpc>
                <a:spcPts val="2622"/>
              </a:lnSpc>
            </a:pPr>
            <a:r>
              <a:rPr lang="en-US" sz="3543" i="true">
                <a:solidFill>
                  <a:srgbClr val="1E1D1C"/>
                </a:solidFill>
                <a:latin typeface="Tex Gyre Termes Italics"/>
                <a:ea typeface="Tex Gyre Termes Italics"/>
                <a:cs typeface="Tex Gyre Termes Italics"/>
                <a:sym typeface="Tex Gyre Termes Italics"/>
              </a:rPr>
              <a:t>¡ALERTA!:</a:t>
            </a:r>
          </a:p>
        </p:txBody>
      </p:sp>
      <p:sp>
        <p:nvSpPr>
          <p:cNvPr name="TextBox 34" id="34"/>
          <p:cNvSpPr txBox="true"/>
          <p:nvPr/>
        </p:nvSpPr>
        <p:spPr>
          <a:xfrm rot="0">
            <a:off x="211794" y="6256277"/>
            <a:ext cx="9069802" cy="389763"/>
          </a:xfrm>
          <a:prstGeom prst="rect">
            <a:avLst/>
          </a:prstGeom>
        </p:spPr>
        <p:txBody>
          <a:bodyPr anchor="t" rtlCol="false" tIns="0" lIns="0" bIns="0" rIns="0">
            <a:spAutoFit/>
          </a:bodyPr>
          <a:lstStyle/>
          <a:p>
            <a:pPr algn="ctr">
              <a:lnSpc>
                <a:spcPts val="3191"/>
              </a:lnSpc>
              <a:spcBef>
                <a:spcPct val="0"/>
              </a:spcBef>
            </a:pPr>
            <a:r>
              <a:rPr lang="en-US" sz="2279" i="true">
                <a:solidFill>
                  <a:srgbClr val="1E1D1C"/>
                </a:solidFill>
                <a:latin typeface="Tex Gyre Termes Italics"/>
                <a:ea typeface="Tex Gyre Termes Italics"/>
                <a:cs typeface="Tex Gyre Termes Italics"/>
                <a:sym typeface="Tex Gyre Termes Italics"/>
              </a:rPr>
              <a:t>Nos mostrara un mensaje de error, ya que superamos el tamañ máximo</a:t>
            </a:r>
          </a:p>
        </p:txBody>
      </p:sp>
      <p:sp>
        <p:nvSpPr>
          <p:cNvPr name="TextBox 35" id="35"/>
          <p:cNvSpPr txBox="true"/>
          <p:nvPr/>
        </p:nvSpPr>
        <p:spPr>
          <a:xfrm rot="0">
            <a:off x="10455052" y="1304925"/>
            <a:ext cx="6763434" cy="1313573"/>
          </a:xfrm>
          <a:prstGeom prst="rect">
            <a:avLst/>
          </a:prstGeom>
        </p:spPr>
        <p:txBody>
          <a:bodyPr anchor="t" rtlCol="false" tIns="0" lIns="0" bIns="0" rIns="0">
            <a:spAutoFit/>
          </a:bodyPr>
          <a:lstStyle/>
          <a:p>
            <a:pPr algn="ctr">
              <a:lnSpc>
                <a:spcPts val="4694"/>
              </a:lnSpc>
            </a:pPr>
            <a:r>
              <a:rPr lang="en-US" sz="6343" i="true">
                <a:solidFill>
                  <a:srgbClr val="1E1D1C"/>
                </a:solidFill>
                <a:latin typeface="Tex Gyre Termes Italics"/>
                <a:ea typeface="Tex Gyre Termes Italics"/>
                <a:cs typeface="Tex Gyre Termes Italics"/>
                <a:sym typeface="Tex Gyre Termes Italics"/>
              </a:rPr>
              <a:t>Función para asignar memoria</a:t>
            </a:r>
          </a:p>
        </p:txBody>
      </p:sp>
      <p:sp>
        <p:nvSpPr>
          <p:cNvPr name="TextBox 36" id="36"/>
          <p:cNvSpPr txBox="true"/>
          <p:nvPr/>
        </p:nvSpPr>
        <p:spPr>
          <a:xfrm rot="0">
            <a:off x="9979778" y="2751848"/>
            <a:ext cx="7364827" cy="2428843"/>
          </a:xfrm>
          <a:prstGeom prst="rect">
            <a:avLst/>
          </a:prstGeom>
        </p:spPr>
        <p:txBody>
          <a:bodyPr anchor="t" rtlCol="false" tIns="0" lIns="0" bIns="0" rIns="0">
            <a:spAutoFit/>
          </a:bodyPr>
          <a:lstStyle/>
          <a:p>
            <a:pPr algn="ctr">
              <a:lnSpc>
                <a:spcPts val="1978"/>
              </a:lnSpc>
            </a:pPr>
            <a:r>
              <a:rPr lang="en-US" sz="2673" i="true">
                <a:solidFill>
                  <a:srgbClr val="1E1D1C"/>
                </a:solidFill>
                <a:latin typeface="Tex Gyre Termes Italics"/>
                <a:ea typeface="Tex Gyre Termes Italics"/>
                <a:cs typeface="Tex Gyre Termes Italics"/>
                <a:sym typeface="Tex Gyre Termes Italics"/>
              </a:rPr>
              <a:t>Esta función permite asignar bloques de memoria</a:t>
            </a:r>
          </a:p>
          <a:p>
            <a:pPr algn="ctr">
              <a:lnSpc>
                <a:spcPts val="1978"/>
              </a:lnSpc>
            </a:pPr>
          </a:p>
          <a:p>
            <a:pPr algn="ctr" marL="577118" indent="-288559" lvl="1">
              <a:lnSpc>
                <a:spcPts val="1978"/>
              </a:lnSpc>
              <a:buFont typeface="Arial"/>
              <a:buChar char="•"/>
            </a:pPr>
            <a:r>
              <a:rPr lang="en-US" sz="2673" i="true">
                <a:solidFill>
                  <a:srgbClr val="1E1D1C"/>
                </a:solidFill>
                <a:latin typeface="Tex Gyre Termes Italics"/>
                <a:ea typeface="Tex Gyre Termes Italics"/>
                <a:cs typeface="Tex Gyre Termes Italics"/>
                <a:sym typeface="Tex Gyre Termes Italics"/>
              </a:rPr>
              <a:t>Agrega un proceso en la cima de la pila.</a:t>
            </a:r>
          </a:p>
          <a:p>
            <a:pPr algn="ctr">
              <a:lnSpc>
                <a:spcPts val="1978"/>
              </a:lnSpc>
            </a:pPr>
          </a:p>
          <a:p>
            <a:pPr algn="ctr" marL="577118" indent="-288559" lvl="1">
              <a:lnSpc>
                <a:spcPts val="1978"/>
              </a:lnSpc>
              <a:buFont typeface="Arial"/>
              <a:buChar char="•"/>
            </a:pPr>
            <a:r>
              <a:rPr lang="en-US" sz="2673" i="true">
                <a:solidFill>
                  <a:srgbClr val="1E1D1C"/>
                </a:solidFill>
                <a:latin typeface="Tex Gyre Termes Italics"/>
                <a:ea typeface="Tex Gyre Termes Italics"/>
                <a:cs typeface="Tex Gyre Termes Italics"/>
                <a:sym typeface="Tex Gyre Termes Italics"/>
              </a:rPr>
              <a:t>Solo lo permite si hay suficiente memoria.</a:t>
            </a:r>
          </a:p>
          <a:p>
            <a:pPr algn="ctr">
              <a:lnSpc>
                <a:spcPts val="1978"/>
              </a:lnSpc>
            </a:pPr>
          </a:p>
          <a:p>
            <a:pPr algn="ctr" marL="577118" indent="-288559" lvl="1">
              <a:lnSpc>
                <a:spcPts val="1978"/>
              </a:lnSpc>
              <a:buFont typeface="Arial"/>
              <a:buChar char="•"/>
            </a:pPr>
            <a:r>
              <a:rPr lang="en-US" sz="2673" i="true">
                <a:solidFill>
                  <a:srgbClr val="1E1D1C"/>
                </a:solidFill>
                <a:latin typeface="Tex Gyre Termes Italics"/>
                <a:ea typeface="Tex Gyre Termes Italics"/>
                <a:cs typeface="Tex Gyre Termes Italics"/>
                <a:sym typeface="Tex Gyre Termes Italics"/>
              </a:rPr>
              <a:t>Verifica si se repite los ID</a:t>
            </a:r>
          </a:p>
          <a:p>
            <a:pPr algn="ctr">
              <a:lnSpc>
                <a:spcPts val="1978"/>
              </a:lnSpc>
            </a:pPr>
          </a:p>
          <a:p>
            <a:pPr algn="ctr" marL="577118" indent="-288559" lvl="1">
              <a:lnSpc>
                <a:spcPts val="1978"/>
              </a:lnSpc>
              <a:buFont typeface="Arial"/>
              <a:buChar char="•"/>
            </a:pPr>
            <a:r>
              <a:rPr lang="en-US" sz="2673" i="true">
                <a:solidFill>
                  <a:srgbClr val="1E1D1C"/>
                </a:solidFill>
                <a:latin typeface="Tex Gyre Termes Italics"/>
                <a:ea typeface="Tex Gyre Termes Italics"/>
                <a:cs typeface="Tex Gyre Termes Italics"/>
                <a:sym typeface="Tex Gyre Termes Italics"/>
              </a:rPr>
              <a:t>Se guarda la pila en un archivo memoria.txt.</a:t>
            </a:r>
          </a:p>
          <a:p>
            <a:pPr algn="ctr">
              <a:lnSpc>
                <a:spcPts val="1978"/>
              </a:lnSpc>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flipV="true">
            <a:off x="426566" y="-3456152"/>
            <a:ext cx="0" cy="20548521"/>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7892632" y="-3456152"/>
            <a:ext cx="0" cy="20548521"/>
          </a:xfrm>
          <a:prstGeom prst="line">
            <a:avLst/>
          </a:prstGeom>
          <a:ln cap="flat" w="38100">
            <a:solidFill>
              <a:srgbClr val="000000"/>
            </a:solidFill>
            <a:prstDash val="solid"/>
            <a:headEnd type="none" len="sm" w="sm"/>
            <a:tailEnd type="none" len="sm" w="sm"/>
          </a:ln>
        </p:spPr>
      </p:sp>
      <p:sp>
        <p:nvSpPr>
          <p:cNvPr name="Freeform 5" id="5"/>
          <p:cNvSpPr/>
          <p:nvPr/>
        </p:nvSpPr>
        <p:spPr>
          <a:xfrm flipH="false" flipV="false" rot="-5400000">
            <a:off x="1823910"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5400000">
            <a:off x="3914396"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5400000">
            <a:off x="807094"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5400000">
            <a:off x="2897579"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5400000">
            <a:off x="5988190"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5400000">
            <a:off x="8078676"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5400000">
            <a:off x="4971374"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5400000">
            <a:off x="7061860"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5400000">
            <a:off x="10152471"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5400000">
            <a:off x="12242956"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5400000">
            <a:off x="9135654"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5400000">
            <a:off x="11226140"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5400000">
            <a:off x="14316751"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5400000">
            <a:off x="16407237"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5400000">
            <a:off x="13299935"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false" flipV="false" rot="-5400000">
            <a:off x="15390421"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21" id="21"/>
          <p:cNvSpPr/>
          <p:nvPr/>
        </p:nvSpPr>
        <p:spPr>
          <a:xfrm flipV="true">
            <a:off x="9431752" y="1028700"/>
            <a:ext cx="0" cy="16697564"/>
          </a:xfrm>
          <a:prstGeom prst="line">
            <a:avLst/>
          </a:prstGeom>
          <a:ln cap="flat" w="38100">
            <a:solidFill>
              <a:srgbClr val="000000"/>
            </a:solidFill>
            <a:prstDash val="solid"/>
            <a:headEnd type="none" len="sm" w="sm"/>
            <a:tailEnd type="none" len="sm" w="sm"/>
          </a:ln>
        </p:spPr>
      </p:sp>
      <p:sp>
        <p:nvSpPr>
          <p:cNvPr name="Freeform 22" id="22"/>
          <p:cNvSpPr/>
          <p:nvPr/>
        </p:nvSpPr>
        <p:spPr>
          <a:xfrm flipH="false" flipV="false" rot="0">
            <a:off x="639703" y="7785848"/>
            <a:ext cx="8194798" cy="1346195"/>
          </a:xfrm>
          <a:custGeom>
            <a:avLst/>
            <a:gdLst/>
            <a:ahLst/>
            <a:cxnLst/>
            <a:rect r="r" b="b" t="t" l="l"/>
            <a:pathLst>
              <a:path h="1346195" w="8194798">
                <a:moveTo>
                  <a:pt x="0" y="0"/>
                </a:moveTo>
                <a:lnTo>
                  <a:pt x="8194798" y="0"/>
                </a:lnTo>
                <a:lnTo>
                  <a:pt x="8194798" y="1346195"/>
                </a:lnTo>
                <a:lnTo>
                  <a:pt x="0" y="1346195"/>
                </a:lnTo>
                <a:lnTo>
                  <a:pt x="0" y="0"/>
                </a:lnTo>
                <a:close/>
              </a:path>
            </a:pathLst>
          </a:custGeom>
          <a:blipFill>
            <a:blip r:embed="rId6"/>
            <a:stretch>
              <a:fillRect l="0" t="0" r="0" b="0"/>
            </a:stretch>
          </a:blipFill>
        </p:spPr>
      </p:sp>
      <p:sp>
        <p:nvSpPr>
          <p:cNvPr name="Freeform 23" id="23"/>
          <p:cNvSpPr/>
          <p:nvPr/>
        </p:nvSpPr>
        <p:spPr>
          <a:xfrm flipH="false" flipV="false" rot="0">
            <a:off x="10209324" y="4244948"/>
            <a:ext cx="6791601" cy="3053504"/>
          </a:xfrm>
          <a:custGeom>
            <a:avLst/>
            <a:gdLst/>
            <a:ahLst/>
            <a:cxnLst/>
            <a:rect r="r" b="b" t="t" l="l"/>
            <a:pathLst>
              <a:path h="3053504" w="6791601">
                <a:moveTo>
                  <a:pt x="0" y="0"/>
                </a:moveTo>
                <a:lnTo>
                  <a:pt x="6791601" y="0"/>
                </a:lnTo>
                <a:lnTo>
                  <a:pt x="6791601" y="3053504"/>
                </a:lnTo>
                <a:lnTo>
                  <a:pt x="0" y="3053504"/>
                </a:lnTo>
                <a:lnTo>
                  <a:pt x="0" y="0"/>
                </a:lnTo>
                <a:close/>
              </a:path>
            </a:pathLst>
          </a:custGeom>
          <a:blipFill>
            <a:blip r:embed="rId7"/>
            <a:stretch>
              <a:fillRect l="0" t="0" r="0" b="0"/>
            </a:stretch>
          </a:blipFill>
        </p:spPr>
      </p:sp>
      <p:sp>
        <p:nvSpPr>
          <p:cNvPr name="TextBox 24" id="24"/>
          <p:cNvSpPr txBox="true"/>
          <p:nvPr/>
        </p:nvSpPr>
        <p:spPr>
          <a:xfrm rot="0">
            <a:off x="-1083816" y="1609725"/>
            <a:ext cx="6763434" cy="703973"/>
          </a:xfrm>
          <a:prstGeom prst="rect">
            <a:avLst/>
          </a:prstGeom>
        </p:spPr>
        <p:txBody>
          <a:bodyPr anchor="t" rtlCol="false" tIns="0" lIns="0" bIns="0" rIns="0">
            <a:spAutoFit/>
          </a:bodyPr>
          <a:lstStyle/>
          <a:p>
            <a:pPr algn="ctr">
              <a:lnSpc>
                <a:spcPts val="4694"/>
              </a:lnSpc>
            </a:pPr>
            <a:r>
              <a:rPr lang="en-US" sz="6343" i="true">
                <a:solidFill>
                  <a:srgbClr val="1E1D1C"/>
                </a:solidFill>
                <a:latin typeface="Tex Gyre Termes Italics"/>
                <a:ea typeface="Tex Gyre Termes Italics"/>
                <a:cs typeface="Tex Gyre Termes Italics"/>
                <a:sym typeface="Tex Gyre Termes Italics"/>
              </a:rPr>
              <a:t>Ejemplo:</a:t>
            </a:r>
          </a:p>
        </p:txBody>
      </p:sp>
      <p:sp>
        <p:nvSpPr>
          <p:cNvPr name="TextBox 25" id="25"/>
          <p:cNvSpPr txBox="true"/>
          <p:nvPr/>
        </p:nvSpPr>
        <p:spPr>
          <a:xfrm rot="0">
            <a:off x="2321375" y="4744409"/>
            <a:ext cx="4203650" cy="389822"/>
          </a:xfrm>
          <a:prstGeom prst="rect">
            <a:avLst/>
          </a:prstGeom>
        </p:spPr>
        <p:txBody>
          <a:bodyPr anchor="t" rtlCol="false" tIns="0" lIns="0" bIns="0" rIns="0">
            <a:spAutoFit/>
          </a:bodyPr>
          <a:lstStyle/>
          <a:p>
            <a:pPr algn="ctr">
              <a:lnSpc>
                <a:spcPts val="3188"/>
              </a:lnSpc>
              <a:spcBef>
                <a:spcPct val="0"/>
              </a:spcBef>
            </a:pPr>
            <a:r>
              <a:rPr lang="en-US" sz="2277" i="true">
                <a:solidFill>
                  <a:srgbClr val="1E1D1C"/>
                </a:solidFill>
                <a:latin typeface="Tex Gyre Termes Italics"/>
                <a:ea typeface="Tex Gyre Termes Italics"/>
                <a:cs typeface="Tex Gyre Termes Italics"/>
                <a:sym typeface="Tex Gyre Termes Italics"/>
              </a:rPr>
              <a:t>Bloque 1: ID = 1 - Tamaño = 10MB</a:t>
            </a:r>
          </a:p>
        </p:txBody>
      </p:sp>
      <p:sp>
        <p:nvSpPr>
          <p:cNvPr name="TextBox 26" id="26"/>
          <p:cNvSpPr txBox="true"/>
          <p:nvPr/>
        </p:nvSpPr>
        <p:spPr>
          <a:xfrm rot="0">
            <a:off x="639703" y="2393258"/>
            <a:ext cx="7254428" cy="1208913"/>
          </a:xfrm>
          <a:prstGeom prst="rect">
            <a:avLst/>
          </a:prstGeom>
        </p:spPr>
        <p:txBody>
          <a:bodyPr anchor="t" rtlCol="false" tIns="0" lIns="0" bIns="0" rIns="0">
            <a:spAutoFit/>
          </a:bodyPr>
          <a:lstStyle/>
          <a:p>
            <a:pPr algn="l">
              <a:lnSpc>
                <a:spcPts val="3191"/>
              </a:lnSpc>
              <a:spcBef>
                <a:spcPct val="0"/>
              </a:spcBef>
            </a:pPr>
            <a:r>
              <a:rPr lang="en-US" sz="2279" i="true">
                <a:solidFill>
                  <a:srgbClr val="1E1D1C"/>
                </a:solidFill>
                <a:latin typeface="Tex Gyre Termes Italics"/>
                <a:ea typeface="Tex Gyre Termes Italics"/>
                <a:cs typeface="Tex Gyre Termes Italics"/>
                <a:sym typeface="Tex Gyre Termes Italics"/>
              </a:rPr>
              <a:t>Ingresamos los bloques de Memoria que queramos, pero con la condición que no exceda del tamaño de la memoria asignada</a:t>
            </a:r>
          </a:p>
        </p:txBody>
      </p:sp>
      <p:sp>
        <p:nvSpPr>
          <p:cNvPr name="TextBox 27" id="27"/>
          <p:cNvSpPr txBox="true"/>
          <p:nvPr/>
        </p:nvSpPr>
        <p:spPr>
          <a:xfrm rot="0">
            <a:off x="2297902" y="5142591"/>
            <a:ext cx="4203650" cy="389822"/>
          </a:xfrm>
          <a:prstGeom prst="rect">
            <a:avLst/>
          </a:prstGeom>
        </p:spPr>
        <p:txBody>
          <a:bodyPr anchor="t" rtlCol="false" tIns="0" lIns="0" bIns="0" rIns="0">
            <a:spAutoFit/>
          </a:bodyPr>
          <a:lstStyle/>
          <a:p>
            <a:pPr algn="ctr">
              <a:lnSpc>
                <a:spcPts val="3188"/>
              </a:lnSpc>
              <a:spcBef>
                <a:spcPct val="0"/>
              </a:spcBef>
            </a:pPr>
            <a:r>
              <a:rPr lang="en-US" sz="2277" i="true">
                <a:solidFill>
                  <a:srgbClr val="1E1D1C"/>
                </a:solidFill>
                <a:latin typeface="Tex Gyre Termes Italics"/>
                <a:ea typeface="Tex Gyre Termes Italics"/>
                <a:cs typeface="Tex Gyre Termes Italics"/>
                <a:sym typeface="Tex Gyre Termes Italics"/>
              </a:rPr>
              <a:t>Bloque 2: ID = 2 - Tamaño = 40MB</a:t>
            </a:r>
          </a:p>
        </p:txBody>
      </p:sp>
      <p:sp>
        <p:nvSpPr>
          <p:cNvPr name="TextBox 28" id="28"/>
          <p:cNvSpPr txBox="true"/>
          <p:nvPr/>
        </p:nvSpPr>
        <p:spPr>
          <a:xfrm rot="0">
            <a:off x="2297902" y="5541938"/>
            <a:ext cx="4203650" cy="389822"/>
          </a:xfrm>
          <a:prstGeom prst="rect">
            <a:avLst/>
          </a:prstGeom>
        </p:spPr>
        <p:txBody>
          <a:bodyPr anchor="t" rtlCol="false" tIns="0" lIns="0" bIns="0" rIns="0">
            <a:spAutoFit/>
          </a:bodyPr>
          <a:lstStyle/>
          <a:p>
            <a:pPr algn="ctr">
              <a:lnSpc>
                <a:spcPts val="3188"/>
              </a:lnSpc>
              <a:spcBef>
                <a:spcPct val="0"/>
              </a:spcBef>
            </a:pPr>
            <a:r>
              <a:rPr lang="en-US" sz="2277" i="true">
                <a:solidFill>
                  <a:srgbClr val="1E1D1C"/>
                </a:solidFill>
                <a:latin typeface="Tex Gyre Termes Italics"/>
                <a:ea typeface="Tex Gyre Termes Italics"/>
                <a:cs typeface="Tex Gyre Termes Italics"/>
                <a:sym typeface="Tex Gyre Termes Italics"/>
              </a:rPr>
              <a:t>Bloque 3: ID = 3 - Tamaño = 50MB</a:t>
            </a:r>
          </a:p>
        </p:txBody>
      </p:sp>
      <p:sp>
        <p:nvSpPr>
          <p:cNvPr name="TextBox 29" id="29"/>
          <p:cNvSpPr txBox="true"/>
          <p:nvPr/>
        </p:nvSpPr>
        <p:spPr>
          <a:xfrm rot="0">
            <a:off x="639703" y="3678371"/>
            <a:ext cx="7061860" cy="799338"/>
          </a:xfrm>
          <a:prstGeom prst="rect">
            <a:avLst/>
          </a:prstGeom>
        </p:spPr>
        <p:txBody>
          <a:bodyPr anchor="t" rtlCol="false" tIns="0" lIns="0" bIns="0" rIns="0">
            <a:spAutoFit/>
          </a:bodyPr>
          <a:lstStyle/>
          <a:p>
            <a:pPr algn="l">
              <a:lnSpc>
                <a:spcPts val="3191"/>
              </a:lnSpc>
              <a:spcBef>
                <a:spcPct val="0"/>
              </a:spcBef>
            </a:pPr>
            <a:r>
              <a:rPr lang="en-US" sz="2279" i="true">
                <a:solidFill>
                  <a:srgbClr val="1E1D1C"/>
                </a:solidFill>
                <a:latin typeface="Tex Gyre Termes Italics"/>
                <a:ea typeface="Tex Gyre Termes Italics"/>
                <a:cs typeface="Tex Gyre Termes Italics"/>
                <a:sym typeface="Tex Gyre Termes Italics"/>
              </a:rPr>
              <a:t>En este caso seguiremos con los mismo bloques de memoria que el anterior ejemplo</a:t>
            </a:r>
          </a:p>
        </p:txBody>
      </p:sp>
      <p:sp>
        <p:nvSpPr>
          <p:cNvPr name="TextBox 30" id="30"/>
          <p:cNvSpPr txBox="true"/>
          <p:nvPr/>
        </p:nvSpPr>
        <p:spPr>
          <a:xfrm rot="0">
            <a:off x="572322" y="6662660"/>
            <a:ext cx="8135529" cy="799338"/>
          </a:xfrm>
          <a:prstGeom prst="rect">
            <a:avLst/>
          </a:prstGeom>
        </p:spPr>
        <p:txBody>
          <a:bodyPr anchor="t" rtlCol="false" tIns="0" lIns="0" bIns="0" rIns="0">
            <a:spAutoFit/>
          </a:bodyPr>
          <a:lstStyle/>
          <a:p>
            <a:pPr algn="l">
              <a:lnSpc>
                <a:spcPts val="3191"/>
              </a:lnSpc>
              <a:spcBef>
                <a:spcPct val="0"/>
              </a:spcBef>
            </a:pPr>
            <a:r>
              <a:rPr lang="en-US" sz="2279" i="true">
                <a:solidFill>
                  <a:srgbClr val="1E1D1C"/>
                </a:solidFill>
                <a:latin typeface="Tex Gyre Termes Italics"/>
                <a:ea typeface="Tex Gyre Termes Italics"/>
                <a:cs typeface="Tex Gyre Termes Italics"/>
                <a:sym typeface="Tex Gyre Termes Italics"/>
              </a:rPr>
              <a:t>Si ingresamos otro bloque con el mismo ID, nos mostrara un mensaje de error</a:t>
            </a:r>
          </a:p>
        </p:txBody>
      </p:sp>
      <p:sp>
        <p:nvSpPr>
          <p:cNvPr name="TextBox 31" id="31"/>
          <p:cNvSpPr txBox="true"/>
          <p:nvPr/>
        </p:nvSpPr>
        <p:spPr>
          <a:xfrm rot="0">
            <a:off x="426566" y="6198460"/>
            <a:ext cx="2376281" cy="388001"/>
          </a:xfrm>
          <a:prstGeom prst="rect">
            <a:avLst/>
          </a:prstGeom>
        </p:spPr>
        <p:txBody>
          <a:bodyPr anchor="t" rtlCol="false" tIns="0" lIns="0" bIns="0" rIns="0">
            <a:spAutoFit/>
          </a:bodyPr>
          <a:lstStyle/>
          <a:p>
            <a:pPr algn="ctr">
              <a:lnSpc>
                <a:spcPts val="2622"/>
              </a:lnSpc>
            </a:pPr>
            <a:r>
              <a:rPr lang="en-US" sz="3543" i="true">
                <a:solidFill>
                  <a:srgbClr val="1E1D1C"/>
                </a:solidFill>
                <a:latin typeface="Tex Gyre Termes Italics"/>
                <a:ea typeface="Tex Gyre Termes Italics"/>
                <a:cs typeface="Tex Gyre Termes Italics"/>
                <a:sym typeface="Tex Gyre Termes Italics"/>
              </a:rPr>
              <a:t>¡ALERTA!:</a:t>
            </a:r>
          </a:p>
        </p:txBody>
      </p:sp>
      <p:sp>
        <p:nvSpPr>
          <p:cNvPr name="TextBox 32" id="32"/>
          <p:cNvSpPr txBox="true"/>
          <p:nvPr/>
        </p:nvSpPr>
        <p:spPr>
          <a:xfrm rot="0">
            <a:off x="10455052" y="1304925"/>
            <a:ext cx="6763434" cy="1313573"/>
          </a:xfrm>
          <a:prstGeom prst="rect">
            <a:avLst/>
          </a:prstGeom>
        </p:spPr>
        <p:txBody>
          <a:bodyPr anchor="t" rtlCol="false" tIns="0" lIns="0" bIns="0" rIns="0">
            <a:spAutoFit/>
          </a:bodyPr>
          <a:lstStyle/>
          <a:p>
            <a:pPr algn="ctr">
              <a:lnSpc>
                <a:spcPts val="4694"/>
              </a:lnSpc>
            </a:pPr>
            <a:r>
              <a:rPr lang="en-US" sz="6343" i="true">
                <a:solidFill>
                  <a:srgbClr val="1E1D1C"/>
                </a:solidFill>
                <a:latin typeface="Tex Gyre Termes Italics"/>
                <a:ea typeface="Tex Gyre Termes Italics"/>
                <a:cs typeface="Tex Gyre Termes Italics"/>
                <a:sym typeface="Tex Gyre Termes Italics"/>
              </a:rPr>
              <a:t>Función para liberar Memoria</a:t>
            </a:r>
          </a:p>
        </p:txBody>
      </p:sp>
      <p:sp>
        <p:nvSpPr>
          <p:cNvPr name="TextBox 33" id="33"/>
          <p:cNvSpPr txBox="true"/>
          <p:nvPr/>
        </p:nvSpPr>
        <p:spPr>
          <a:xfrm rot="0">
            <a:off x="9979778" y="2751848"/>
            <a:ext cx="7364827" cy="1474050"/>
          </a:xfrm>
          <a:prstGeom prst="rect">
            <a:avLst/>
          </a:prstGeom>
        </p:spPr>
        <p:txBody>
          <a:bodyPr anchor="t" rtlCol="false" tIns="0" lIns="0" bIns="0" rIns="0">
            <a:spAutoFit/>
          </a:bodyPr>
          <a:lstStyle/>
          <a:p>
            <a:pPr algn="ctr" marL="577118" indent="-288559" lvl="1">
              <a:lnSpc>
                <a:spcPts val="1978"/>
              </a:lnSpc>
              <a:buFont typeface="Arial"/>
              <a:buChar char="•"/>
            </a:pPr>
            <a:r>
              <a:rPr lang="en-US" sz="2673" i="true">
                <a:solidFill>
                  <a:srgbClr val="1E1D1C"/>
                </a:solidFill>
                <a:latin typeface="Tex Gyre Termes Italics"/>
                <a:ea typeface="Tex Gyre Termes Italics"/>
                <a:cs typeface="Tex Gyre Termes Italics"/>
                <a:sym typeface="Tex Gyre Termes Italics"/>
              </a:rPr>
              <a:t>Elimina el último proceso ingresado (la cima).</a:t>
            </a:r>
          </a:p>
          <a:p>
            <a:pPr algn="ctr">
              <a:lnSpc>
                <a:spcPts val="1978"/>
              </a:lnSpc>
            </a:pPr>
          </a:p>
          <a:p>
            <a:pPr algn="ctr" marL="577118" indent="-288559" lvl="1">
              <a:lnSpc>
                <a:spcPts val="1978"/>
              </a:lnSpc>
              <a:buFont typeface="Arial"/>
              <a:buChar char="•"/>
            </a:pPr>
            <a:r>
              <a:rPr lang="en-US" sz="2673" i="true">
                <a:solidFill>
                  <a:srgbClr val="1E1D1C"/>
                </a:solidFill>
                <a:latin typeface="Tex Gyre Termes Italics"/>
                <a:ea typeface="Tex Gyre Termes Italics"/>
                <a:cs typeface="Tex Gyre Termes Italics"/>
                <a:sym typeface="Tex Gyre Termes Italics"/>
              </a:rPr>
              <a:t>N</a:t>
            </a:r>
            <a:r>
              <a:rPr lang="en-US" sz="2673" i="true">
                <a:solidFill>
                  <a:srgbClr val="1E1D1C"/>
                </a:solidFill>
                <a:latin typeface="Tex Gyre Termes Italics"/>
                <a:ea typeface="Tex Gyre Termes Italics"/>
                <a:cs typeface="Tex Gyre Termes Italics"/>
                <a:sym typeface="Tex Gyre Termes Italics"/>
              </a:rPr>
              <a:t>o pregunta por ID.</a:t>
            </a:r>
          </a:p>
          <a:p>
            <a:pPr algn="ctr">
              <a:lnSpc>
                <a:spcPts val="1978"/>
              </a:lnSpc>
            </a:pPr>
          </a:p>
          <a:p>
            <a:pPr algn="ctr" marL="577118" indent="-288559" lvl="1">
              <a:lnSpc>
                <a:spcPts val="1978"/>
              </a:lnSpc>
              <a:buFont typeface="Arial"/>
              <a:buChar char="•"/>
            </a:pPr>
            <a:r>
              <a:rPr lang="en-US" sz="2673" i="true">
                <a:solidFill>
                  <a:srgbClr val="1E1D1C"/>
                </a:solidFill>
                <a:latin typeface="Tex Gyre Termes Italics"/>
                <a:ea typeface="Tex Gyre Termes Italics"/>
                <a:cs typeface="Tex Gyre Termes Italics"/>
                <a:sym typeface="Tex Gyre Termes Italics"/>
              </a:rPr>
              <a:t>Comportamiento tí</a:t>
            </a:r>
            <a:r>
              <a:rPr lang="en-US" sz="2673" i="true">
                <a:solidFill>
                  <a:srgbClr val="1E1D1C"/>
                </a:solidFill>
                <a:latin typeface="Tex Gyre Termes Italics"/>
                <a:ea typeface="Tex Gyre Termes Italics"/>
                <a:cs typeface="Tex Gyre Termes Italics"/>
                <a:sym typeface="Tex Gyre Termes Italics"/>
              </a:rPr>
              <a:t>pico de una pila.</a:t>
            </a:r>
          </a:p>
          <a:p>
            <a:pPr algn="ctr">
              <a:lnSpc>
                <a:spcPts val="1978"/>
              </a:lnSpc>
            </a:pP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flipV="true">
            <a:off x="426566" y="-3456152"/>
            <a:ext cx="0" cy="20548521"/>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7892632" y="-3456152"/>
            <a:ext cx="0" cy="20548521"/>
          </a:xfrm>
          <a:prstGeom prst="line">
            <a:avLst/>
          </a:prstGeom>
          <a:ln cap="flat" w="38100">
            <a:solidFill>
              <a:srgbClr val="000000"/>
            </a:solidFill>
            <a:prstDash val="solid"/>
            <a:headEnd type="none" len="sm" w="sm"/>
            <a:tailEnd type="none" len="sm" w="sm"/>
          </a:ln>
        </p:spPr>
      </p:sp>
      <p:sp>
        <p:nvSpPr>
          <p:cNvPr name="Freeform 5" id="5"/>
          <p:cNvSpPr/>
          <p:nvPr/>
        </p:nvSpPr>
        <p:spPr>
          <a:xfrm flipH="false" flipV="false" rot="-5400000">
            <a:off x="1823910"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5400000">
            <a:off x="3914396"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5400000">
            <a:off x="807094"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5400000">
            <a:off x="2897579"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5400000">
            <a:off x="5988190"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5400000">
            <a:off x="8078676"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5400000">
            <a:off x="4971374"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5400000">
            <a:off x="7061860"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5400000">
            <a:off x="10152471"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5400000">
            <a:off x="12242956"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5400000">
            <a:off x="9135654"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5400000">
            <a:off x="11226140"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5400000">
            <a:off x="14316751"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5400000">
            <a:off x="16407237"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5400000">
            <a:off x="13299935"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false" flipV="false" rot="-5400000">
            <a:off x="15390421"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21" id="21"/>
          <p:cNvSpPr/>
          <p:nvPr/>
        </p:nvSpPr>
        <p:spPr>
          <a:xfrm flipV="true">
            <a:off x="10670255" y="1009650"/>
            <a:ext cx="0" cy="16697564"/>
          </a:xfrm>
          <a:prstGeom prst="line">
            <a:avLst/>
          </a:prstGeom>
          <a:ln cap="flat" w="38100">
            <a:solidFill>
              <a:srgbClr val="000000"/>
            </a:solidFill>
            <a:prstDash val="solid"/>
            <a:headEnd type="none" len="sm" w="sm"/>
            <a:tailEnd type="none" len="sm" w="sm"/>
          </a:ln>
        </p:spPr>
      </p:sp>
      <p:graphicFrame>
        <p:nvGraphicFramePr>
          <p:cNvPr name="Table 22" id="22"/>
          <p:cNvGraphicFramePr>
            <a:graphicFrameLocks noGrp="true"/>
          </p:cNvGraphicFramePr>
          <p:nvPr/>
        </p:nvGraphicFramePr>
        <p:xfrm>
          <a:off x="4361242" y="3192596"/>
          <a:ext cx="5070675" cy="2677087"/>
        </p:xfrm>
        <a:graphic>
          <a:graphicData uri="http://schemas.openxmlformats.org/drawingml/2006/table">
            <a:tbl>
              <a:tblPr/>
              <a:tblGrid>
                <a:gridCol w="2535337"/>
                <a:gridCol w="2535337"/>
              </a:tblGrid>
              <a:tr h="892362">
                <a:tc>
                  <a:txBody>
                    <a:bodyPr anchor="t" rtlCol="false"/>
                    <a:lstStyle/>
                    <a:p>
                      <a:pPr algn="ctr">
                        <a:lnSpc>
                          <a:spcPts val="2520"/>
                        </a:lnSpc>
                        <a:defRPr/>
                      </a:pPr>
                      <a:r>
                        <a:rPr lang="en-US" sz="1800">
                          <a:solidFill>
                            <a:srgbClr val="000000"/>
                          </a:solidFill>
                          <a:latin typeface="Tex Gyre Termes"/>
                          <a:ea typeface="Tex Gyre Termes"/>
                          <a:cs typeface="Tex Gyre Termes"/>
                          <a:sym typeface="Tex Gyre Termes"/>
                        </a:rPr>
                        <a:t>ID = 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Tex Gyre Termes"/>
                          <a:ea typeface="Tex Gyre Termes"/>
                          <a:cs typeface="Tex Gyre Termes"/>
                          <a:sym typeface="Tex Gyre Termes"/>
                        </a:rPr>
                        <a:t>50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92362">
                <a:tc>
                  <a:txBody>
                    <a:bodyPr anchor="t" rtlCol="false"/>
                    <a:lstStyle/>
                    <a:p>
                      <a:pPr algn="ctr">
                        <a:lnSpc>
                          <a:spcPts val="2520"/>
                        </a:lnSpc>
                        <a:defRPr/>
                      </a:pPr>
                      <a:r>
                        <a:rPr lang="en-US" sz="1800">
                          <a:solidFill>
                            <a:srgbClr val="000000"/>
                          </a:solidFill>
                          <a:latin typeface="Tex Gyre Termes"/>
                          <a:ea typeface="Tex Gyre Termes"/>
                          <a:cs typeface="Tex Gyre Termes"/>
                          <a:sym typeface="Tex Gyre Termes"/>
                        </a:rPr>
                        <a:t>ID = 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Tex Gyre Termes"/>
                          <a:ea typeface="Tex Gyre Termes"/>
                          <a:cs typeface="Tex Gyre Termes"/>
                          <a:sym typeface="Tex Gyre Termes"/>
                        </a:rPr>
                        <a:t>40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92362">
                <a:tc>
                  <a:txBody>
                    <a:bodyPr anchor="t" rtlCol="false"/>
                    <a:lstStyle/>
                    <a:p>
                      <a:pPr algn="ctr">
                        <a:lnSpc>
                          <a:spcPts val="2520"/>
                        </a:lnSpc>
                        <a:defRPr/>
                      </a:pPr>
                      <a:r>
                        <a:rPr lang="en-US" sz="1800">
                          <a:solidFill>
                            <a:srgbClr val="000000"/>
                          </a:solidFill>
                          <a:latin typeface="Tex Gyre Termes"/>
                          <a:ea typeface="Tex Gyre Termes"/>
                          <a:cs typeface="Tex Gyre Termes"/>
                          <a:sym typeface="Tex Gyre Termes"/>
                        </a:rPr>
                        <a:t>ID = 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Tex Gyre Termes"/>
                          <a:ea typeface="Tex Gyre Termes"/>
                          <a:cs typeface="Tex Gyre Termes"/>
                          <a:sym typeface="Tex Gyre Termes"/>
                        </a:rPr>
                        <a:t>10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23" id="23"/>
          <p:cNvSpPr txBox="true"/>
          <p:nvPr/>
        </p:nvSpPr>
        <p:spPr>
          <a:xfrm rot="0">
            <a:off x="-1083816" y="1609725"/>
            <a:ext cx="6763434" cy="703973"/>
          </a:xfrm>
          <a:prstGeom prst="rect">
            <a:avLst/>
          </a:prstGeom>
        </p:spPr>
        <p:txBody>
          <a:bodyPr anchor="t" rtlCol="false" tIns="0" lIns="0" bIns="0" rIns="0">
            <a:spAutoFit/>
          </a:bodyPr>
          <a:lstStyle/>
          <a:p>
            <a:pPr algn="ctr">
              <a:lnSpc>
                <a:spcPts val="4694"/>
              </a:lnSpc>
            </a:pPr>
            <a:r>
              <a:rPr lang="en-US" sz="6343" i="true">
                <a:solidFill>
                  <a:srgbClr val="1E1D1C"/>
                </a:solidFill>
                <a:latin typeface="Tex Gyre Termes Italics"/>
                <a:ea typeface="Tex Gyre Termes Italics"/>
                <a:cs typeface="Tex Gyre Termes Italics"/>
                <a:sym typeface="Tex Gyre Termes Italics"/>
              </a:rPr>
              <a:t>Ejemplo:</a:t>
            </a:r>
          </a:p>
        </p:txBody>
      </p:sp>
      <p:sp>
        <p:nvSpPr>
          <p:cNvPr name="TextBox 24" id="24"/>
          <p:cNvSpPr txBox="true"/>
          <p:nvPr/>
        </p:nvSpPr>
        <p:spPr>
          <a:xfrm rot="0">
            <a:off x="639703" y="2393258"/>
            <a:ext cx="9690054" cy="389763"/>
          </a:xfrm>
          <a:prstGeom prst="rect">
            <a:avLst/>
          </a:prstGeom>
        </p:spPr>
        <p:txBody>
          <a:bodyPr anchor="t" rtlCol="false" tIns="0" lIns="0" bIns="0" rIns="0">
            <a:spAutoFit/>
          </a:bodyPr>
          <a:lstStyle/>
          <a:p>
            <a:pPr algn="l">
              <a:lnSpc>
                <a:spcPts val="3191"/>
              </a:lnSpc>
              <a:spcBef>
                <a:spcPct val="0"/>
              </a:spcBef>
            </a:pPr>
            <a:r>
              <a:rPr lang="en-US" sz="2279" i="true">
                <a:solidFill>
                  <a:srgbClr val="1E1D1C"/>
                </a:solidFill>
                <a:latin typeface="Tex Gyre Termes Italics"/>
                <a:ea typeface="Tex Gyre Termes Italics"/>
                <a:cs typeface="Tex Gyre Termes Italics"/>
                <a:sym typeface="Tex Gyre Termes Italics"/>
              </a:rPr>
              <a:t>Deseamos eliminar un bloque de memoria, o en este caso “Liberar Memoria”</a:t>
            </a:r>
          </a:p>
        </p:txBody>
      </p:sp>
      <p:sp>
        <p:nvSpPr>
          <p:cNvPr name="TextBox 25" id="25"/>
          <p:cNvSpPr txBox="true"/>
          <p:nvPr/>
        </p:nvSpPr>
        <p:spPr>
          <a:xfrm rot="0">
            <a:off x="2669386" y="3468135"/>
            <a:ext cx="1690952" cy="389763"/>
          </a:xfrm>
          <a:prstGeom prst="rect">
            <a:avLst/>
          </a:prstGeom>
        </p:spPr>
        <p:txBody>
          <a:bodyPr anchor="t" rtlCol="false" tIns="0" lIns="0" bIns="0" rIns="0">
            <a:spAutoFit/>
          </a:bodyPr>
          <a:lstStyle/>
          <a:p>
            <a:pPr algn="l">
              <a:lnSpc>
                <a:spcPts val="3191"/>
              </a:lnSpc>
              <a:spcBef>
                <a:spcPct val="0"/>
              </a:spcBef>
            </a:pPr>
            <a:r>
              <a:rPr lang="en-US" sz="2279" i="true">
                <a:solidFill>
                  <a:srgbClr val="1E1D1C"/>
                </a:solidFill>
                <a:latin typeface="Tex Gyre Termes Italics"/>
                <a:ea typeface="Tex Gyre Termes Italics"/>
                <a:cs typeface="Tex Gyre Termes Italics"/>
                <a:sym typeface="Tex Gyre Termes Italics"/>
              </a:rPr>
              <a:t>Cima    ----&gt;</a:t>
            </a:r>
          </a:p>
        </p:txBody>
      </p:sp>
      <p:sp>
        <p:nvSpPr>
          <p:cNvPr name="TextBox 26" id="26"/>
          <p:cNvSpPr txBox="true"/>
          <p:nvPr/>
        </p:nvSpPr>
        <p:spPr>
          <a:xfrm rot="0">
            <a:off x="639703" y="6060183"/>
            <a:ext cx="7254428" cy="389763"/>
          </a:xfrm>
          <a:prstGeom prst="rect">
            <a:avLst/>
          </a:prstGeom>
        </p:spPr>
        <p:txBody>
          <a:bodyPr anchor="t" rtlCol="false" tIns="0" lIns="0" bIns="0" rIns="0">
            <a:spAutoFit/>
          </a:bodyPr>
          <a:lstStyle/>
          <a:p>
            <a:pPr algn="l">
              <a:lnSpc>
                <a:spcPts val="3191"/>
              </a:lnSpc>
              <a:spcBef>
                <a:spcPct val="0"/>
              </a:spcBef>
            </a:pPr>
            <a:r>
              <a:rPr lang="en-US" sz="2279" i="true">
                <a:solidFill>
                  <a:srgbClr val="1E1D1C"/>
                </a:solidFill>
                <a:latin typeface="Tex Gyre Termes Italics"/>
                <a:ea typeface="Tex Gyre Termes Italics"/>
                <a:cs typeface="Tex Gyre Termes Italics"/>
                <a:sym typeface="Tex Gyre Termes Italics"/>
              </a:rPr>
              <a:t>Se elimina el ultimo bloque de memoria registrado</a:t>
            </a:r>
          </a:p>
        </p:txBody>
      </p:sp>
      <p:sp>
        <p:nvSpPr>
          <p:cNvPr name="TextBox 27" id="27"/>
          <p:cNvSpPr txBox="true"/>
          <p:nvPr/>
        </p:nvSpPr>
        <p:spPr>
          <a:xfrm rot="0">
            <a:off x="639703" y="6411846"/>
            <a:ext cx="7254428" cy="389763"/>
          </a:xfrm>
          <a:prstGeom prst="rect">
            <a:avLst/>
          </a:prstGeom>
        </p:spPr>
        <p:txBody>
          <a:bodyPr anchor="t" rtlCol="false" tIns="0" lIns="0" bIns="0" rIns="0">
            <a:spAutoFit/>
          </a:bodyPr>
          <a:lstStyle/>
          <a:p>
            <a:pPr algn="l">
              <a:lnSpc>
                <a:spcPts val="3191"/>
              </a:lnSpc>
              <a:spcBef>
                <a:spcPct val="0"/>
              </a:spcBef>
            </a:pPr>
            <a:r>
              <a:rPr lang="en-US" sz="2279" i="true">
                <a:solidFill>
                  <a:srgbClr val="1E1D1C"/>
                </a:solidFill>
                <a:latin typeface="Tex Gyre Termes Italics"/>
                <a:ea typeface="Tex Gyre Termes Italics"/>
                <a:cs typeface="Tex Gyre Termes Italics"/>
                <a:sym typeface="Tex Gyre Termes Italics"/>
              </a:rPr>
              <a:t>Por ello se guarda la cima(El ultimo bloque) en un “temp”</a:t>
            </a:r>
          </a:p>
        </p:txBody>
      </p:sp>
      <p:graphicFrame>
        <p:nvGraphicFramePr>
          <p:cNvPr name="Table 28" id="28"/>
          <p:cNvGraphicFramePr>
            <a:graphicFrameLocks noGrp="true"/>
          </p:cNvGraphicFramePr>
          <p:nvPr/>
        </p:nvGraphicFramePr>
        <p:xfrm>
          <a:off x="5508209" y="7522035"/>
          <a:ext cx="5070675" cy="2677087"/>
        </p:xfrm>
        <a:graphic>
          <a:graphicData uri="http://schemas.openxmlformats.org/drawingml/2006/table">
            <a:tbl>
              <a:tblPr/>
              <a:tblGrid>
                <a:gridCol w="2535337"/>
                <a:gridCol w="2535337"/>
              </a:tblGrid>
              <a:tr h="892362">
                <a:tc>
                  <a:txBody>
                    <a:bodyPr anchor="t" rtlCol="false"/>
                    <a:lstStyle/>
                    <a:p>
                      <a:pPr algn="ctr">
                        <a:lnSpc>
                          <a:spcPts val="2520"/>
                        </a:lnSpc>
                        <a:defRPr/>
                      </a:pPr>
                      <a:r>
                        <a:rPr lang="en-US" sz="1800">
                          <a:solidFill>
                            <a:srgbClr val="000000"/>
                          </a:solidFill>
                          <a:latin typeface="Tex Gyre Termes"/>
                          <a:ea typeface="Tex Gyre Termes"/>
                          <a:cs typeface="Tex Gyre Termes"/>
                          <a:sym typeface="Tex Gyre Termes"/>
                        </a:rPr>
                        <a:t>ID = 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Tex Gyre Termes"/>
                          <a:ea typeface="Tex Gyre Termes"/>
                          <a:cs typeface="Tex Gyre Termes"/>
                          <a:sym typeface="Tex Gyre Termes"/>
                        </a:rPr>
                        <a:t>40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92362">
                <a:tc>
                  <a:txBody>
                    <a:bodyPr anchor="t" rtlCol="false"/>
                    <a:lstStyle/>
                    <a:p>
                      <a:pPr algn="ctr">
                        <a:lnSpc>
                          <a:spcPts val="2520"/>
                        </a:lnSpc>
                        <a:defRPr/>
                      </a:pPr>
                      <a:r>
                        <a:rPr lang="en-US" sz="1800">
                          <a:solidFill>
                            <a:srgbClr val="000000"/>
                          </a:solidFill>
                          <a:latin typeface="Tex Gyre Termes"/>
                          <a:ea typeface="Tex Gyre Termes"/>
                          <a:cs typeface="Tex Gyre Termes"/>
                          <a:sym typeface="Tex Gyre Termes"/>
                        </a:rPr>
                        <a:t>ID = 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Tex Gyre Termes"/>
                          <a:ea typeface="Tex Gyre Termes"/>
                          <a:cs typeface="Tex Gyre Termes"/>
                          <a:sym typeface="Tex Gyre Termes"/>
                        </a:rPr>
                        <a:t>10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92362">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29" id="29"/>
          <p:cNvSpPr txBox="true"/>
          <p:nvPr/>
        </p:nvSpPr>
        <p:spPr>
          <a:xfrm rot="0">
            <a:off x="978434" y="6947510"/>
            <a:ext cx="1690952" cy="389763"/>
          </a:xfrm>
          <a:prstGeom prst="rect">
            <a:avLst/>
          </a:prstGeom>
        </p:spPr>
        <p:txBody>
          <a:bodyPr anchor="t" rtlCol="false" tIns="0" lIns="0" bIns="0" rIns="0">
            <a:spAutoFit/>
          </a:bodyPr>
          <a:lstStyle/>
          <a:p>
            <a:pPr algn="l">
              <a:lnSpc>
                <a:spcPts val="3191"/>
              </a:lnSpc>
              <a:spcBef>
                <a:spcPct val="0"/>
              </a:spcBef>
            </a:pPr>
            <a:r>
              <a:rPr lang="en-US" sz="2279" i="true">
                <a:solidFill>
                  <a:srgbClr val="1E1D1C"/>
                </a:solidFill>
                <a:latin typeface="Tex Gyre Termes Italics"/>
                <a:ea typeface="Tex Gyre Termes Italics"/>
                <a:cs typeface="Tex Gyre Termes Italics"/>
                <a:sym typeface="Tex Gyre Termes Italics"/>
              </a:rPr>
              <a:t>Temp</a:t>
            </a:r>
          </a:p>
        </p:txBody>
      </p:sp>
      <p:sp>
        <p:nvSpPr>
          <p:cNvPr name="TextBox 30" id="30"/>
          <p:cNvSpPr txBox="true"/>
          <p:nvPr/>
        </p:nvSpPr>
        <p:spPr>
          <a:xfrm rot="0">
            <a:off x="5775087" y="6947510"/>
            <a:ext cx="1690952" cy="389763"/>
          </a:xfrm>
          <a:prstGeom prst="rect">
            <a:avLst/>
          </a:prstGeom>
        </p:spPr>
        <p:txBody>
          <a:bodyPr anchor="t" rtlCol="false" tIns="0" lIns="0" bIns="0" rIns="0">
            <a:spAutoFit/>
          </a:bodyPr>
          <a:lstStyle/>
          <a:p>
            <a:pPr algn="l">
              <a:lnSpc>
                <a:spcPts val="3191"/>
              </a:lnSpc>
              <a:spcBef>
                <a:spcPct val="0"/>
              </a:spcBef>
            </a:pPr>
            <a:r>
              <a:rPr lang="en-US" sz="2279" i="true">
                <a:solidFill>
                  <a:srgbClr val="1E1D1C"/>
                </a:solidFill>
                <a:latin typeface="Tex Gyre Termes Italics"/>
                <a:ea typeface="Tex Gyre Termes Italics"/>
                <a:cs typeface="Tex Gyre Termes Italics"/>
                <a:sym typeface="Tex Gyre Termes Italics"/>
              </a:rPr>
              <a:t>Original</a:t>
            </a:r>
          </a:p>
        </p:txBody>
      </p:sp>
      <p:graphicFrame>
        <p:nvGraphicFramePr>
          <p:cNvPr name="Table 31" id="31"/>
          <p:cNvGraphicFramePr>
            <a:graphicFrameLocks noGrp="true"/>
          </p:cNvGraphicFramePr>
          <p:nvPr/>
        </p:nvGraphicFramePr>
        <p:xfrm>
          <a:off x="574562" y="7961866"/>
          <a:ext cx="4804700" cy="1797425"/>
        </p:xfrm>
        <a:graphic>
          <a:graphicData uri="http://schemas.openxmlformats.org/drawingml/2006/table">
            <a:tbl>
              <a:tblPr/>
              <a:tblGrid>
                <a:gridCol w="2536400"/>
                <a:gridCol w="2268300"/>
              </a:tblGrid>
              <a:tr h="898712">
                <a:tc>
                  <a:txBody>
                    <a:bodyPr anchor="t" rtlCol="false"/>
                    <a:lstStyle/>
                    <a:p>
                      <a:pPr algn="ctr">
                        <a:lnSpc>
                          <a:spcPts val="2520"/>
                        </a:lnSpc>
                        <a:defRPr/>
                      </a:pPr>
                      <a:r>
                        <a:rPr lang="en-US" sz="1800">
                          <a:solidFill>
                            <a:srgbClr val="000000"/>
                          </a:solidFill>
                          <a:latin typeface="Tex Gyre Termes"/>
                          <a:ea typeface="Tex Gyre Termes"/>
                          <a:cs typeface="Tex Gyre Termes"/>
                          <a:sym typeface="Tex Gyre Termes"/>
                        </a:rPr>
                        <a:t>ID = 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Tex Gyre Termes"/>
                          <a:ea typeface="Tex Gyre Termes"/>
                          <a:cs typeface="Tex Gyre Termes"/>
                          <a:sym typeface="Tex Gyre Termes"/>
                        </a:rPr>
                        <a:t>50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98712">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32" id="32"/>
          <p:cNvSpPr txBox="true"/>
          <p:nvPr/>
        </p:nvSpPr>
        <p:spPr>
          <a:xfrm rot="0">
            <a:off x="10912812" y="1119568"/>
            <a:ext cx="6568094" cy="799338"/>
          </a:xfrm>
          <a:prstGeom prst="rect">
            <a:avLst/>
          </a:prstGeom>
        </p:spPr>
        <p:txBody>
          <a:bodyPr anchor="t" rtlCol="false" tIns="0" lIns="0" bIns="0" rIns="0">
            <a:spAutoFit/>
          </a:bodyPr>
          <a:lstStyle/>
          <a:p>
            <a:pPr algn="l">
              <a:lnSpc>
                <a:spcPts val="3191"/>
              </a:lnSpc>
              <a:spcBef>
                <a:spcPct val="0"/>
              </a:spcBef>
            </a:pPr>
            <a:r>
              <a:rPr lang="en-US" sz="2279" i="true">
                <a:solidFill>
                  <a:srgbClr val="1E1D1C"/>
                </a:solidFill>
                <a:latin typeface="Tex Gyre Termes Italics"/>
                <a:ea typeface="Tex Gyre Termes Italics"/>
                <a:cs typeface="Tex Gyre Termes Italics"/>
                <a:sym typeface="Tex Gyre Termes Italics"/>
              </a:rPr>
              <a:t>Se elimina el bloque que esta en el “temp” y quedan los bloques que están en el original</a:t>
            </a:r>
          </a:p>
        </p:txBody>
      </p:sp>
      <p:graphicFrame>
        <p:nvGraphicFramePr>
          <p:cNvPr name="Table 33" id="33"/>
          <p:cNvGraphicFramePr>
            <a:graphicFrameLocks noGrp="true"/>
          </p:cNvGraphicFramePr>
          <p:nvPr/>
        </p:nvGraphicFramePr>
        <p:xfrm>
          <a:off x="12649798" y="2071307"/>
          <a:ext cx="5070675" cy="2677087"/>
        </p:xfrm>
        <a:graphic>
          <a:graphicData uri="http://schemas.openxmlformats.org/drawingml/2006/table">
            <a:tbl>
              <a:tblPr/>
              <a:tblGrid>
                <a:gridCol w="2535337"/>
                <a:gridCol w="2535337"/>
              </a:tblGrid>
              <a:tr h="892362">
                <a:tc>
                  <a:txBody>
                    <a:bodyPr anchor="t" rtlCol="false"/>
                    <a:lstStyle/>
                    <a:p>
                      <a:pPr algn="ctr">
                        <a:lnSpc>
                          <a:spcPts val="2520"/>
                        </a:lnSpc>
                        <a:defRPr/>
                      </a:pPr>
                      <a:r>
                        <a:rPr lang="en-US" sz="1800">
                          <a:solidFill>
                            <a:srgbClr val="000000"/>
                          </a:solidFill>
                          <a:latin typeface="Tex Gyre Termes"/>
                          <a:ea typeface="Tex Gyre Termes"/>
                          <a:cs typeface="Tex Gyre Termes"/>
                          <a:sym typeface="Tex Gyre Termes"/>
                        </a:rPr>
                        <a:t>ID = 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Tex Gyre Termes"/>
                          <a:ea typeface="Tex Gyre Termes"/>
                          <a:cs typeface="Tex Gyre Termes"/>
                          <a:sym typeface="Tex Gyre Termes"/>
                        </a:rPr>
                        <a:t>40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92362">
                <a:tc>
                  <a:txBody>
                    <a:bodyPr anchor="t" rtlCol="false"/>
                    <a:lstStyle/>
                    <a:p>
                      <a:pPr algn="ctr">
                        <a:lnSpc>
                          <a:spcPts val="2520"/>
                        </a:lnSpc>
                        <a:defRPr/>
                      </a:pPr>
                      <a:r>
                        <a:rPr lang="en-US" sz="1800">
                          <a:solidFill>
                            <a:srgbClr val="000000"/>
                          </a:solidFill>
                          <a:latin typeface="Tex Gyre Termes"/>
                          <a:ea typeface="Tex Gyre Termes"/>
                          <a:cs typeface="Tex Gyre Termes"/>
                          <a:sym typeface="Tex Gyre Termes"/>
                        </a:rPr>
                        <a:t>ID = 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Tex Gyre Termes"/>
                          <a:ea typeface="Tex Gyre Termes"/>
                          <a:cs typeface="Tex Gyre Termes"/>
                          <a:sym typeface="Tex Gyre Termes"/>
                        </a:rPr>
                        <a:t>10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92362">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34" id="34"/>
          <p:cNvSpPr txBox="true"/>
          <p:nvPr/>
        </p:nvSpPr>
        <p:spPr>
          <a:xfrm rot="0">
            <a:off x="10917499" y="2275598"/>
            <a:ext cx="1690952" cy="389763"/>
          </a:xfrm>
          <a:prstGeom prst="rect">
            <a:avLst/>
          </a:prstGeom>
        </p:spPr>
        <p:txBody>
          <a:bodyPr anchor="t" rtlCol="false" tIns="0" lIns="0" bIns="0" rIns="0">
            <a:spAutoFit/>
          </a:bodyPr>
          <a:lstStyle/>
          <a:p>
            <a:pPr algn="l">
              <a:lnSpc>
                <a:spcPts val="3191"/>
              </a:lnSpc>
              <a:spcBef>
                <a:spcPct val="0"/>
              </a:spcBef>
            </a:pPr>
            <a:r>
              <a:rPr lang="en-US" sz="2279" i="true">
                <a:solidFill>
                  <a:srgbClr val="1E1D1C"/>
                </a:solidFill>
                <a:latin typeface="Tex Gyre Termes Italics"/>
                <a:ea typeface="Tex Gyre Termes Italics"/>
                <a:cs typeface="Tex Gyre Termes Italics"/>
                <a:sym typeface="Tex Gyre Termes Italics"/>
              </a:rPr>
              <a:t>Cima    ----&gt;</a:t>
            </a:r>
          </a:p>
        </p:txBody>
      </p:sp>
      <p:sp>
        <p:nvSpPr>
          <p:cNvPr name="TextBox 35" id="35"/>
          <p:cNvSpPr txBox="true"/>
          <p:nvPr/>
        </p:nvSpPr>
        <p:spPr>
          <a:xfrm rot="0">
            <a:off x="10858021" y="4929568"/>
            <a:ext cx="7031167" cy="389763"/>
          </a:xfrm>
          <a:prstGeom prst="rect">
            <a:avLst/>
          </a:prstGeom>
        </p:spPr>
        <p:txBody>
          <a:bodyPr anchor="t" rtlCol="false" tIns="0" lIns="0" bIns="0" rIns="0">
            <a:spAutoFit/>
          </a:bodyPr>
          <a:lstStyle/>
          <a:p>
            <a:pPr algn="l">
              <a:lnSpc>
                <a:spcPts val="3191"/>
              </a:lnSpc>
              <a:spcBef>
                <a:spcPct val="0"/>
              </a:spcBef>
            </a:pPr>
            <a:r>
              <a:rPr lang="en-US" sz="2279" i="true">
                <a:solidFill>
                  <a:srgbClr val="1E1D1C"/>
                </a:solidFill>
                <a:latin typeface="Tex Gyre Termes Italics"/>
                <a:ea typeface="Tex Gyre Termes Italics"/>
                <a:cs typeface="Tex Gyre Termes Italics"/>
                <a:sym typeface="Tex Gyre Termes Italics"/>
              </a:rPr>
              <a:t>Convirtiéndose</a:t>
            </a:r>
            <a:r>
              <a:rPr lang="en-US" sz="2279" i="true">
                <a:solidFill>
                  <a:srgbClr val="1E1D1C"/>
                </a:solidFill>
                <a:latin typeface="Tex Gyre Termes Italics"/>
                <a:ea typeface="Tex Gyre Termes Italics"/>
                <a:cs typeface="Tex Gyre Termes Italics"/>
                <a:sym typeface="Tex Gyre Termes Italics"/>
              </a:rPr>
              <a:t> </a:t>
            </a:r>
            <a:r>
              <a:rPr lang="en-US" sz="2279" i="true">
                <a:solidFill>
                  <a:srgbClr val="1E1D1C"/>
                </a:solidFill>
                <a:latin typeface="Tex Gyre Termes Italics"/>
                <a:ea typeface="Tex Gyre Termes Italics"/>
                <a:cs typeface="Tex Gyre Termes Italics"/>
                <a:sym typeface="Tex Gyre Termes Italics"/>
              </a:rPr>
              <a:t>el ID = 2 en la cima</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flipV="true">
            <a:off x="426566" y="-3456152"/>
            <a:ext cx="0" cy="20548521"/>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7892632" y="-3456152"/>
            <a:ext cx="0" cy="20548521"/>
          </a:xfrm>
          <a:prstGeom prst="line">
            <a:avLst/>
          </a:prstGeom>
          <a:ln cap="flat" w="38100">
            <a:solidFill>
              <a:srgbClr val="000000"/>
            </a:solidFill>
            <a:prstDash val="solid"/>
            <a:headEnd type="none" len="sm" w="sm"/>
            <a:tailEnd type="none" len="sm" w="sm"/>
          </a:ln>
        </p:spPr>
      </p:sp>
      <p:sp>
        <p:nvSpPr>
          <p:cNvPr name="Freeform 5" id="5"/>
          <p:cNvSpPr/>
          <p:nvPr/>
        </p:nvSpPr>
        <p:spPr>
          <a:xfrm flipH="false" flipV="false" rot="-5400000">
            <a:off x="1823910"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5400000">
            <a:off x="3914396"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5400000">
            <a:off x="807094"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5400000">
            <a:off x="2897579"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5400000">
            <a:off x="5988190"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5400000">
            <a:off x="8078676"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5400000">
            <a:off x="4971374"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5400000">
            <a:off x="7061860"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5400000">
            <a:off x="10152471"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5400000">
            <a:off x="12242956"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5400000">
            <a:off x="9135654"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5400000">
            <a:off x="11226140"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5400000">
            <a:off x="14316751"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5400000">
            <a:off x="16407237"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5400000">
            <a:off x="13299935"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false" flipV="false" rot="-5400000">
            <a:off x="15390421"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21" id="21"/>
          <p:cNvSpPr/>
          <p:nvPr/>
        </p:nvSpPr>
        <p:spPr>
          <a:xfrm flipV="true">
            <a:off x="9431752" y="1028700"/>
            <a:ext cx="0" cy="16697564"/>
          </a:xfrm>
          <a:prstGeom prst="line">
            <a:avLst/>
          </a:prstGeom>
          <a:ln cap="flat" w="38100">
            <a:solidFill>
              <a:srgbClr val="000000"/>
            </a:solidFill>
            <a:prstDash val="solid"/>
            <a:headEnd type="none" len="sm" w="sm"/>
            <a:tailEnd type="none" len="sm" w="sm"/>
          </a:ln>
        </p:spPr>
      </p:sp>
      <p:sp>
        <p:nvSpPr>
          <p:cNvPr name="Freeform 22" id="22"/>
          <p:cNvSpPr/>
          <p:nvPr/>
        </p:nvSpPr>
        <p:spPr>
          <a:xfrm flipH="false" flipV="false" rot="0">
            <a:off x="895962" y="4054959"/>
            <a:ext cx="8066394" cy="3201284"/>
          </a:xfrm>
          <a:custGeom>
            <a:avLst/>
            <a:gdLst/>
            <a:ahLst/>
            <a:cxnLst/>
            <a:rect r="r" b="b" t="t" l="l"/>
            <a:pathLst>
              <a:path h="3201284" w="8066394">
                <a:moveTo>
                  <a:pt x="0" y="0"/>
                </a:moveTo>
                <a:lnTo>
                  <a:pt x="8066394" y="0"/>
                </a:lnTo>
                <a:lnTo>
                  <a:pt x="8066394" y="3201284"/>
                </a:lnTo>
                <a:lnTo>
                  <a:pt x="0" y="3201284"/>
                </a:lnTo>
                <a:lnTo>
                  <a:pt x="0" y="0"/>
                </a:lnTo>
                <a:close/>
              </a:path>
            </a:pathLst>
          </a:custGeom>
          <a:blipFill>
            <a:blip r:embed="rId6"/>
            <a:stretch>
              <a:fillRect l="0" t="0" r="0" b="0"/>
            </a:stretch>
          </a:blipFill>
        </p:spPr>
      </p:sp>
      <p:sp>
        <p:nvSpPr>
          <p:cNvPr name="TextBox 23" id="23"/>
          <p:cNvSpPr txBox="true"/>
          <p:nvPr/>
        </p:nvSpPr>
        <p:spPr>
          <a:xfrm rot="0">
            <a:off x="7844423" y="1183428"/>
            <a:ext cx="6763434" cy="703973"/>
          </a:xfrm>
          <a:prstGeom prst="rect">
            <a:avLst/>
          </a:prstGeom>
        </p:spPr>
        <p:txBody>
          <a:bodyPr anchor="t" rtlCol="false" tIns="0" lIns="0" bIns="0" rIns="0">
            <a:spAutoFit/>
          </a:bodyPr>
          <a:lstStyle/>
          <a:p>
            <a:pPr algn="ctr">
              <a:lnSpc>
                <a:spcPts val="4694"/>
              </a:lnSpc>
            </a:pPr>
            <a:r>
              <a:rPr lang="en-US" sz="6343" i="true">
                <a:solidFill>
                  <a:srgbClr val="1E1D1C"/>
                </a:solidFill>
                <a:latin typeface="Tex Gyre Termes Italics"/>
                <a:ea typeface="Tex Gyre Termes Italics"/>
                <a:cs typeface="Tex Gyre Termes Italics"/>
                <a:sym typeface="Tex Gyre Termes Italics"/>
              </a:rPr>
              <a:t>Ejemplo:</a:t>
            </a:r>
          </a:p>
        </p:txBody>
      </p:sp>
      <p:sp>
        <p:nvSpPr>
          <p:cNvPr name="TextBox 24" id="24"/>
          <p:cNvSpPr txBox="true"/>
          <p:nvPr/>
        </p:nvSpPr>
        <p:spPr>
          <a:xfrm rot="0">
            <a:off x="11560367" y="1849301"/>
            <a:ext cx="4203650" cy="389822"/>
          </a:xfrm>
          <a:prstGeom prst="rect">
            <a:avLst/>
          </a:prstGeom>
        </p:spPr>
        <p:txBody>
          <a:bodyPr anchor="t" rtlCol="false" tIns="0" lIns="0" bIns="0" rIns="0">
            <a:spAutoFit/>
          </a:bodyPr>
          <a:lstStyle/>
          <a:p>
            <a:pPr algn="ctr">
              <a:lnSpc>
                <a:spcPts val="3188"/>
              </a:lnSpc>
              <a:spcBef>
                <a:spcPct val="0"/>
              </a:spcBef>
            </a:pPr>
            <a:r>
              <a:rPr lang="en-US" sz="2277" i="true">
                <a:solidFill>
                  <a:srgbClr val="1E1D1C"/>
                </a:solidFill>
                <a:latin typeface="Tex Gyre Termes Italics"/>
                <a:ea typeface="Tex Gyre Termes Italics"/>
                <a:cs typeface="Tex Gyre Termes Italics"/>
                <a:sym typeface="Tex Gyre Termes Italics"/>
              </a:rPr>
              <a:t>Bloque 1: ID = 1 - Tamaño = 10MB</a:t>
            </a:r>
          </a:p>
        </p:txBody>
      </p:sp>
      <p:sp>
        <p:nvSpPr>
          <p:cNvPr name="TextBox 25" id="25"/>
          <p:cNvSpPr txBox="true"/>
          <p:nvPr/>
        </p:nvSpPr>
        <p:spPr>
          <a:xfrm rot="0">
            <a:off x="11560367" y="2315323"/>
            <a:ext cx="4203650" cy="389822"/>
          </a:xfrm>
          <a:prstGeom prst="rect">
            <a:avLst/>
          </a:prstGeom>
        </p:spPr>
        <p:txBody>
          <a:bodyPr anchor="t" rtlCol="false" tIns="0" lIns="0" bIns="0" rIns="0">
            <a:spAutoFit/>
          </a:bodyPr>
          <a:lstStyle/>
          <a:p>
            <a:pPr algn="ctr">
              <a:lnSpc>
                <a:spcPts val="3188"/>
              </a:lnSpc>
              <a:spcBef>
                <a:spcPct val="0"/>
              </a:spcBef>
            </a:pPr>
            <a:r>
              <a:rPr lang="en-US" sz="2277" i="true">
                <a:solidFill>
                  <a:srgbClr val="1E1D1C"/>
                </a:solidFill>
                <a:latin typeface="Tex Gyre Termes Italics"/>
                <a:ea typeface="Tex Gyre Termes Italics"/>
                <a:cs typeface="Tex Gyre Termes Italics"/>
                <a:sym typeface="Tex Gyre Termes Italics"/>
              </a:rPr>
              <a:t>Bloque 2: ID = 2 - Tamaño = 40MB</a:t>
            </a:r>
          </a:p>
        </p:txBody>
      </p:sp>
      <p:sp>
        <p:nvSpPr>
          <p:cNvPr name="TextBox 26" id="26"/>
          <p:cNvSpPr txBox="true"/>
          <p:nvPr/>
        </p:nvSpPr>
        <p:spPr>
          <a:xfrm rot="0">
            <a:off x="11560367" y="2781345"/>
            <a:ext cx="4203650" cy="389822"/>
          </a:xfrm>
          <a:prstGeom prst="rect">
            <a:avLst/>
          </a:prstGeom>
        </p:spPr>
        <p:txBody>
          <a:bodyPr anchor="t" rtlCol="false" tIns="0" lIns="0" bIns="0" rIns="0">
            <a:spAutoFit/>
          </a:bodyPr>
          <a:lstStyle/>
          <a:p>
            <a:pPr algn="ctr">
              <a:lnSpc>
                <a:spcPts val="3188"/>
              </a:lnSpc>
              <a:spcBef>
                <a:spcPct val="0"/>
              </a:spcBef>
            </a:pPr>
            <a:r>
              <a:rPr lang="en-US" sz="2277" i="true">
                <a:solidFill>
                  <a:srgbClr val="1E1D1C"/>
                </a:solidFill>
                <a:latin typeface="Tex Gyre Termes Italics"/>
                <a:ea typeface="Tex Gyre Termes Italics"/>
                <a:cs typeface="Tex Gyre Termes Italics"/>
                <a:sym typeface="Tex Gyre Termes Italics"/>
              </a:rPr>
              <a:t>Bloque 3: ID = 3 - Tamaño = 50MB</a:t>
            </a:r>
          </a:p>
        </p:txBody>
      </p:sp>
      <p:sp>
        <p:nvSpPr>
          <p:cNvPr name="TextBox 27" id="27"/>
          <p:cNvSpPr txBox="true"/>
          <p:nvPr/>
        </p:nvSpPr>
        <p:spPr>
          <a:xfrm rot="0">
            <a:off x="635769" y="7968094"/>
            <a:ext cx="8557174" cy="799338"/>
          </a:xfrm>
          <a:prstGeom prst="rect">
            <a:avLst/>
          </a:prstGeom>
        </p:spPr>
        <p:txBody>
          <a:bodyPr anchor="t" rtlCol="false" tIns="0" lIns="0" bIns="0" rIns="0">
            <a:spAutoFit/>
          </a:bodyPr>
          <a:lstStyle/>
          <a:p>
            <a:pPr algn="l">
              <a:lnSpc>
                <a:spcPts val="3191"/>
              </a:lnSpc>
              <a:spcBef>
                <a:spcPct val="0"/>
              </a:spcBef>
            </a:pPr>
            <a:r>
              <a:rPr lang="en-US" sz="2279" i="true">
                <a:solidFill>
                  <a:srgbClr val="1E1D1C"/>
                </a:solidFill>
                <a:latin typeface="Tex Gyre Termes Italics"/>
                <a:ea typeface="Tex Gyre Termes Italics"/>
                <a:cs typeface="Tex Gyre Termes Italics"/>
                <a:sym typeface="Tex Gyre Termes Italics"/>
              </a:rPr>
              <a:t>Si no hay ningún bloque de memoria registrado, mostrara un mensaje de error</a:t>
            </a:r>
          </a:p>
        </p:txBody>
      </p:sp>
      <p:sp>
        <p:nvSpPr>
          <p:cNvPr name="TextBox 28" id="28"/>
          <p:cNvSpPr txBox="true"/>
          <p:nvPr/>
        </p:nvSpPr>
        <p:spPr>
          <a:xfrm rot="0">
            <a:off x="9040409" y="3349995"/>
            <a:ext cx="5039916" cy="389763"/>
          </a:xfrm>
          <a:prstGeom prst="rect">
            <a:avLst/>
          </a:prstGeom>
        </p:spPr>
        <p:txBody>
          <a:bodyPr anchor="t" rtlCol="false" tIns="0" lIns="0" bIns="0" rIns="0">
            <a:spAutoFit/>
          </a:bodyPr>
          <a:lstStyle/>
          <a:p>
            <a:pPr algn="ctr">
              <a:lnSpc>
                <a:spcPts val="3191"/>
              </a:lnSpc>
              <a:spcBef>
                <a:spcPct val="0"/>
              </a:spcBef>
            </a:pPr>
            <a:r>
              <a:rPr lang="en-US" sz="2279" i="true">
                <a:solidFill>
                  <a:srgbClr val="1E1D1C"/>
                </a:solidFill>
                <a:latin typeface="Tex Gyre Termes Italics"/>
                <a:ea typeface="Tex Gyre Termes Italics"/>
                <a:cs typeface="Tex Gyre Termes Italics"/>
                <a:sym typeface="Tex Gyre Termes Italics"/>
              </a:rPr>
              <a:t>Mostrara los siguientes datos:</a:t>
            </a:r>
          </a:p>
        </p:txBody>
      </p:sp>
      <p:sp>
        <p:nvSpPr>
          <p:cNvPr name="TextBox 29" id="29"/>
          <p:cNvSpPr txBox="true"/>
          <p:nvPr/>
        </p:nvSpPr>
        <p:spPr>
          <a:xfrm rot="0">
            <a:off x="8962356" y="3920733"/>
            <a:ext cx="9069802" cy="389763"/>
          </a:xfrm>
          <a:prstGeom prst="rect">
            <a:avLst/>
          </a:prstGeom>
        </p:spPr>
        <p:txBody>
          <a:bodyPr anchor="t" rtlCol="false" tIns="0" lIns="0" bIns="0" rIns="0">
            <a:spAutoFit/>
          </a:bodyPr>
          <a:lstStyle/>
          <a:p>
            <a:pPr algn="ctr">
              <a:lnSpc>
                <a:spcPts val="3191"/>
              </a:lnSpc>
              <a:spcBef>
                <a:spcPct val="0"/>
              </a:spcBef>
            </a:pPr>
            <a:r>
              <a:rPr lang="en-US" sz="2279" i="true">
                <a:solidFill>
                  <a:srgbClr val="1E1D1C"/>
                </a:solidFill>
                <a:latin typeface="Tex Gyre Termes Italics"/>
                <a:ea typeface="Tex Gyre Termes Italics"/>
                <a:cs typeface="Tex Gyre Termes Italics"/>
                <a:sym typeface="Tex Gyre Termes Italics"/>
              </a:rPr>
              <a:t>Proceso ID: 3, Tamaño: 50MB</a:t>
            </a:r>
          </a:p>
        </p:txBody>
      </p:sp>
      <p:sp>
        <p:nvSpPr>
          <p:cNvPr name="TextBox 30" id="30"/>
          <p:cNvSpPr txBox="true"/>
          <p:nvPr/>
        </p:nvSpPr>
        <p:spPr>
          <a:xfrm rot="0">
            <a:off x="1250665" y="1323975"/>
            <a:ext cx="6763434" cy="1923173"/>
          </a:xfrm>
          <a:prstGeom prst="rect">
            <a:avLst/>
          </a:prstGeom>
        </p:spPr>
        <p:txBody>
          <a:bodyPr anchor="t" rtlCol="false" tIns="0" lIns="0" bIns="0" rIns="0">
            <a:spAutoFit/>
          </a:bodyPr>
          <a:lstStyle/>
          <a:p>
            <a:pPr algn="ctr">
              <a:lnSpc>
                <a:spcPts val="4694"/>
              </a:lnSpc>
            </a:pPr>
            <a:r>
              <a:rPr lang="en-US" sz="6343" i="true">
                <a:solidFill>
                  <a:srgbClr val="1E1D1C"/>
                </a:solidFill>
                <a:latin typeface="Tex Gyre Termes Italics"/>
                <a:ea typeface="Tex Gyre Termes Italics"/>
                <a:cs typeface="Tex Gyre Termes Italics"/>
                <a:sym typeface="Tex Gyre Termes Italics"/>
              </a:rPr>
              <a:t>Función para ver el estado de la Memoria</a:t>
            </a:r>
          </a:p>
        </p:txBody>
      </p:sp>
      <p:sp>
        <p:nvSpPr>
          <p:cNvPr name="TextBox 31" id="31"/>
          <p:cNvSpPr txBox="true"/>
          <p:nvPr/>
        </p:nvSpPr>
        <p:spPr>
          <a:xfrm rot="0">
            <a:off x="1157300" y="3361448"/>
            <a:ext cx="7364827" cy="519258"/>
          </a:xfrm>
          <a:prstGeom prst="rect">
            <a:avLst/>
          </a:prstGeom>
        </p:spPr>
        <p:txBody>
          <a:bodyPr anchor="t" rtlCol="false" tIns="0" lIns="0" bIns="0" rIns="0">
            <a:spAutoFit/>
          </a:bodyPr>
          <a:lstStyle/>
          <a:p>
            <a:pPr algn="ctr">
              <a:lnSpc>
                <a:spcPts val="1978"/>
              </a:lnSpc>
            </a:pPr>
            <a:r>
              <a:rPr lang="en-US" sz="2673" i="true">
                <a:solidFill>
                  <a:srgbClr val="1E1D1C"/>
                </a:solidFill>
                <a:latin typeface="Tex Gyre Termes Italics"/>
                <a:ea typeface="Tex Gyre Termes Italics"/>
                <a:cs typeface="Tex Gyre Termes Italics"/>
                <a:sym typeface="Tex Gyre Termes Italics"/>
              </a:rPr>
              <a:t>Muestra todos los procesos asignados, desde la cima hast</a:t>
            </a:r>
            <a:r>
              <a:rPr lang="en-US" sz="2673" i="true">
                <a:solidFill>
                  <a:srgbClr val="1E1D1C"/>
                </a:solidFill>
                <a:latin typeface="Tex Gyre Termes Italics"/>
                <a:ea typeface="Tex Gyre Termes Italics"/>
                <a:cs typeface="Tex Gyre Termes Italics"/>
                <a:sym typeface="Tex Gyre Termes Italics"/>
              </a:rPr>
              <a:t>a el fo</a:t>
            </a:r>
            <a:r>
              <a:rPr lang="en-US" sz="2673" i="true">
                <a:solidFill>
                  <a:srgbClr val="1E1D1C"/>
                </a:solidFill>
                <a:latin typeface="Tex Gyre Termes Italics"/>
                <a:ea typeface="Tex Gyre Termes Italics"/>
                <a:cs typeface="Tex Gyre Termes Italics"/>
                <a:sym typeface="Tex Gyre Termes Italics"/>
              </a:rPr>
              <a:t>ndo.</a:t>
            </a:r>
          </a:p>
        </p:txBody>
      </p:sp>
      <p:sp>
        <p:nvSpPr>
          <p:cNvPr name="TextBox 32" id="32"/>
          <p:cNvSpPr txBox="true"/>
          <p:nvPr/>
        </p:nvSpPr>
        <p:spPr>
          <a:xfrm rot="0">
            <a:off x="635769" y="7580093"/>
            <a:ext cx="2376281" cy="388001"/>
          </a:xfrm>
          <a:prstGeom prst="rect">
            <a:avLst/>
          </a:prstGeom>
        </p:spPr>
        <p:txBody>
          <a:bodyPr anchor="t" rtlCol="false" tIns="0" lIns="0" bIns="0" rIns="0">
            <a:spAutoFit/>
          </a:bodyPr>
          <a:lstStyle/>
          <a:p>
            <a:pPr algn="ctr">
              <a:lnSpc>
                <a:spcPts val="2622"/>
              </a:lnSpc>
            </a:pPr>
            <a:r>
              <a:rPr lang="en-US" sz="3543" i="true">
                <a:solidFill>
                  <a:srgbClr val="1E1D1C"/>
                </a:solidFill>
                <a:latin typeface="Tex Gyre Termes Italics"/>
                <a:ea typeface="Tex Gyre Termes Italics"/>
                <a:cs typeface="Tex Gyre Termes Italics"/>
                <a:sym typeface="Tex Gyre Termes Italics"/>
              </a:rPr>
              <a:t>¡ALERTA!:</a:t>
            </a:r>
          </a:p>
        </p:txBody>
      </p:sp>
      <p:sp>
        <p:nvSpPr>
          <p:cNvPr name="TextBox 33" id="33"/>
          <p:cNvSpPr txBox="true"/>
          <p:nvPr/>
        </p:nvSpPr>
        <p:spPr>
          <a:xfrm rot="0">
            <a:off x="8962356" y="4330308"/>
            <a:ext cx="9069802" cy="389763"/>
          </a:xfrm>
          <a:prstGeom prst="rect">
            <a:avLst/>
          </a:prstGeom>
        </p:spPr>
        <p:txBody>
          <a:bodyPr anchor="t" rtlCol="false" tIns="0" lIns="0" bIns="0" rIns="0">
            <a:spAutoFit/>
          </a:bodyPr>
          <a:lstStyle/>
          <a:p>
            <a:pPr algn="ctr">
              <a:lnSpc>
                <a:spcPts val="3191"/>
              </a:lnSpc>
              <a:spcBef>
                <a:spcPct val="0"/>
              </a:spcBef>
            </a:pPr>
            <a:r>
              <a:rPr lang="en-US" sz="2279" i="true">
                <a:solidFill>
                  <a:srgbClr val="1E1D1C"/>
                </a:solidFill>
                <a:latin typeface="Tex Gyre Termes Italics"/>
                <a:ea typeface="Tex Gyre Termes Italics"/>
                <a:cs typeface="Tex Gyre Termes Italics"/>
                <a:sym typeface="Tex Gyre Termes Italics"/>
              </a:rPr>
              <a:t>Proceso ID: 2, Tamaño: 40MB</a:t>
            </a:r>
          </a:p>
        </p:txBody>
      </p:sp>
      <p:sp>
        <p:nvSpPr>
          <p:cNvPr name="TextBox 34" id="34"/>
          <p:cNvSpPr txBox="true"/>
          <p:nvPr/>
        </p:nvSpPr>
        <p:spPr>
          <a:xfrm rot="0">
            <a:off x="8962356" y="4739121"/>
            <a:ext cx="9069802" cy="389763"/>
          </a:xfrm>
          <a:prstGeom prst="rect">
            <a:avLst/>
          </a:prstGeom>
        </p:spPr>
        <p:txBody>
          <a:bodyPr anchor="t" rtlCol="false" tIns="0" lIns="0" bIns="0" rIns="0">
            <a:spAutoFit/>
          </a:bodyPr>
          <a:lstStyle/>
          <a:p>
            <a:pPr algn="ctr">
              <a:lnSpc>
                <a:spcPts val="3191"/>
              </a:lnSpc>
              <a:spcBef>
                <a:spcPct val="0"/>
              </a:spcBef>
            </a:pPr>
            <a:r>
              <a:rPr lang="en-US" sz="2279" i="true">
                <a:solidFill>
                  <a:srgbClr val="1E1D1C"/>
                </a:solidFill>
                <a:latin typeface="Tex Gyre Termes Italics"/>
                <a:ea typeface="Tex Gyre Termes Italics"/>
                <a:cs typeface="Tex Gyre Termes Italics"/>
                <a:sym typeface="Tex Gyre Termes Italics"/>
              </a:rPr>
              <a:t>Proceso ID: 1, Tamaño: 10MB</a:t>
            </a:r>
          </a:p>
        </p:txBody>
      </p:sp>
      <p:sp>
        <p:nvSpPr>
          <p:cNvPr name="TextBox 35" id="35"/>
          <p:cNvSpPr txBox="true"/>
          <p:nvPr/>
        </p:nvSpPr>
        <p:spPr>
          <a:xfrm rot="0">
            <a:off x="9362507" y="5265838"/>
            <a:ext cx="8110923" cy="389763"/>
          </a:xfrm>
          <a:prstGeom prst="rect">
            <a:avLst/>
          </a:prstGeom>
        </p:spPr>
        <p:txBody>
          <a:bodyPr anchor="t" rtlCol="false" tIns="0" lIns="0" bIns="0" rIns="0">
            <a:spAutoFit/>
          </a:bodyPr>
          <a:lstStyle/>
          <a:p>
            <a:pPr algn="ctr">
              <a:lnSpc>
                <a:spcPts val="3191"/>
              </a:lnSpc>
              <a:spcBef>
                <a:spcPct val="0"/>
              </a:spcBef>
            </a:pPr>
            <a:r>
              <a:rPr lang="en-US" sz="2279" i="true">
                <a:solidFill>
                  <a:srgbClr val="1E1D1C"/>
                </a:solidFill>
                <a:latin typeface="Tex Gyre Termes Italics"/>
                <a:ea typeface="Tex Gyre Termes Italics"/>
                <a:cs typeface="Tex Gyre Termes Italics"/>
                <a:sym typeface="Tex Gyre Termes Italics"/>
              </a:rPr>
              <a:t>Se mostrara primero el ultimo bloque de memoria registrado</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flipV="true">
            <a:off x="426566" y="-3456152"/>
            <a:ext cx="0" cy="20548521"/>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7892632" y="-3456152"/>
            <a:ext cx="0" cy="20548521"/>
          </a:xfrm>
          <a:prstGeom prst="line">
            <a:avLst/>
          </a:prstGeom>
          <a:ln cap="flat" w="38100">
            <a:solidFill>
              <a:srgbClr val="000000"/>
            </a:solidFill>
            <a:prstDash val="solid"/>
            <a:headEnd type="none" len="sm" w="sm"/>
            <a:tailEnd type="none" len="sm" w="sm"/>
          </a:ln>
        </p:spPr>
      </p:sp>
      <p:sp>
        <p:nvSpPr>
          <p:cNvPr name="Freeform 5" id="5"/>
          <p:cNvSpPr/>
          <p:nvPr/>
        </p:nvSpPr>
        <p:spPr>
          <a:xfrm flipH="false" flipV="false" rot="-5400000">
            <a:off x="1823910"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5400000">
            <a:off x="3914396"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5400000">
            <a:off x="807094"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5400000">
            <a:off x="2897579"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5400000">
            <a:off x="5988190"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5400000">
            <a:off x="8078676"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5400000">
            <a:off x="4971374"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5400000">
            <a:off x="7061860"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5400000">
            <a:off x="10152471"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5400000">
            <a:off x="12242956"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5400000">
            <a:off x="9135654"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5400000">
            <a:off x="11226140"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5400000">
            <a:off x="14316751"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5400000">
            <a:off x="16407237"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5400000">
            <a:off x="13299935"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false" flipV="false" rot="-5400000">
            <a:off x="15390421"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21" id="21"/>
          <p:cNvSpPr/>
          <p:nvPr/>
        </p:nvSpPr>
        <p:spPr>
          <a:xfrm flipV="true">
            <a:off x="9431752" y="1028700"/>
            <a:ext cx="0" cy="16697564"/>
          </a:xfrm>
          <a:prstGeom prst="line">
            <a:avLst/>
          </a:prstGeom>
          <a:ln cap="flat" w="38100">
            <a:solidFill>
              <a:srgbClr val="000000"/>
            </a:solidFill>
            <a:prstDash val="solid"/>
            <a:headEnd type="none" len="sm" w="sm"/>
            <a:tailEnd type="none" len="sm" w="sm"/>
          </a:ln>
        </p:spPr>
      </p:sp>
      <p:sp>
        <p:nvSpPr>
          <p:cNvPr name="Freeform 22" id="22"/>
          <p:cNvSpPr/>
          <p:nvPr/>
        </p:nvSpPr>
        <p:spPr>
          <a:xfrm flipH="false" flipV="false" rot="0">
            <a:off x="993219" y="4592268"/>
            <a:ext cx="7989692" cy="1490305"/>
          </a:xfrm>
          <a:custGeom>
            <a:avLst/>
            <a:gdLst/>
            <a:ahLst/>
            <a:cxnLst/>
            <a:rect r="r" b="b" t="t" l="l"/>
            <a:pathLst>
              <a:path h="1490305" w="7989692">
                <a:moveTo>
                  <a:pt x="0" y="0"/>
                </a:moveTo>
                <a:lnTo>
                  <a:pt x="7989692" y="0"/>
                </a:lnTo>
                <a:lnTo>
                  <a:pt x="7989692" y="1490305"/>
                </a:lnTo>
                <a:lnTo>
                  <a:pt x="0" y="1490305"/>
                </a:lnTo>
                <a:lnTo>
                  <a:pt x="0" y="0"/>
                </a:lnTo>
                <a:close/>
              </a:path>
            </a:pathLst>
          </a:custGeom>
          <a:blipFill>
            <a:blip r:embed="rId6"/>
            <a:stretch>
              <a:fillRect l="0" t="0" r="0" b="0"/>
            </a:stretch>
          </a:blipFill>
        </p:spPr>
      </p:sp>
      <p:sp>
        <p:nvSpPr>
          <p:cNvPr name="Freeform 23" id="23"/>
          <p:cNvSpPr/>
          <p:nvPr/>
        </p:nvSpPr>
        <p:spPr>
          <a:xfrm flipH="false" flipV="false" rot="0">
            <a:off x="9835546" y="1957097"/>
            <a:ext cx="7793099" cy="2367154"/>
          </a:xfrm>
          <a:custGeom>
            <a:avLst/>
            <a:gdLst/>
            <a:ahLst/>
            <a:cxnLst/>
            <a:rect r="r" b="b" t="t" l="l"/>
            <a:pathLst>
              <a:path h="2367154" w="7793099">
                <a:moveTo>
                  <a:pt x="0" y="0"/>
                </a:moveTo>
                <a:lnTo>
                  <a:pt x="7793099" y="0"/>
                </a:lnTo>
                <a:lnTo>
                  <a:pt x="7793099" y="2367154"/>
                </a:lnTo>
                <a:lnTo>
                  <a:pt x="0" y="2367154"/>
                </a:lnTo>
                <a:lnTo>
                  <a:pt x="0" y="0"/>
                </a:lnTo>
                <a:close/>
              </a:path>
            </a:pathLst>
          </a:custGeom>
          <a:blipFill>
            <a:blip r:embed="rId7"/>
            <a:stretch>
              <a:fillRect l="0" t="0" r="0" b="0"/>
            </a:stretch>
          </a:blipFill>
        </p:spPr>
      </p:sp>
      <p:sp>
        <p:nvSpPr>
          <p:cNvPr name="TextBox 24" id="24"/>
          <p:cNvSpPr txBox="true"/>
          <p:nvPr/>
        </p:nvSpPr>
        <p:spPr>
          <a:xfrm rot="0">
            <a:off x="709478" y="3985481"/>
            <a:ext cx="8557174" cy="389763"/>
          </a:xfrm>
          <a:prstGeom prst="rect">
            <a:avLst/>
          </a:prstGeom>
        </p:spPr>
        <p:txBody>
          <a:bodyPr anchor="t" rtlCol="false" tIns="0" lIns="0" bIns="0" rIns="0">
            <a:spAutoFit/>
          </a:bodyPr>
          <a:lstStyle/>
          <a:p>
            <a:pPr algn="l">
              <a:lnSpc>
                <a:spcPts val="3191"/>
              </a:lnSpc>
              <a:spcBef>
                <a:spcPct val="0"/>
              </a:spcBef>
            </a:pPr>
            <a:r>
              <a:rPr lang="en-US" sz="2279" i="true">
                <a:solidFill>
                  <a:srgbClr val="1E1D1C"/>
                </a:solidFill>
                <a:latin typeface="Tex Gyre Termes Italics"/>
                <a:ea typeface="Tex Gyre Termes Italics"/>
                <a:cs typeface="Tex Gyre Termes Italics"/>
                <a:sym typeface="Tex Gyre Termes Italics"/>
              </a:rPr>
              <a:t>Primero pregunta al usuario por el ID delo bloque que desea buscar</a:t>
            </a:r>
          </a:p>
        </p:txBody>
      </p:sp>
      <p:sp>
        <p:nvSpPr>
          <p:cNvPr name="TextBox 25" id="25"/>
          <p:cNvSpPr txBox="true"/>
          <p:nvPr/>
        </p:nvSpPr>
        <p:spPr>
          <a:xfrm rot="0">
            <a:off x="1250665" y="1323975"/>
            <a:ext cx="6763434" cy="1923173"/>
          </a:xfrm>
          <a:prstGeom prst="rect">
            <a:avLst/>
          </a:prstGeom>
        </p:spPr>
        <p:txBody>
          <a:bodyPr anchor="t" rtlCol="false" tIns="0" lIns="0" bIns="0" rIns="0">
            <a:spAutoFit/>
          </a:bodyPr>
          <a:lstStyle/>
          <a:p>
            <a:pPr algn="ctr">
              <a:lnSpc>
                <a:spcPts val="4694"/>
              </a:lnSpc>
            </a:pPr>
            <a:r>
              <a:rPr lang="en-US" sz="6343" i="true">
                <a:solidFill>
                  <a:srgbClr val="1E1D1C"/>
                </a:solidFill>
                <a:latin typeface="Tex Gyre Termes Italics"/>
                <a:ea typeface="Tex Gyre Termes Italics"/>
                <a:cs typeface="Tex Gyre Termes Italics"/>
                <a:sym typeface="Tex Gyre Termes Italics"/>
              </a:rPr>
              <a:t>Función para buscar bloque de Memoria por ID</a:t>
            </a:r>
          </a:p>
        </p:txBody>
      </p:sp>
      <p:sp>
        <p:nvSpPr>
          <p:cNvPr name="TextBox 26" id="26"/>
          <p:cNvSpPr txBox="true"/>
          <p:nvPr/>
        </p:nvSpPr>
        <p:spPr>
          <a:xfrm rot="0">
            <a:off x="1157300" y="3361448"/>
            <a:ext cx="7364827" cy="519258"/>
          </a:xfrm>
          <a:prstGeom prst="rect">
            <a:avLst/>
          </a:prstGeom>
        </p:spPr>
        <p:txBody>
          <a:bodyPr anchor="t" rtlCol="false" tIns="0" lIns="0" bIns="0" rIns="0">
            <a:spAutoFit/>
          </a:bodyPr>
          <a:lstStyle/>
          <a:p>
            <a:pPr algn="ctr">
              <a:lnSpc>
                <a:spcPts val="1978"/>
              </a:lnSpc>
            </a:pPr>
            <a:r>
              <a:rPr lang="en-US" sz="2673" i="true">
                <a:solidFill>
                  <a:srgbClr val="1E1D1C"/>
                </a:solidFill>
                <a:latin typeface="Tex Gyre Termes Italics"/>
                <a:ea typeface="Tex Gyre Termes Italics"/>
                <a:cs typeface="Tex Gyre Termes Italics"/>
                <a:sym typeface="Tex Gyre Termes Italics"/>
              </a:rPr>
              <a:t>Busca un proceso específico por su ID y muestr</a:t>
            </a:r>
            <a:r>
              <a:rPr lang="en-US" sz="2673" i="true">
                <a:solidFill>
                  <a:srgbClr val="1E1D1C"/>
                </a:solidFill>
                <a:latin typeface="Tex Gyre Termes Italics"/>
                <a:ea typeface="Tex Gyre Termes Italics"/>
                <a:cs typeface="Tex Gyre Termes Italics"/>
                <a:sym typeface="Tex Gyre Termes Italics"/>
              </a:rPr>
              <a:t>a su informació</a:t>
            </a:r>
            <a:r>
              <a:rPr lang="en-US" sz="2673" i="true">
                <a:solidFill>
                  <a:srgbClr val="1E1D1C"/>
                </a:solidFill>
                <a:latin typeface="Tex Gyre Termes Italics"/>
                <a:ea typeface="Tex Gyre Termes Italics"/>
                <a:cs typeface="Tex Gyre Termes Italics"/>
                <a:sym typeface="Tex Gyre Termes Italics"/>
              </a:rPr>
              <a:t>n.</a:t>
            </a:r>
          </a:p>
        </p:txBody>
      </p:sp>
      <p:sp>
        <p:nvSpPr>
          <p:cNvPr name="TextBox 27" id="27"/>
          <p:cNvSpPr txBox="true"/>
          <p:nvPr/>
        </p:nvSpPr>
        <p:spPr>
          <a:xfrm rot="0">
            <a:off x="635769" y="6454048"/>
            <a:ext cx="2376281" cy="388001"/>
          </a:xfrm>
          <a:prstGeom prst="rect">
            <a:avLst/>
          </a:prstGeom>
        </p:spPr>
        <p:txBody>
          <a:bodyPr anchor="t" rtlCol="false" tIns="0" lIns="0" bIns="0" rIns="0">
            <a:spAutoFit/>
          </a:bodyPr>
          <a:lstStyle/>
          <a:p>
            <a:pPr algn="ctr">
              <a:lnSpc>
                <a:spcPts val="2622"/>
              </a:lnSpc>
            </a:pPr>
            <a:r>
              <a:rPr lang="en-US" sz="3543" i="true">
                <a:solidFill>
                  <a:srgbClr val="1E1D1C"/>
                </a:solidFill>
                <a:latin typeface="Tex Gyre Termes Italics"/>
                <a:ea typeface="Tex Gyre Termes Italics"/>
                <a:cs typeface="Tex Gyre Termes Italics"/>
                <a:sym typeface="Tex Gyre Termes Italics"/>
              </a:rPr>
              <a:t>¡ALERTA!:</a:t>
            </a:r>
          </a:p>
        </p:txBody>
      </p:sp>
      <p:sp>
        <p:nvSpPr>
          <p:cNvPr name="TextBox 28" id="28"/>
          <p:cNvSpPr txBox="true"/>
          <p:nvPr/>
        </p:nvSpPr>
        <p:spPr>
          <a:xfrm rot="0">
            <a:off x="650572" y="7023024"/>
            <a:ext cx="8557174" cy="799338"/>
          </a:xfrm>
          <a:prstGeom prst="rect">
            <a:avLst/>
          </a:prstGeom>
        </p:spPr>
        <p:txBody>
          <a:bodyPr anchor="t" rtlCol="false" tIns="0" lIns="0" bIns="0" rIns="0">
            <a:spAutoFit/>
          </a:bodyPr>
          <a:lstStyle/>
          <a:p>
            <a:pPr algn="l">
              <a:lnSpc>
                <a:spcPts val="3191"/>
              </a:lnSpc>
              <a:spcBef>
                <a:spcPct val="0"/>
              </a:spcBef>
            </a:pPr>
            <a:r>
              <a:rPr lang="en-US" sz="2279" i="true">
                <a:solidFill>
                  <a:srgbClr val="1E1D1C"/>
                </a:solidFill>
                <a:latin typeface="Tex Gyre Termes Italics"/>
                <a:ea typeface="Tex Gyre Termes Italics"/>
                <a:cs typeface="Tex Gyre Termes Italics"/>
                <a:sym typeface="Tex Gyre Termes Italics"/>
              </a:rPr>
              <a:t>Si no hay ningún bloque de memoria registrado, mostrara un mensaje de error</a:t>
            </a:r>
          </a:p>
        </p:txBody>
      </p:sp>
      <p:sp>
        <p:nvSpPr>
          <p:cNvPr name="TextBox 29" id="29"/>
          <p:cNvSpPr txBox="true"/>
          <p:nvPr/>
        </p:nvSpPr>
        <p:spPr>
          <a:xfrm rot="0">
            <a:off x="9672489" y="1169562"/>
            <a:ext cx="8557174" cy="389763"/>
          </a:xfrm>
          <a:prstGeom prst="rect">
            <a:avLst/>
          </a:prstGeom>
        </p:spPr>
        <p:txBody>
          <a:bodyPr anchor="t" rtlCol="false" tIns="0" lIns="0" bIns="0" rIns="0">
            <a:spAutoFit/>
          </a:bodyPr>
          <a:lstStyle/>
          <a:p>
            <a:pPr algn="l">
              <a:lnSpc>
                <a:spcPts val="3191"/>
              </a:lnSpc>
              <a:spcBef>
                <a:spcPct val="0"/>
              </a:spcBef>
            </a:pPr>
            <a:r>
              <a:rPr lang="en-US" sz="2279" i="true">
                <a:solidFill>
                  <a:srgbClr val="1E1D1C"/>
                </a:solidFill>
                <a:latin typeface="Tex Gyre Termes Italics"/>
                <a:ea typeface="Tex Gyre Termes Italics"/>
                <a:cs typeface="Tex Gyre Termes Italics"/>
                <a:sym typeface="Tex Gyre Termes Italics"/>
              </a:rPr>
              <a:t>Después de seleccionar el ID, llaman a la siguiente funcion:</a:t>
            </a:r>
          </a:p>
        </p:txBody>
      </p:sp>
      <p:sp>
        <p:nvSpPr>
          <p:cNvPr name="TextBox 30" id="30"/>
          <p:cNvSpPr txBox="true"/>
          <p:nvPr/>
        </p:nvSpPr>
        <p:spPr>
          <a:xfrm rot="0">
            <a:off x="9730826" y="4430105"/>
            <a:ext cx="7897819" cy="799338"/>
          </a:xfrm>
          <a:prstGeom prst="rect">
            <a:avLst/>
          </a:prstGeom>
        </p:spPr>
        <p:txBody>
          <a:bodyPr anchor="t" rtlCol="false" tIns="0" lIns="0" bIns="0" rIns="0">
            <a:spAutoFit/>
          </a:bodyPr>
          <a:lstStyle/>
          <a:p>
            <a:pPr algn="l">
              <a:lnSpc>
                <a:spcPts val="3191"/>
              </a:lnSpc>
              <a:spcBef>
                <a:spcPct val="0"/>
              </a:spcBef>
            </a:pPr>
            <a:r>
              <a:rPr lang="en-US" sz="2279" i="true">
                <a:solidFill>
                  <a:srgbClr val="1E1D1C"/>
                </a:solidFill>
                <a:latin typeface="Tex Gyre Termes Italics"/>
                <a:ea typeface="Tex Gyre Termes Italics"/>
                <a:cs typeface="Tex Gyre Termes Italics"/>
                <a:sym typeface="Tex Gyre Termes Italics"/>
              </a:rPr>
              <a:t>Mostrando el mensaje al haber encontrado el bloque de memoria con el mismo ID</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flipV="true">
            <a:off x="426566" y="-3456152"/>
            <a:ext cx="0" cy="20548521"/>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7892632" y="-3456152"/>
            <a:ext cx="0" cy="20548521"/>
          </a:xfrm>
          <a:prstGeom prst="line">
            <a:avLst/>
          </a:prstGeom>
          <a:ln cap="flat" w="38100">
            <a:solidFill>
              <a:srgbClr val="000000"/>
            </a:solidFill>
            <a:prstDash val="solid"/>
            <a:headEnd type="none" len="sm" w="sm"/>
            <a:tailEnd type="none" len="sm" w="sm"/>
          </a:ln>
        </p:spPr>
      </p:sp>
      <p:sp>
        <p:nvSpPr>
          <p:cNvPr name="Freeform 5" id="5"/>
          <p:cNvSpPr/>
          <p:nvPr/>
        </p:nvSpPr>
        <p:spPr>
          <a:xfrm flipH="false" flipV="false" rot="-5400000">
            <a:off x="1823910"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5400000">
            <a:off x="3914396"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5400000">
            <a:off x="807094"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5400000">
            <a:off x="2897579"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5400000">
            <a:off x="5988190"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5400000">
            <a:off x="8078676"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5400000">
            <a:off x="4971374"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5400000">
            <a:off x="7061860"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5400000">
            <a:off x="10152471"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5400000">
            <a:off x="12242956"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5400000">
            <a:off x="9135654"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5400000">
            <a:off x="11226140"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5400000">
            <a:off x="14316751" y="-64020"/>
            <a:ext cx="1073670" cy="1073670"/>
          </a:xfrm>
          <a:custGeom>
            <a:avLst/>
            <a:gdLst/>
            <a:ahLst/>
            <a:cxnLst/>
            <a:rect r="r" b="b" t="t" l="l"/>
            <a:pathLst>
              <a:path h="1073670" w="1073670">
                <a:moveTo>
                  <a:pt x="0" y="0"/>
                </a:moveTo>
                <a:lnTo>
                  <a:pt x="1073670" y="0"/>
                </a:lnTo>
                <a:lnTo>
                  <a:pt x="1073670"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5400000">
            <a:off x="16407237"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5400000">
            <a:off x="13299935"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false" flipV="false" rot="-5400000">
            <a:off x="15390421" y="-64020"/>
            <a:ext cx="1073670" cy="1073670"/>
          </a:xfrm>
          <a:custGeom>
            <a:avLst/>
            <a:gdLst/>
            <a:ahLst/>
            <a:cxnLst/>
            <a:rect r="r" b="b" t="t" l="l"/>
            <a:pathLst>
              <a:path h="1073670" w="1073670">
                <a:moveTo>
                  <a:pt x="0" y="0"/>
                </a:moveTo>
                <a:lnTo>
                  <a:pt x="1073669" y="0"/>
                </a:lnTo>
                <a:lnTo>
                  <a:pt x="1073669" y="1073670"/>
                </a:lnTo>
                <a:lnTo>
                  <a:pt x="0" y="10736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21" id="21"/>
          <p:cNvSpPr/>
          <p:nvPr/>
        </p:nvSpPr>
        <p:spPr>
          <a:xfrm flipV="true">
            <a:off x="8596461" y="1009650"/>
            <a:ext cx="0" cy="16697564"/>
          </a:xfrm>
          <a:prstGeom prst="line">
            <a:avLst/>
          </a:prstGeom>
          <a:ln cap="flat" w="38100">
            <a:solidFill>
              <a:srgbClr val="000000"/>
            </a:solidFill>
            <a:prstDash val="solid"/>
            <a:headEnd type="none" len="sm" w="sm"/>
            <a:tailEnd type="none" len="sm" w="sm"/>
          </a:ln>
        </p:spPr>
      </p:sp>
      <p:sp>
        <p:nvSpPr>
          <p:cNvPr name="TextBox 22" id="22"/>
          <p:cNvSpPr txBox="true"/>
          <p:nvPr/>
        </p:nvSpPr>
        <p:spPr>
          <a:xfrm rot="0">
            <a:off x="-1020972" y="1304925"/>
            <a:ext cx="6763434" cy="703973"/>
          </a:xfrm>
          <a:prstGeom prst="rect">
            <a:avLst/>
          </a:prstGeom>
        </p:spPr>
        <p:txBody>
          <a:bodyPr anchor="t" rtlCol="false" tIns="0" lIns="0" bIns="0" rIns="0">
            <a:spAutoFit/>
          </a:bodyPr>
          <a:lstStyle/>
          <a:p>
            <a:pPr algn="ctr">
              <a:lnSpc>
                <a:spcPts val="4694"/>
              </a:lnSpc>
            </a:pPr>
            <a:r>
              <a:rPr lang="en-US" sz="6343" i="true">
                <a:solidFill>
                  <a:srgbClr val="1E1D1C"/>
                </a:solidFill>
                <a:latin typeface="Tex Gyre Termes Italics"/>
                <a:ea typeface="Tex Gyre Termes Italics"/>
                <a:cs typeface="Tex Gyre Termes Italics"/>
                <a:sym typeface="Tex Gyre Termes Italics"/>
              </a:rPr>
              <a:t>Ejemplo:</a:t>
            </a:r>
          </a:p>
        </p:txBody>
      </p:sp>
      <p:sp>
        <p:nvSpPr>
          <p:cNvPr name="TextBox 23" id="23"/>
          <p:cNvSpPr txBox="true"/>
          <p:nvPr/>
        </p:nvSpPr>
        <p:spPr>
          <a:xfrm rot="0">
            <a:off x="2321375" y="1989848"/>
            <a:ext cx="4203650" cy="389822"/>
          </a:xfrm>
          <a:prstGeom prst="rect">
            <a:avLst/>
          </a:prstGeom>
        </p:spPr>
        <p:txBody>
          <a:bodyPr anchor="t" rtlCol="false" tIns="0" lIns="0" bIns="0" rIns="0">
            <a:spAutoFit/>
          </a:bodyPr>
          <a:lstStyle/>
          <a:p>
            <a:pPr algn="ctr">
              <a:lnSpc>
                <a:spcPts val="3188"/>
              </a:lnSpc>
              <a:spcBef>
                <a:spcPct val="0"/>
              </a:spcBef>
            </a:pPr>
            <a:r>
              <a:rPr lang="en-US" sz="2277" i="true">
                <a:solidFill>
                  <a:srgbClr val="1E1D1C"/>
                </a:solidFill>
                <a:latin typeface="Tex Gyre Termes Italics"/>
                <a:ea typeface="Tex Gyre Termes Italics"/>
                <a:cs typeface="Tex Gyre Termes Italics"/>
                <a:sym typeface="Tex Gyre Termes Italics"/>
              </a:rPr>
              <a:t>Bloque 1: ID = 1 - Tamaño = 10MB</a:t>
            </a:r>
          </a:p>
        </p:txBody>
      </p:sp>
      <p:sp>
        <p:nvSpPr>
          <p:cNvPr name="TextBox 24" id="24"/>
          <p:cNvSpPr txBox="true"/>
          <p:nvPr/>
        </p:nvSpPr>
        <p:spPr>
          <a:xfrm rot="0">
            <a:off x="2321375" y="2412310"/>
            <a:ext cx="4203650" cy="389822"/>
          </a:xfrm>
          <a:prstGeom prst="rect">
            <a:avLst/>
          </a:prstGeom>
        </p:spPr>
        <p:txBody>
          <a:bodyPr anchor="t" rtlCol="false" tIns="0" lIns="0" bIns="0" rIns="0">
            <a:spAutoFit/>
          </a:bodyPr>
          <a:lstStyle/>
          <a:p>
            <a:pPr algn="ctr">
              <a:lnSpc>
                <a:spcPts val="3188"/>
              </a:lnSpc>
              <a:spcBef>
                <a:spcPct val="0"/>
              </a:spcBef>
            </a:pPr>
            <a:r>
              <a:rPr lang="en-US" sz="2277" i="true">
                <a:solidFill>
                  <a:srgbClr val="1E1D1C"/>
                </a:solidFill>
                <a:latin typeface="Tex Gyre Termes Italics"/>
                <a:ea typeface="Tex Gyre Termes Italics"/>
                <a:cs typeface="Tex Gyre Termes Italics"/>
                <a:sym typeface="Tex Gyre Termes Italics"/>
              </a:rPr>
              <a:t>Bloque 2: ID = 2 - Tamaño = 40MB</a:t>
            </a:r>
          </a:p>
        </p:txBody>
      </p:sp>
      <p:sp>
        <p:nvSpPr>
          <p:cNvPr name="TextBox 25" id="25"/>
          <p:cNvSpPr txBox="true"/>
          <p:nvPr/>
        </p:nvSpPr>
        <p:spPr>
          <a:xfrm rot="0">
            <a:off x="2321375" y="2830707"/>
            <a:ext cx="4203650" cy="389822"/>
          </a:xfrm>
          <a:prstGeom prst="rect">
            <a:avLst/>
          </a:prstGeom>
        </p:spPr>
        <p:txBody>
          <a:bodyPr anchor="t" rtlCol="false" tIns="0" lIns="0" bIns="0" rIns="0">
            <a:spAutoFit/>
          </a:bodyPr>
          <a:lstStyle/>
          <a:p>
            <a:pPr algn="ctr">
              <a:lnSpc>
                <a:spcPts val="3188"/>
              </a:lnSpc>
              <a:spcBef>
                <a:spcPct val="0"/>
              </a:spcBef>
            </a:pPr>
            <a:r>
              <a:rPr lang="en-US" sz="2277" i="true">
                <a:solidFill>
                  <a:srgbClr val="1E1D1C"/>
                </a:solidFill>
                <a:latin typeface="Tex Gyre Termes Italics"/>
                <a:ea typeface="Tex Gyre Termes Italics"/>
                <a:cs typeface="Tex Gyre Termes Italics"/>
                <a:sym typeface="Tex Gyre Termes Italics"/>
              </a:rPr>
              <a:t>Bloque 3: ID = 3 - Tamaño = 50MB</a:t>
            </a:r>
          </a:p>
        </p:txBody>
      </p:sp>
      <p:sp>
        <p:nvSpPr>
          <p:cNvPr name="TextBox 26" id="26"/>
          <p:cNvSpPr txBox="true"/>
          <p:nvPr/>
        </p:nvSpPr>
        <p:spPr>
          <a:xfrm rot="0">
            <a:off x="-616716" y="3516941"/>
            <a:ext cx="5039916" cy="389763"/>
          </a:xfrm>
          <a:prstGeom prst="rect">
            <a:avLst/>
          </a:prstGeom>
        </p:spPr>
        <p:txBody>
          <a:bodyPr anchor="t" rtlCol="false" tIns="0" lIns="0" bIns="0" rIns="0">
            <a:spAutoFit/>
          </a:bodyPr>
          <a:lstStyle/>
          <a:p>
            <a:pPr algn="ctr">
              <a:lnSpc>
                <a:spcPts val="3191"/>
              </a:lnSpc>
              <a:spcBef>
                <a:spcPct val="0"/>
              </a:spcBef>
            </a:pPr>
            <a:r>
              <a:rPr lang="en-US" sz="2279" i="true">
                <a:solidFill>
                  <a:srgbClr val="1E1D1C"/>
                </a:solidFill>
                <a:latin typeface="Tex Gyre Termes Italics"/>
                <a:ea typeface="Tex Gyre Termes Italics"/>
                <a:cs typeface="Tex Gyre Termes Italics"/>
                <a:sym typeface="Tex Gyre Termes Italics"/>
              </a:rPr>
              <a:t>Preguntara por el ID:</a:t>
            </a:r>
          </a:p>
        </p:txBody>
      </p:sp>
      <p:sp>
        <p:nvSpPr>
          <p:cNvPr name="TextBox 27" id="27"/>
          <p:cNvSpPr txBox="true"/>
          <p:nvPr/>
        </p:nvSpPr>
        <p:spPr>
          <a:xfrm rot="0">
            <a:off x="-83670" y="3930448"/>
            <a:ext cx="9069802" cy="389763"/>
          </a:xfrm>
          <a:prstGeom prst="rect">
            <a:avLst/>
          </a:prstGeom>
        </p:spPr>
        <p:txBody>
          <a:bodyPr anchor="t" rtlCol="false" tIns="0" lIns="0" bIns="0" rIns="0">
            <a:spAutoFit/>
          </a:bodyPr>
          <a:lstStyle/>
          <a:p>
            <a:pPr algn="ctr">
              <a:lnSpc>
                <a:spcPts val="3191"/>
              </a:lnSpc>
              <a:spcBef>
                <a:spcPct val="0"/>
              </a:spcBef>
            </a:pPr>
            <a:r>
              <a:rPr lang="en-US" sz="2279" i="true">
                <a:solidFill>
                  <a:srgbClr val="1E1D1C"/>
                </a:solidFill>
                <a:latin typeface="Tex Gyre Termes Italics"/>
                <a:ea typeface="Tex Gyre Termes Italics"/>
                <a:cs typeface="Tex Gyre Termes Italics"/>
                <a:sym typeface="Tex Gyre Termes Italics"/>
              </a:rPr>
              <a:t>Ingrese el ID del proceso a buscar:  1</a:t>
            </a:r>
          </a:p>
        </p:txBody>
      </p:sp>
      <p:sp>
        <p:nvSpPr>
          <p:cNvPr name="TextBox 28" id="28"/>
          <p:cNvSpPr txBox="true"/>
          <p:nvPr/>
        </p:nvSpPr>
        <p:spPr>
          <a:xfrm rot="0">
            <a:off x="-255740" y="4802489"/>
            <a:ext cx="8852201" cy="389763"/>
          </a:xfrm>
          <a:prstGeom prst="rect">
            <a:avLst/>
          </a:prstGeom>
        </p:spPr>
        <p:txBody>
          <a:bodyPr anchor="t" rtlCol="false" tIns="0" lIns="0" bIns="0" rIns="0">
            <a:spAutoFit/>
          </a:bodyPr>
          <a:lstStyle/>
          <a:p>
            <a:pPr algn="ctr">
              <a:lnSpc>
                <a:spcPts val="3191"/>
              </a:lnSpc>
              <a:spcBef>
                <a:spcPct val="0"/>
              </a:spcBef>
            </a:pPr>
            <a:r>
              <a:rPr lang="en-US" sz="2279" i="true">
                <a:solidFill>
                  <a:srgbClr val="1E1D1C"/>
                </a:solidFill>
                <a:latin typeface="Tex Gyre Termes Italics"/>
                <a:ea typeface="Tex Gyre Termes Italics"/>
                <a:cs typeface="Tex Gyre Termes Italics"/>
                <a:sym typeface="Tex Gyre Termes Italics"/>
              </a:rPr>
              <a:t>Se recorrerá todo los bloques hasta encontrar una similitud</a:t>
            </a:r>
          </a:p>
        </p:txBody>
      </p:sp>
      <p:graphicFrame>
        <p:nvGraphicFramePr>
          <p:cNvPr name="Table 29" id="29"/>
          <p:cNvGraphicFramePr>
            <a:graphicFrameLocks noGrp="true"/>
          </p:cNvGraphicFramePr>
          <p:nvPr/>
        </p:nvGraphicFramePr>
        <p:xfrm>
          <a:off x="2480499" y="5716127"/>
          <a:ext cx="5070675" cy="2677087"/>
        </p:xfrm>
        <a:graphic>
          <a:graphicData uri="http://schemas.openxmlformats.org/drawingml/2006/table">
            <a:tbl>
              <a:tblPr/>
              <a:tblGrid>
                <a:gridCol w="2535337"/>
                <a:gridCol w="2535337"/>
              </a:tblGrid>
              <a:tr h="892362">
                <a:tc>
                  <a:txBody>
                    <a:bodyPr anchor="t" rtlCol="false"/>
                    <a:lstStyle/>
                    <a:p>
                      <a:pPr algn="ctr">
                        <a:lnSpc>
                          <a:spcPts val="2520"/>
                        </a:lnSpc>
                        <a:defRPr/>
                      </a:pPr>
                      <a:r>
                        <a:rPr lang="en-US" sz="1800">
                          <a:solidFill>
                            <a:srgbClr val="000000"/>
                          </a:solidFill>
                          <a:latin typeface="Tex Gyre Termes"/>
                          <a:ea typeface="Tex Gyre Termes"/>
                          <a:cs typeface="Tex Gyre Termes"/>
                          <a:sym typeface="Tex Gyre Termes"/>
                        </a:rPr>
                        <a:t>ID = 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Tex Gyre Termes"/>
                          <a:ea typeface="Tex Gyre Termes"/>
                          <a:cs typeface="Tex Gyre Termes"/>
                          <a:sym typeface="Tex Gyre Termes"/>
                        </a:rPr>
                        <a:t>50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92362">
                <a:tc>
                  <a:txBody>
                    <a:bodyPr anchor="t" rtlCol="false"/>
                    <a:lstStyle/>
                    <a:p>
                      <a:pPr algn="ctr">
                        <a:lnSpc>
                          <a:spcPts val="2520"/>
                        </a:lnSpc>
                        <a:defRPr/>
                      </a:pPr>
                      <a:r>
                        <a:rPr lang="en-US" sz="1800">
                          <a:solidFill>
                            <a:srgbClr val="000000"/>
                          </a:solidFill>
                          <a:latin typeface="Tex Gyre Termes"/>
                          <a:ea typeface="Tex Gyre Termes"/>
                          <a:cs typeface="Tex Gyre Termes"/>
                          <a:sym typeface="Tex Gyre Termes"/>
                        </a:rPr>
                        <a:t>ID = 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Tex Gyre Termes"/>
                          <a:ea typeface="Tex Gyre Termes"/>
                          <a:cs typeface="Tex Gyre Termes"/>
                          <a:sym typeface="Tex Gyre Termes"/>
                        </a:rPr>
                        <a:t>40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92362">
                <a:tc>
                  <a:txBody>
                    <a:bodyPr anchor="t" rtlCol="false"/>
                    <a:lstStyle/>
                    <a:p>
                      <a:pPr algn="ctr">
                        <a:lnSpc>
                          <a:spcPts val="2520"/>
                        </a:lnSpc>
                        <a:defRPr/>
                      </a:pPr>
                      <a:r>
                        <a:rPr lang="en-US" sz="1800">
                          <a:solidFill>
                            <a:srgbClr val="000000"/>
                          </a:solidFill>
                          <a:latin typeface="Tex Gyre Termes"/>
                          <a:ea typeface="Tex Gyre Termes"/>
                          <a:cs typeface="Tex Gyre Termes"/>
                          <a:sym typeface="Tex Gyre Termes"/>
                        </a:rPr>
                        <a:t>ID = 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Tex Gyre Termes"/>
                          <a:ea typeface="Tex Gyre Termes"/>
                          <a:cs typeface="Tex Gyre Termes"/>
                          <a:sym typeface="Tex Gyre Termes"/>
                        </a:rPr>
                        <a:t>10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30" id="30"/>
          <p:cNvSpPr txBox="true"/>
          <p:nvPr/>
        </p:nvSpPr>
        <p:spPr>
          <a:xfrm rot="0">
            <a:off x="789547" y="5945716"/>
            <a:ext cx="1690952" cy="389763"/>
          </a:xfrm>
          <a:prstGeom prst="rect">
            <a:avLst/>
          </a:prstGeom>
        </p:spPr>
        <p:txBody>
          <a:bodyPr anchor="t" rtlCol="false" tIns="0" lIns="0" bIns="0" rIns="0">
            <a:spAutoFit/>
          </a:bodyPr>
          <a:lstStyle/>
          <a:p>
            <a:pPr algn="l">
              <a:lnSpc>
                <a:spcPts val="3191"/>
              </a:lnSpc>
              <a:spcBef>
                <a:spcPct val="0"/>
              </a:spcBef>
            </a:pPr>
            <a:r>
              <a:rPr lang="en-US" sz="2279" i="true">
                <a:solidFill>
                  <a:srgbClr val="1E1D1C"/>
                </a:solidFill>
                <a:latin typeface="Tex Gyre Termes Italics"/>
                <a:ea typeface="Tex Gyre Termes Italics"/>
                <a:cs typeface="Tex Gyre Termes Italics"/>
                <a:sym typeface="Tex Gyre Termes Italics"/>
              </a:rPr>
              <a:t>Cima    ----&gt;</a:t>
            </a:r>
          </a:p>
        </p:txBody>
      </p:sp>
      <p:graphicFrame>
        <p:nvGraphicFramePr>
          <p:cNvPr name="Table 31" id="31"/>
          <p:cNvGraphicFramePr>
            <a:graphicFrameLocks noGrp="true"/>
          </p:cNvGraphicFramePr>
          <p:nvPr/>
        </p:nvGraphicFramePr>
        <p:xfrm>
          <a:off x="13000228" y="1283993"/>
          <a:ext cx="4480678" cy="2684555"/>
        </p:xfrm>
        <a:graphic>
          <a:graphicData uri="http://schemas.openxmlformats.org/drawingml/2006/table">
            <a:tbl>
              <a:tblPr/>
              <a:tblGrid>
                <a:gridCol w="2240339"/>
                <a:gridCol w="2240339"/>
              </a:tblGrid>
              <a:tr h="892326">
                <a:tc>
                  <a:txBody>
                    <a:bodyPr anchor="t" rtlCol="false"/>
                    <a:lstStyle/>
                    <a:p>
                      <a:pPr algn="ctr">
                        <a:lnSpc>
                          <a:spcPts val="2520"/>
                        </a:lnSpc>
                        <a:defRPr/>
                      </a:pPr>
                      <a:r>
                        <a:rPr lang="en-US" sz="1800">
                          <a:solidFill>
                            <a:srgbClr val="000000"/>
                          </a:solidFill>
                          <a:latin typeface="Tex Gyre Termes"/>
                          <a:ea typeface="Tex Gyre Termes"/>
                          <a:cs typeface="Tex Gyre Termes"/>
                          <a:sym typeface="Tex Gyre Termes"/>
                        </a:rPr>
                        <a:t>ID = 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Tex Gyre Termes"/>
                          <a:ea typeface="Tex Gyre Termes"/>
                          <a:cs typeface="Tex Gyre Termes"/>
                          <a:sym typeface="Tex Gyre Termes"/>
                        </a:rPr>
                        <a:t>50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80609">
                <a:tc>
                  <a:txBody>
                    <a:bodyPr anchor="t" rtlCol="false"/>
                    <a:lstStyle/>
                    <a:p>
                      <a:pPr algn="ctr">
                        <a:lnSpc>
                          <a:spcPts val="2520"/>
                        </a:lnSpc>
                        <a:defRPr/>
                      </a:pPr>
                      <a:r>
                        <a:rPr lang="en-US" sz="1800">
                          <a:solidFill>
                            <a:srgbClr val="000000"/>
                          </a:solidFill>
                          <a:latin typeface="Tex Gyre Termes"/>
                          <a:ea typeface="Tex Gyre Termes"/>
                          <a:cs typeface="Tex Gyre Termes"/>
                          <a:sym typeface="Tex Gyre Termes"/>
                        </a:rPr>
                        <a:t>ID = 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Tex Gyre Termes"/>
                          <a:ea typeface="Tex Gyre Termes"/>
                          <a:cs typeface="Tex Gyre Termes"/>
                          <a:sym typeface="Tex Gyre Termes"/>
                        </a:rPr>
                        <a:t>40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11619">
                <a:tc>
                  <a:txBody>
                    <a:bodyPr anchor="t" rtlCol="false"/>
                    <a:lstStyle/>
                    <a:p>
                      <a:pPr algn="ctr">
                        <a:lnSpc>
                          <a:spcPts val="2520"/>
                        </a:lnSpc>
                        <a:defRPr/>
                      </a:pPr>
                      <a:r>
                        <a:rPr lang="en-US" sz="1800">
                          <a:solidFill>
                            <a:srgbClr val="000000"/>
                          </a:solidFill>
                          <a:latin typeface="Tex Gyre Termes"/>
                          <a:ea typeface="Tex Gyre Termes"/>
                          <a:cs typeface="Tex Gyre Termes"/>
                          <a:sym typeface="Tex Gyre Termes"/>
                        </a:rPr>
                        <a:t>ID = 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Tex Gyre Termes"/>
                          <a:ea typeface="Tex Gyre Termes"/>
                          <a:cs typeface="Tex Gyre Termes"/>
                          <a:sym typeface="Tex Gyre Termes"/>
                        </a:rPr>
                        <a:t>10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32" id="32"/>
          <p:cNvSpPr txBox="true"/>
          <p:nvPr/>
        </p:nvSpPr>
        <p:spPr>
          <a:xfrm rot="0">
            <a:off x="8722947" y="1480699"/>
            <a:ext cx="4189009" cy="389763"/>
          </a:xfrm>
          <a:prstGeom prst="rect">
            <a:avLst/>
          </a:prstGeom>
        </p:spPr>
        <p:txBody>
          <a:bodyPr anchor="t" rtlCol="false" tIns="0" lIns="0" bIns="0" rIns="0">
            <a:spAutoFit/>
          </a:bodyPr>
          <a:lstStyle/>
          <a:p>
            <a:pPr algn="l">
              <a:lnSpc>
                <a:spcPts val="3191"/>
              </a:lnSpc>
              <a:spcBef>
                <a:spcPct val="0"/>
              </a:spcBef>
            </a:pPr>
            <a:r>
              <a:rPr lang="en-US" sz="2279" i="true">
                <a:solidFill>
                  <a:srgbClr val="1E1D1C"/>
                </a:solidFill>
                <a:latin typeface="Tex Gyre Termes Italics"/>
                <a:ea typeface="Tex Gyre Termes Italics"/>
                <a:cs typeface="Tex Gyre Termes Italics"/>
                <a:sym typeface="Tex Gyre Termes Italics"/>
              </a:rPr>
              <a:t>Verifica si ID: 1 es lo mismo  ----&gt;</a:t>
            </a:r>
          </a:p>
        </p:txBody>
      </p:sp>
      <p:sp>
        <p:nvSpPr>
          <p:cNvPr name="AutoShape 33" id="33"/>
          <p:cNvSpPr/>
          <p:nvPr/>
        </p:nvSpPr>
        <p:spPr>
          <a:xfrm flipV="true">
            <a:off x="13535309" y="1713680"/>
            <a:ext cx="3408656" cy="19050"/>
          </a:xfrm>
          <a:prstGeom prst="line">
            <a:avLst/>
          </a:prstGeom>
          <a:ln cap="flat" w="38100">
            <a:solidFill>
              <a:srgbClr val="FF0000"/>
            </a:solidFill>
            <a:prstDash val="solid"/>
            <a:headEnd type="none" len="sm" w="sm"/>
            <a:tailEnd type="none" len="sm" w="sm"/>
          </a:ln>
        </p:spPr>
      </p:sp>
      <p:graphicFrame>
        <p:nvGraphicFramePr>
          <p:cNvPr name="Table 34" id="34"/>
          <p:cNvGraphicFramePr>
            <a:graphicFrameLocks noGrp="true"/>
          </p:cNvGraphicFramePr>
          <p:nvPr/>
        </p:nvGraphicFramePr>
        <p:xfrm>
          <a:off x="13000228" y="4144379"/>
          <a:ext cx="4480678" cy="2684555"/>
        </p:xfrm>
        <a:graphic>
          <a:graphicData uri="http://schemas.openxmlformats.org/drawingml/2006/table">
            <a:tbl>
              <a:tblPr/>
              <a:tblGrid>
                <a:gridCol w="2240339"/>
                <a:gridCol w="2240339"/>
              </a:tblGrid>
              <a:tr h="892326">
                <a:tc>
                  <a:txBody>
                    <a:bodyPr anchor="t" rtlCol="false"/>
                    <a:lstStyle/>
                    <a:p>
                      <a:pPr algn="ctr">
                        <a:lnSpc>
                          <a:spcPts val="2520"/>
                        </a:lnSpc>
                        <a:defRPr/>
                      </a:pPr>
                      <a:r>
                        <a:rPr lang="en-US" sz="1800">
                          <a:solidFill>
                            <a:srgbClr val="000000"/>
                          </a:solidFill>
                          <a:latin typeface="Tex Gyre Termes"/>
                          <a:ea typeface="Tex Gyre Termes"/>
                          <a:cs typeface="Tex Gyre Termes"/>
                          <a:sym typeface="Tex Gyre Termes"/>
                        </a:rPr>
                        <a:t>ID = 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Tex Gyre Termes"/>
                          <a:ea typeface="Tex Gyre Termes"/>
                          <a:cs typeface="Tex Gyre Termes"/>
                          <a:sym typeface="Tex Gyre Termes"/>
                        </a:rPr>
                        <a:t>50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80609">
                <a:tc>
                  <a:txBody>
                    <a:bodyPr anchor="t" rtlCol="false"/>
                    <a:lstStyle/>
                    <a:p>
                      <a:pPr algn="ctr">
                        <a:lnSpc>
                          <a:spcPts val="2520"/>
                        </a:lnSpc>
                        <a:defRPr/>
                      </a:pPr>
                      <a:r>
                        <a:rPr lang="en-US" sz="1800">
                          <a:solidFill>
                            <a:srgbClr val="000000"/>
                          </a:solidFill>
                          <a:latin typeface="Tex Gyre Termes"/>
                          <a:ea typeface="Tex Gyre Termes"/>
                          <a:cs typeface="Tex Gyre Termes"/>
                          <a:sym typeface="Tex Gyre Termes"/>
                        </a:rPr>
                        <a:t>ID = 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Tex Gyre Termes"/>
                          <a:ea typeface="Tex Gyre Termes"/>
                          <a:cs typeface="Tex Gyre Termes"/>
                          <a:sym typeface="Tex Gyre Termes"/>
                        </a:rPr>
                        <a:t>40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11619">
                <a:tc>
                  <a:txBody>
                    <a:bodyPr anchor="t" rtlCol="false"/>
                    <a:lstStyle/>
                    <a:p>
                      <a:pPr algn="ctr">
                        <a:lnSpc>
                          <a:spcPts val="2520"/>
                        </a:lnSpc>
                        <a:defRPr/>
                      </a:pPr>
                      <a:r>
                        <a:rPr lang="en-US" sz="1800">
                          <a:solidFill>
                            <a:srgbClr val="000000"/>
                          </a:solidFill>
                          <a:latin typeface="Tex Gyre Termes"/>
                          <a:ea typeface="Tex Gyre Termes"/>
                          <a:cs typeface="Tex Gyre Termes"/>
                          <a:sym typeface="Tex Gyre Termes"/>
                        </a:rPr>
                        <a:t>ID = 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Tex Gyre Termes"/>
                          <a:ea typeface="Tex Gyre Termes"/>
                          <a:cs typeface="Tex Gyre Termes"/>
                          <a:sym typeface="Tex Gyre Termes"/>
                        </a:rPr>
                        <a:t>10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35" id="35"/>
          <p:cNvSpPr txBox="true"/>
          <p:nvPr/>
        </p:nvSpPr>
        <p:spPr>
          <a:xfrm rot="0">
            <a:off x="8811219" y="5326364"/>
            <a:ext cx="4189009" cy="389763"/>
          </a:xfrm>
          <a:prstGeom prst="rect">
            <a:avLst/>
          </a:prstGeom>
        </p:spPr>
        <p:txBody>
          <a:bodyPr anchor="t" rtlCol="false" tIns="0" lIns="0" bIns="0" rIns="0">
            <a:spAutoFit/>
          </a:bodyPr>
          <a:lstStyle/>
          <a:p>
            <a:pPr algn="l">
              <a:lnSpc>
                <a:spcPts val="3191"/>
              </a:lnSpc>
              <a:spcBef>
                <a:spcPct val="0"/>
              </a:spcBef>
            </a:pPr>
            <a:r>
              <a:rPr lang="en-US" sz="2279" i="true">
                <a:solidFill>
                  <a:srgbClr val="1E1D1C"/>
                </a:solidFill>
                <a:latin typeface="Tex Gyre Termes Italics"/>
                <a:ea typeface="Tex Gyre Termes Italics"/>
                <a:cs typeface="Tex Gyre Termes Italics"/>
                <a:sym typeface="Tex Gyre Termes Italics"/>
              </a:rPr>
              <a:t>Verifica si ID: 1 es lo mismo  ----&gt;</a:t>
            </a:r>
          </a:p>
        </p:txBody>
      </p:sp>
      <p:sp>
        <p:nvSpPr>
          <p:cNvPr name="AutoShape 36" id="36"/>
          <p:cNvSpPr/>
          <p:nvPr/>
        </p:nvSpPr>
        <p:spPr>
          <a:xfrm flipV="true">
            <a:off x="13535309" y="4574066"/>
            <a:ext cx="3408656" cy="19050"/>
          </a:xfrm>
          <a:prstGeom prst="line">
            <a:avLst/>
          </a:prstGeom>
          <a:ln cap="flat" w="38100">
            <a:solidFill>
              <a:srgbClr val="FF0000"/>
            </a:solidFill>
            <a:prstDash val="solid"/>
            <a:headEnd type="none" len="sm" w="sm"/>
            <a:tailEnd type="none" len="sm" w="sm"/>
          </a:ln>
        </p:spPr>
      </p:sp>
      <p:sp>
        <p:nvSpPr>
          <p:cNvPr name="AutoShape 37" id="37"/>
          <p:cNvSpPr/>
          <p:nvPr/>
        </p:nvSpPr>
        <p:spPr>
          <a:xfrm flipV="true">
            <a:off x="13536239" y="5530770"/>
            <a:ext cx="3408656" cy="19050"/>
          </a:xfrm>
          <a:prstGeom prst="line">
            <a:avLst/>
          </a:prstGeom>
          <a:ln cap="flat" w="38100">
            <a:solidFill>
              <a:srgbClr val="FF0000"/>
            </a:solidFill>
            <a:prstDash val="solid"/>
            <a:headEnd type="none" len="sm" w="sm"/>
            <a:tailEnd type="none" len="sm" w="sm"/>
          </a:ln>
        </p:spPr>
      </p:sp>
      <p:graphicFrame>
        <p:nvGraphicFramePr>
          <p:cNvPr name="Table 38" id="38"/>
          <p:cNvGraphicFramePr>
            <a:graphicFrameLocks noGrp="true"/>
          </p:cNvGraphicFramePr>
          <p:nvPr/>
        </p:nvGraphicFramePr>
        <p:xfrm>
          <a:off x="13000228" y="7000384"/>
          <a:ext cx="4480678" cy="2684555"/>
        </p:xfrm>
        <a:graphic>
          <a:graphicData uri="http://schemas.openxmlformats.org/drawingml/2006/table">
            <a:tbl>
              <a:tblPr/>
              <a:tblGrid>
                <a:gridCol w="2240339"/>
                <a:gridCol w="2240339"/>
              </a:tblGrid>
              <a:tr h="892326">
                <a:tc>
                  <a:txBody>
                    <a:bodyPr anchor="t" rtlCol="false"/>
                    <a:lstStyle/>
                    <a:p>
                      <a:pPr algn="ctr" marL="0" indent="0" lvl="0">
                        <a:lnSpc>
                          <a:spcPts val="2520"/>
                        </a:lnSpc>
                        <a:spcBef>
                          <a:spcPct val="0"/>
                        </a:spcBef>
                        <a:defRPr/>
                      </a:pPr>
                      <a:r>
                        <a:rPr lang="en-US" sz="1800" strike="noStrike" u="none">
                          <a:solidFill>
                            <a:srgbClr val="000000"/>
                          </a:solidFill>
                          <a:latin typeface="Tex Gyre Termes"/>
                          <a:ea typeface="Tex Gyre Termes"/>
                          <a:cs typeface="Tex Gyre Termes"/>
                          <a:sym typeface="Tex Gyre Termes"/>
                        </a:rPr>
                        <a:t>ID = 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trike="noStrike" u="none">
                          <a:solidFill>
                            <a:srgbClr val="000000"/>
                          </a:solidFill>
                          <a:latin typeface="Tex Gyre Termes"/>
                          <a:ea typeface="Tex Gyre Termes"/>
                          <a:cs typeface="Tex Gyre Termes"/>
                          <a:sym typeface="Tex Gyre Termes"/>
                        </a:rPr>
                        <a:t>50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80609">
                <a:tc>
                  <a:txBody>
                    <a:bodyPr anchor="t" rtlCol="false"/>
                    <a:lstStyle/>
                    <a:p>
                      <a:pPr algn="ctr" marL="0" indent="0" lvl="0">
                        <a:lnSpc>
                          <a:spcPts val="2520"/>
                        </a:lnSpc>
                        <a:spcBef>
                          <a:spcPct val="0"/>
                        </a:spcBef>
                        <a:defRPr/>
                      </a:pPr>
                      <a:r>
                        <a:rPr lang="en-US" sz="1800" strike="noStrike" u="none">
                          <a:solidFill>
                            <a:srgbClr val="000000"/>
                          </a:solidFill>
                          <a:latin typeface="Tex Gyre Termes"/>
                          <a:ea typeface="Tex Gyre Termes"/>
                          <a:cs typeface="Tex Gyre Termes"/>
                          <a:sym typeface="Tex Gyre Termes"/>
                        </a:rPr>
                        <a:t>ID = 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trike="noStrike" u="none">
                          <a:solidFill>
                            <a:srgbClr val="000000"/>
                          </a:solidFill>
                          <a:latin typeface="Tex Gyre Termes"/>
                          <a:ea typeface="Tex Gyre Termes"/>
                          <a:cs typeface="Tex Gyre Termes"/>
                          <a:sym typeface="Tex Gyre Termes"/>
                        </a:rPr>
                        <a:t>40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11619">
                <a:tc>
                  <a:txBody>
                    <a:bodyPr anchor="t" rtlCol="false"/>
                    <a:lstStyle/>
                    <a:p>
                      <a:pPr algn="ctr" marL="0" indent="0" lvl="0">
                        <a:lnSpc>
                          <a:spcPts val="2520"/>
                        </a:lnSpc>
                        <a:spcBef>
                          <a:spcPct val="0"/>
                        </a:spcBef>
                        <a:defRPr/>
                      </a:pPr>
                      <a:r>
                        <a:rPr lang="en-US" sz="1800" strike="noStrike" u="none">
                          <a:solidFill>
                            <a:srgbClr val="000000"/>
                          </a:solidFill>
                          <a:latin typeface="Tex Gyre Termes"/>
                          <a:ea typeface="Tex Gyre Termes"/>
                          <a:cs typeface="Tex Gyre Termes"/>
                          <a:sym typeface="Tex Gyre Termes"/>
                        </a:rPr>
                        <a:t>ID = 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7ED957"/>
                    </a:solidFill>
                  </a:tcPr>
                </a:tc>
                <a:tc>
                  <a:txBody>
                    <a:bodyPr anchor="t" rtlCol="false"/>
                    <a:lstStyle/>
                    <a:p>
                      <a:pPr algn="ctr" marL="0" indent="0" lvl="0">
                        <a:lnSpc>
                          <a:spcPts val="2520"/>
                        </a:lnSpc>
                        <a:spcBef>
                          <a:spcPct val="0"/>
                        </a:spcBef>
                        <a:defRPr/>
                      </a:pPr>
                      <a:r>
                        <a:rPr lang="en-US" sz="1800" strike="noStrike" u="none">
                          <a:solidFill>
                            <a:srgbClr val="000000"/>
                          </a:solidFill>
                          <a:latin typeface="Tex Gyre Termes"/>
                          <a:ea typeface="Tex Gyre Termes"/>
                          <a:cs typeface="Tex Gyre Termes"/>
                          <a:sym typeface="Tex Gyre Termes"/>
                        </a:rPr>
                        <a:t>10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7ED957"/>
                    </a:solidFill>
                  </a:tcPr>
                </a:tc>
              </a:tr>
            </a:tbl>
          </a:graphicData>
        </a:graphic>
      </p:graphicFrame>
      <p:sp>
        <p:nvSpPr>
          <p:cNvPr name="TextBox 39" id="39"/>
          <p:cNvSpPr txBox="true"/>
          <p:nvPr/>
        </p:nvSpPr>
        <p:spPr>
          <a:xfrm rot="0">
            <a:off x="8811219" y="9067309"/>
            <a:ext cx="4189009" cy="389763"/>
          </a:xfrm>
          <a:prstGeom prst="rect">
            <a:avLst/>
          </a:prstGeom>
        </p:spPr>
        <p:txBody>
          <a:bodyPr anchor="t" rtlCol="false" tIns="0" lIns="0" bIns="0" rIns="0">
            <a:spAutoFit/>
          </a:bodyPr>
          <a:lstStyle/>
          <a:p>
            <a:pPr algn="l">
              <a:lnSpc>
                <a:spcPts val="3191"/>
              </a:lnSpc>
              <a:spcBef>
                <a:spcPct val="0"/>
              </a:spcBef>
            </a:pPr>
            <a:r>
              <a:rPr lang="en-US" sz="2279" i="true">
                <a:solidFill>
                  <a:srgbClr val="1E1D1C"/>
                </a:solidFill>
                <a:latin typeface="Tex Gyre Termes Italics"/>
                <a:ea typeface="Tex Gyre Termes Italics"/>
                <a:cs typeface="Tex Gyre Termes Italics"/>
                <a:sym typeface="Tex Gyre Termes Italics"/>
              </a:rPr>
              <a:t>Verifica si ID: 1 es lo mismo  ----&gt;</a:t>
            </a:r>
          </a:p>
        </p:txBody>
      </p:sp>
      <p:sp>
        <p:nvSpPr>
          <p:cNvPr name="AutoShape 40" id="40"/>
          <p:cNvSpPr/>
          <p:nvPr/>
        </p:nvSpPr>
        <p:spPr>
          <a:xfrm flipV="true">
            <a:off x="13535309" y="7430071"/>
            <a:ext cx="3408656" cy="19050"/>
          </a:xfrm>
          <a:prstGeom prst="line">
            <a:avLst/>
          </a:prstGeom>
          <a:ln cap="flat" w="38100">
            <a:solidFill>
              <a:srgbClr val="FF0000"/>
            </a:solidFill>
            <a:prstDash val="solid"/>
            <a:headEnd type="none" len="sm" w="sm"/>
            <a:tailEnd type="none" len="sm" w="sm"/>
          </a:ln>
        </p:spPr>
      </p:sp>
      <p:sp>
        <p:nvSpPr>
          <p:cNvPr name="AutoShape 41" id="41"/>
          <p:cNvSpPr/>
          <p:nvPr/>
        </p:nvSpPr>
        <p:spPr>
          <a:xfrm flipV="true">
            <a:off x="13536239" y="8386775"/>
            <a:ext cx="3408656" cy="19050"/>
          </a:xfrm>
          <a:prstGeom prst="line">
            <a:avLst/>
          </a:prstGeom>
          <a:ln cap="flat" w="38100">
            <a:solidFill>
              <a:srgbClr val="FF0000"/>
            </a:solidFill>
            <a:prstDash val="solid"/>
            <a:headEnd type="none" len="sm" w="sm"/>
            <a:tailEnd type="none" len="sm" w="sm"/>
          </a:ln>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a:off x="-1130260" y="9277350"/>
            <a:ext cx="20548521" cy="0"/>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820488" y="-3456152"/>
            <a:ext cx="0" cy="20548521"/>
          </a:xfrm>
          <a:prstGeom prst="line">
            <a:avLst/>
          </a:prstGeom>
          <a:ln cap="flat" w="38100">
            <a:solidFill>
              <a:srgbClr val="000000"/>
            </a:solidFill>
            <a:prstDash val="solid"/>
            <a:headEnd type="none" len="sm" w="sm"/>
            <a:tailEnd type="none" len="sm" w="sm"/>
          </a:ln>
        </p:spPr>
      </p:sp>
      <p:sp>
        <p:nvSpPr>
          <p:cNvPr name="AutoShape 5" id="5"/>
          <p:cNvSpPr/>
          <p:nvPr/>
        </p:nvSpPr>
        <p:spPr>
          <a:xfrm flipV="true">
            <a:off x="16486562" y="-3456152"/>
            <a:ext cx="0" cy="20548521"/>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0">
            <a:off x="-33126" y="3289887"/>
            <a:ext cx="1853613" cy="1853613"/>
          </a:xfrm>
          <a:custGeom>
            <a:avLst/>
            <a:gdLst/>
            <a:ahLst/>
            <a:cxnLst/>
            <a:rect r="r" b="b" t="t" l="l"/>
            <a:pathLst>
              <a:path h="1853613" w="1853613">
                <a:moveTo>
                  <a:pt x="0" y="0"/>
                </a:moveTo>
                <a:lnTo>
                  <a:pt x="1853614" y="0"/>
                </a:lnTo>
                <a:lnTo>
                  <a:pt x="1853614" y="1853613"/>
                </a:lnTo>
                <a:lnTo>
                  <a:pt x="0" y="18536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33126" y="6898960"/>
            <a:ext cx="1853613" cy="1853613"/>
          </a:xfrm>
          <a:custGeom>
            <a:avLst/>
            <a:gdLst/>
            <a:ahLst/>
            <a:cxnLst/>
            <a:rect r="r" b="b" t="t" l="l"/>
            <a:pathLst>
              <a:path h="1853613" w="1853613">
                <a:moveTo>
                  <a:pt x="0" y="0"/>
                </a:moveTo>
                <a:lnTo>
                  <a:pt x="1853614" y="0"/>
                </a:lnTo>
                <a:lnTo>
                  <a:pt x="1853614" y="1853613"/>
                </a:lnTo>
                <a:lnTo>
                  <a:pt x="0" y="18536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33126" y="1534427"/>
            <a:ext cx="1853613" cy="1853613"/>
          </a:xfrm>
          <a:custGeom>
            <a:avLst/>
            <a:gdLst/>
            <a:ahLst/>
            <a:cxnLst/>
            <a:rect r="r" b="b" t="t" l="l"/>
            <a:pathLst>
              <a:path h="1853613" w="1853613">
                <a:moveTo>
                  <a:pt x="0" y="0"/>
                </a:moveTo>
                <a:lnTo>
                  <a:pt x="1853614" y="0"/>
                </a:lnTo>
                <a:lnTo>
                  <a:pt x="1853614" y="1853613"/>
                </a:lnTo>
                <a:lnTo>
                  <a:pt x="0" y="18536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33126" y="5143500"/>
            <a:ext cx="1853613" cy="1853613"/>
          </a:xfrm>
          <a:custGeom>
            <a:avLst/>
            <a:gdLst/>
            <a:ahLst/>
            <a:cxnLst/>
            <a:rect r="r" b="b" t="t" l="l"/>
            <a:pathLst>
              <a:path h="1853613" w="1853613">
                <a:moveTo>
                  <a:pt x="0" y="0"/>
                </a:moveTo>
                <a:lnTo>
                  <a:pt x="1853614" y="0"/>
                </a:lnTo>
                <a:lnTo>
                  <a:pt x="1853614" y="1853613"/>
                </a:lnTo>
                <a:lnTo>
                  <a:pt x="0" y="18536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6716932" y="2940842"/>
            <a:ext cx="3769754" cy="2652536"/>
          </a:xfrm>
          <a:custGeom>
            <a:avLst/>
            <a:gdLst/>
            <a:ahLst/>
            <a:cxnLst/>
            <a:rect r="r" b="b" t="t" l="l"/>
            <a:pathLst>
              <a:path h="2652536" w="3769754">
                <a:moveTo>
                  <a:pt x="0" y="0"/>
                </a:moveTo>
                <a:lnTo>
                  <a:pt x="3769754" y="0"/>
                </a:lnTo>
                <a:lnTo>
                  <a:pt x="3769754" y="2652536"/>
                </a:lnTo>
                <a:lnTo>
                  <a:pt x="0" y="26525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6716932" y="4693622"/>
            <a:ext cx="3769754" cy="2652536"/>
          </a:xfrm>
          <a:custGeom>
            <a:avLst/>
            <a:gdLst/>
            <a:ahLst/>
            <a:cxnLst/>
            <a:rect r="r" b="b" t="t" l="l"/>
            <a:pathLst>
              <a:path h="2652536" w="3769754">
                <a:moveTo>
                  <a:pt x="0" y="0"/>
                </a:moveTo>
                <a:lnTo>
                  <a:pt x="3769754" y="0"/>
                </a:lnTo>
                <a:lnTo>
                  <a:pt x="3769754" y="2652536"/>
                </a:lnTo>
                <a:lnTo>
                  <a:pt x="0" y="26525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2655416" y="3624036"/>
            <a:ext cx="12996218" cy="2440759"/>
          </a:xfrm>
          <a:prstGeom prst="rect">
            <a:avLst/>
          </a:prstGeom>
        </p:spPr>
        <p:txBody>
          <a:bodyPr anchor="t" rtlCol="false" tIns="0" lIns="0" bIns="0" rIns="0">
            <a:spAutoFit/>
          </a:bodyPr>
          <a:lstStyle/>
          <a:p>
            <a:pPr algn="ctr">
              <a:lnSpc>
                <a:spcPts val="8837"/>
              </a:lnSpc>
            </a:pPr>
            <a:r>
              <a:rPr lang="en-US" sz="11942" i="true">
                <a:solidFill>
                  <a:srgbClr val="1E1D1C"/>
                </a:solidFill>
                <a:latin typeface="Tex Gyre Termes Italics"/>
                <a:ea typeface="Tex Gyre Termes Italics"/>
                <a:cs typeface="Tex Gyre Termes Italics"/>
                <a:sym typeface="Tex Gyre Termes Italics"/>
              </a:rPr>
              <a:t>Explicación del Menu</a:t>
            </a:r>
          </a:p>
        </p:txBody>
      </p:sp>
      <p:sp>
        <p:nvSpPr>
          <p:cNvPr name="Freeform 13" id="13"/>
          <p:cNvSpPr/>
          <p:nvPr/>
        </p:nvSpPr>
        <p:spPr>
          <a:xfrm flipH="false" flipV="false" rot="0">
            <a:off x="16716932" y="-1268748"/>
            <a:ext cx="2278398" cy="2278398"/>
          </a:xfrm>
          <a:custGeom>
            <a:avLst/>
            <a:gdLst/>
            <a:ahLst/>
            <a:cxnLst/>
            <a:rect r="r" b="b" t="t" l="l"/>
            <a:pathLst>
              <a:path h="2278398" w="2278398">
                <a:moveTo>
                  <a:pt x="0" y="0"/>
                </a:moveTo>
                <a:lnTo>
                  <a:pt x="2278398" y="0"/>
                </a:lnTo>
                <a:lnTo>
                  <a:pt x="2278398" y="2278398"/>
                </a:lnTo>
                <a:lnTo>
                  <a:pt x="0" y="22783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16487865" y="9277350"/>
            <a:ext cx="2278398" cy="2278398"/>
          </a:xfrm>
          <a:custGeom>
            <a:avLst/>
            <a:gdLst/>
            <a:ahLst/>
            <a:cxnLst/>
            <a:rect r="r" b="b" t="t" l="l"/>
            <a:pathLst>
              <a:path h="2278398" w="2278398">
                <a:moveTo>
                  <a:pt x="0" y="0"/>
                </a:moveTo>
                <a:lnTo>
                  <a:pt x="2278398" y="0"/>
                </a:lnTo>
                <a:lnTo>
                  <a:pt x="2278398" y="2278398"/>
                </a:lnTo>
                <a:lnTo>
                  <a:pt x="0" y="22783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a:off x="-1130260" y="9277350"/>
            <a:ext cx="20548521" cy="0"/>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820488" y="-3456152"/>
            <a:ext cx="0" cy="20548521"/>
          </a:xfrm>
          <a:prstGeom prst="line">
            <a:avLst/>
          </a:prstGeom>
          <a:ln cap="flat" w="38100">
            <a:solidFill>
              <a:srgbClr val="000000"/>
            </a:solidFill>
            <a:prstDash val="solid"/>
            <a:headEnd type="none" len="sm" w="sm"/>
            <a:tailEnd type="none" len="sm" w="sm"/>
          </a:ln>
        </p:spPr>
      </p:sp>
      <p:sp>
        <p:nvSpPr>
          <p:cNvPr name="AutoShape 5" id="5"/>
          <p:cNvSpPr/>
          <p:nvPr/>
        </p:nvSpPr>
        <p:spPr>
          <a:xfrm flipV="true">
            <a:off x="16486562" y="-3456152"/>
            <a:ext cx="0" cy="20548521"/>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1376464">
            <a:off x="15742396" y="2845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376464">
            <a:off x="1076321" y="853318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1255199">
            <a:off x="15742396" y="85141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988181" y="1001466"/>
            <a:ext cx="5192607" cy="1002606"/>
          </a:xfrm>
          <a:prstGeom prst="rect">
            <a:avLst/>
          </a:prstGeom>
        </p:spPr>
        <p:txBody>
          <a:bodyPr anchor="t" rtlCol="false" tIns="0" lIns="0" bIns="0" rIns="0">
            <a:spAutoFit/>
          </a:bodyPr>
          <a:lstStyle/>
          <a:p>
            <a:pPr algn="l">
              <a:lnSpc>
                <a:spcPts val="8120"/>
              </a:lnSpc>
            </a:pPr>
            <a:r>
              <a:rPr lang="en-US" sz="5800" i="true" u="sng">
                <a:solidFill>
                  <a:srgbClr val="1E1D1C"/>
                </a:solidFill>
                <a:latin typeface="Tex Gyre Termes Italics"/>
                <a:ea typeface="Tex Gyre Termes Italics"/>
                <a:cs typeface="Tex Gyre Termes Italics"/>
                <a:sym typeface="Tex Gyre Termes Italics"/>
              </a:rPr>
              <a:t>Solución en C++</a:t>
            </a:r>
          </a:p>
        </p:txBody>
      </p:sp>
      <p:sp>
        <p:nvSpPr>
          <p:cNvPr name="TextBox 10" id="10"/>
          <p:cNvSpPr txBox="true"/>
          <p:nvPr/>
        </p:nvSpPr>
        <p:spPr>
          <a:xfrm rot="0">
            <a:off x="1988181" y="2218061"/>
            <a:ext cx="6157287" cy="629920"/>
          </a:xfrm>
          <a:prstGeom prst="rect">
            <a:avLst/>
          </a:prstGeom>
        </p:spPr>
        <p:txBody>
          <a:bodyPr anchor="t" rtlCol="false" tIns="0" lIns="0" bIns="0" rIns="0">
            <a:spAutoFit/>
          </a:bodyPr>
          <a:lstStyle/>
          <a:p>
            <a:pPr algn="l">
              <a:lnSpc>
                <a:spcPts val="5179"/>
              </a:lnSpc>
            </a:pPr>
            <a:r>
              <a:rPr lang="en-US" sz="3699" b="true">
                <a:solidFill>
                  <a:srgbClr val="1E1D1C"/>
                </a:solidFill>
                <a:latin typeface="Tex Gyre Termes Bold"/>
                <a:ea typeface="Tex Gyre Termes Bold"/>
                <a:cs typeface="Tex Gyre Termes Bold"/>
                <a:sym typeface="Tex Gyre Termes Bold"/>
              </a:rPr>
              <a:t>Int main:</a:t>
            </a:r>
          </a:p>
        </p:txBody>
      </p:sp>
      <p:sp>
        <p:nvSpPr>
          <p:cNvPr name="TextBox 11" id="11"/>
          <p:cNvSpPr txBox="true"/>
          <p:nvPr/>
        </p:nvSpPr>
        <p:spPr>
          <a:xfrm rot="0">
            <a:off x="2221640" y="3071495"/>
            <a:ext cx="13304096" cy="5020310"/>
          </a:xfrm>
          <a:prstGeom prst="rect">
            <a:avLst/>
          </a:prstGeom>
        </p:spPr>
        <p:txBody>
          <a:bodyPr anchor="t" rtlCol="false" tIns="0" lIns="0" bIns="0" rIns="0">
            <a:spAutoFit/>
          </a:bodyPr>
          <a:lstStyle/>
          <a:p>
            <a:pPr algn="l">
              <a:lnSpc>
                <a:spcPts val="3640"/>
              </a:lnSpc>
            </a:pPr>
            <a:r>
              <a:rPr lang="en-US" sz="2600">
                <a:solidFill>
                  <a:srgbClr val="000000"/>
                </a:solidFill>
                <a:latin typeface="Open Sans"/>
                <a:ea typeface="Open Sans"/>
                <a:cs typeface="Open Sans"/>
                <a:sym typeface="Open Sans"/>
              </a:rPr>
              <a:t>Usos:</a:t>
            </a:r>
          </a:p>
          <a:p>
            <a:pPr algn="l" marL="561344" indent="-280672" lvl="1">
              <a:lnSpc>
                <a:spcPts val="3640"/>
              </a:lnSpc>
              <a:buFont typeface="Arial"/>
              <a:buChar char="•"/>
            </a:pPr>
            <a:r>
              <a:rPr lang="en-US" sz="2600">
                <a:solidFill>
                  <a:srgbClr val="000000"/>
                </a:solidFill>
                <a:latin typeface="Open Sans"/>
                <a:ea typeface="Open Sans"/>
                <a:cs typeface="Open Sans"/>
                <a:sym typeface="Open Sans"/>
              </a:rPr>
              <a:t>Es el pu</a:t>
            </a:r>
            <a:r>
              <a:rPr lang="en-US" sz="2600">
                <a:solidFill>
                  <a:srgbClr val="000000"/>
                </a:solidFill>
                <a:latin typeface="Open Sans"/>
                <a:ea typeface="Open Sans"/>
                <a:cs typeface="Open Sans"/>
                <a:sym typeface="Open Sans"/>
              </a:rPr>
              <a:t>nto de inicio del programa.</a:t>
            </a:r>
          </a:p>
          <a:p>
            <a:pPr algn="l" marL="561344" indent="-280672" lvl="1">
              <a:lnSpc>
                <a:spcPts val="3640"/>
              </a:lnSpc>
              <a:buFont typeface="Arial"/>
              <a:buChar char="•"/>
            </a:pPr>
            <a:r>
              <a:rPr lang="en-US" sz="2600">
                <a:solidFill>
                  <a:srgbClr val="000000"/>
                </a:solidFill>
                <a:latin typeface="Open Sans"/>
                <a:ea typeface="Open Sans"/>
                <a:cs typeface="Open Sans"/>
                <a:sym typeface="Open Sans"/>
              </a:rPr>
              <a:t>Controla qué menú se muestra primero y cuándo se debe cerrar el programa.</a:t>
            </a:r>
          </a:p>
          <a:p>
            <a:pPr algn="l" marL="561344" indent="-280672" lvl="1">
              <a:lnSpc>
                <a:spcPts val="3640"/>
              </a:lnSpc>
              <a:buFont typeface="Arial"/>
              <a:buChar char="•"/>
            </a:pPr>
            <a:r>
              <a:rPr lang="en-US" sz="2600">
                <a:solidFill>
                  <a:srgbClr val="000000"/>
                </a:solidFill>
                <a:latin typeface="Open Sans"/>
                <a:ea typeface="Open Sans"/>
                <a:cs typeface="Open Sans"/>
                <a:sym typeface="Open Sans"/>
              </a:rPr>
              <a:t>Llama a mostrarMenuPrincipal() para mostrar el menú principal del sistema.</a:t>
            </a:r>
          </a:p>
          <a:p>
            <a:pPr algn="l">
              <a:lnSpc>
                <a:spcPts val="3640"/>
              </a:lnSpc>
            </a:pPr>
            <a:r>
              <a:rPr lang="en-US" sz="2600">
                <a:solidFill>
                  <a:srgbClr val="000000"/>
                </a:solidFill>
                <a:latin typeface="Open Sans"/>
                <a:ea typeface="Open Sans"/>
                <a:cs typeface="Open Sans"/>
                <a:sym typeface="Open Sans"/>
              </a:rPr>
              <a:t>Funciones:</a:t>
            </a:r>
          </a:p>
          <a:p>
            <a:pPr algn="l" marL="561344" indent="-280672" lvl="1">
              <a:lnSpc>
                <a:spcPts val="3640"/>
              </a:lnSpc>
              <a:buFont typeface="Arial"/>
              <a:buChar char="•"/>
            </a:pPr>
            <a:r>
              <a:rPr lang="en-US" sz="2600" strike="noStrike" u="none">
                <a:solidFill>
                  <a:srgbClr val="000000"/>
                </a:solidFill>
                <a:latin typeface="Open Sans"/>
                <a:ea typeface="Open Sans"/>
                <a:cs typeface="Open Sans"/>
                <a:sym typeface="Open Sans"/>
              </a:rPr>
              <a:t>int m</a:t>
            </a:r>
            <a:r>
              <a:rPr lang="en-US" sz="2600" strike="noStrike" u="none">
                <a:solidFill>
                  <a:srgbClr val="000000"/>
                </a:solidFill>
                <a:latin typeface="Open Sans"/>
                <a:ea typeface="Open Sans"/>
                <a:cs typeface="Open Sans"/>
                <a:sym typeface="Open Sans"/>
              </a:rPr>
              <a:t>ain(): Define la función principal del p</a:t>
            </a:r>
            <a:r>
              <a:rPr lang="en-US" sz="2600" strike="noStrike" u="none">
                <a:solidFill>
                  <a:srgbClr val="000000"/>
                </a:solidFill>
                <a:latin typeface="Open Sans"/>
                <a:ea typeface="Open Sans"/>
                <a:cs typeface="Open Sans"/>
                <a:sym typeface="Open Sans"/>
              </a:rPr>
              <a:t>rogr</a:t>
            </a:r>
            <a:r>
              <a:rPr lang="en-US" sz="2600" strike="noStrike" u="none">
                <a:solidFill>
                  <a:srgbClr val="000000"/>
                </a:solidFill>
                <a:latin typeface="Open Sans"/>
                <a:ea typeface="Open Sans"/>
                <a:cs typeface="Open Sans"/>
                <a:sym typeface="Open Sans"/>
              </a:rPr>
              <a:t>a</a:t>
            </a:r>
            <a:r>
              <a:rPr lang="en-US" sz="2600" strike="noStrike" u="none">
                <a:solidFill>
                  <a:srgbClr val="000000"/>
                </a:solidFill>
                <a:latin typeface="Open Sans"/>
                <a:ea typeface="Open Sans"/>
                <a:cs typeface="Open Sans"/>
                <a:sym typeface="Open Sans"/>
              </a:rPr>
              <a:t>m</a:t>
            </a:r>
            <a:r>
              <a:rPr lang="en-US" sz="2600" strike="noStrike" u="none">
                <a:solidFill>
                  <a:srgbClr val="000000"/>
                </a:solidFill>
                <a:latin typeface="Open Sans"/>
                <a:ea typeface="Open Sans"/>
                <a:cs typeface="Open Sans"/>
                <a:sym typeface="Open Sans"/>
              </a:rPr>
              <a:t>a, donde co</a:t>
            </a:r>
            <a:r>
              <a:rPr lang="en-US" sz="2600" strike="noStrike" u="none">
                <a:solidFill>
                  <a:srgbClr val="000000"/>
                </a:solidFill>
                <a:latin typeface="Open Sans"/>
                <a:ea typeface="Open Sans"/>
                <a:cs typeface="Open Sans"/>
                <a:sym typeface="Open Sans"/>
              </a:rPr>
              <a:t>mienza </a:t>
            </a:r>
            <a:r>
              <a:rPr lang="en-US" sz="2600" strike="noStrike" u="none">
                <a:solidFill>
                  <a:srgbClr val="000000"/>
                </a:solidFill>
                <a:latin typeface="Open Sans"/>
                <a:ea typeface="Open Sans"/>
                <a:cs typeface="Open Sans"/>
                <a:sym typeface="Open Sans"/>
              </a:rPr>
              <a:t>la ejecución.</a:t>
            </a:r>
          </a:p>
          <a:p>
            <a:pPr algn="l" marL="561344" indent="-280672" lvl="1">
              <a:lnSpc>
                <a:spcPts val="3640"/>
              </a:lnSpc>
              <a:buFont typeface="Arial"/>
              <a:buChar char="•"/>
            </a:pPr>
            <a:r>
              <a:rPr lang="en-US" sz="2600" strike="noStrike" u="none">
                <a:solidFill>
                  <a:srgbClr val="000000"/>
                </a:solidFill>
                <a:latin typeface="Open Sans"/>
                <a:ea typeface="Open Sans"/>
                <a:cs typeface="Open Sans"/>
                <a:sym typeface="Open Sans"/>
              </a:rPr>
              <a:t>most</a:t>
            </a:r>
            <a:r>
              <a:rPr lang="en-US" sz="2600" strike="noStrike" u="none">
                <a:solidFill>
                  <a:srgbClr val="000000"/>
                </a:solidFill>
                <a:latin typeface="Open Sans"/>
                <a:ea typeface="Open Sans"/>
                <a:cs typeface="Open Sans"/>
                <a:sym typeface="Open Sans"/>
              </a:rPr>
              <a:t>r</a:t>
            </a:r>
            <a:r>
              <a:rPr lang="en-US" sz="2600" strike="noStrike" u="none">
                <a:solidFill>
                  <a:srgbClr val="000000"/>
                </a:solidFill>
                <a:latin typeface="Open Sans"/>
                <a:ea typeface="Open Sans"/>
                <a:cs typeface="Open Sans"/>
                <a:sym typeface="Open Sans"/>
              </a:rPr>
              <a:t>arMen</a:t>
            </a:r>
            <a:r>
              <a:rPr lang="en-US" sz="2600" strike="noStrike" u="none">
                <a:solidFill>
                  <a:srgbClr val="000000"/>
                </a:solidFill>
                <a:latin typeface="Open Sans"/>
                <a:ea typeface="Open Sans"/>
                <a:cs typeface="Open Sans"/>
                <a:sym typeface="Open Sans"/>
              </a:rPr>
              <a:t>uPrincipal();:</a:t>
            </a:r>
            <a:r>
              <a:rPr lang="en-US" sz="2600" strike="noStrike" u="none">
                <a:solidFill>
                  <a:srgbClr val="000000"/>
                </a:solidFill>
                <a:latin typeface="Open Sans"/>
                <a:ea typeface="Open Sans"/>
                <a:cs typeface="Open Sans"/>
                <a:sym typeface="Open Sans"/>
              </a:rPr>
              <a:t> Llama a la función que presenta el menú general con</a:t>
            </a:r>
            <a:r>
              <a:rPr lang="en-US" sz="2600" strike="noStrike" u="none">
                <a:solidFill>
                  <a:srgbClr val="000000"/>
                </a:solidFill>
                <a:latin typeface="Open Sans"/>
                <a:ea typeface="Open Sans"/>
                <a:cs typeface="Open Sans"/>
                <a:sym typeface="Open Sans"/>
              </a:rPr>
              <a:t> </a:t>
            </a:r>
            <a:r>
              <a:rPr lang="en-US" sz="2600" strike="noStrike" u="none">
                <a:solidFill>
                  <a:srgbClr val="000000"/>
                </a:solidFill>
                <a:latin typeface="Open Sans"/>
                <a:ea typeface="Open Sans"/>
                <a:cs typeface="Open Sans"/>
                <a:sym typeface="Open Sans"/>
              </a:rPr>
              <a:t>opciones para gestionar procesos.</a:t>
            </a:r>
          </a:p>
          <a:p>
            <a:pPr algn="l" marL="561344" indent="-280672" lvl="1">
              <a:lnSpc>
                <a:spcPts val="3640"/>
              </a:lnSpc>
              <a:buFont typeface="Arial"/>
              <a:buChar char="•"/>
            </a:pPr>
            <a:r>
              <a:rPr lang="en-US" sz="2600" strike="noStrike" u="none">
                <a:solidFill>
                  <a:srgbClr val="000000"/>
                </a:solidFill>
                <a:latin typeface="Open Sans"/>
                <a:ea typeface="Open Sans"/>
                <a:cs typeface="Open Sans"/>
                <a:sym typeface="Open Sans"/>
              </a:rPr>
              <a:t>return 0;: Finaliza el programa correctamente (convención estándar</a:t>
            </a:r>
            <a:r>
              <a:rPr lang="en-US" sz="2600" strike="noStrike" u="none">
                <a:solidFill>
                  <a:srgbClr val="000000"/>
                </a:solidFill>
                <a:latin typeface="Open Sans"/>
                <a:ea typeface="Open Sans"/>
                <a:cs typeface="Open Sans"/>
                <a:sym typeface="Open Sans"/>
              </a:rPr>
              <a:t> p</a:t>
            </a:r>
            <a:r>
              <a:rPr lang="en-US" sz="2600" strike="noStrike" u="none">
                <a:solidFill>
                  <a:srgbClr val="000000"/>
                </a:solidFill>
                <a:latin typeface="Open Sans"/>
                <a:ea typeface="Open Sans"/>
                <a:cs typeface="Open Sans"/>
                <a:sym typeface="Open Sans"/>
              </a:rPr>
              <a:t>ara indicar éxito).</a:t>
            </a:r>
          </a:p>
          <a:p>
            <a:pPr algn="l">
              <a:lnSpc>
                <a:spcPts val="3640"/>
              </a:lnSpc>
            </a:pP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a:off x="-1130260" y="9277350"/>
            <a:ext cx="20548521" cy="0"/>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820488" y="-3456152"/>
            <a:ext cx="0" cy="20548521"/>
          </a:xfrm>
          <a:prstGeom prst="line">
            <a:avLst/>
          </a:prstGeom>
          <a:ln cap="flat" w="38100">
            <a:solidFill>
              <a:srgbClr val="000000"/>
            </a:solidFill>
            <a:prstDash val="solid"/>
            <a:headEnd type="none" len="sm" w="sm"/>
            <a:tailEnd type="none" len="sm" w="sm"/>
          </a:ln>
        </p:spPr>
      </p:sp>
      <p:sp>
        <p:nvSpPr>
          <p:cNvPr name="AutoShape 5" id="5"/>
          <p:cNvSpPr/>
          <p:nvPr/>
        </p:nvSpPr>
        <p:spPr>
          <a:xfrm flipV="true">
            <a:off x="16486562" y="-3456152"/>
            <a:ext cx="0" cy="20548521"/>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1376464">
            <a:off x="15742396" y="2845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376464">
            <a:off x="1076321" y="853318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1255199">
            <a:off x="15742396" y="85141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8484603" y="2654299"/>
            <a:ext cx="7440842" cy="5953774"/>
          </a:xfrm>
          <a:custGeom>
            <a:avLst/>
            <a:gdLst/>
            <a:ahLst/>
            <a:cxnLst/>
            <a:rect r="r" b="b" t="t" l="l"/>
            <a:pathLst>
              <a:path h="5953774" w="7440842">
                <a:moveTo>
                  <a:pt x="0" y="0"/>
                </a:moveTo>
                <a:lnTo>
                  <a:pt x="7440842" y="0"/>
                </a:lnTo>
                <a:lnTo>
                  <a:pt x="7440842" y="5953774"/>
                </a:lnTo>
                <a:lnTo>
                  <a:pt x="0" y="5953774"/>
                </a:lnTo>
                <a:lnTo>
                  <a:pt x="0" y="0"/>
                </a:lnTo>
                <a:close/>
              </a:path>
            </a:pathLst>
          </a:custGeom>
          <a:blipFill>
            <a:blip r:embed="rId4"/>
            <a:stretch>
              <a:fillRect l="0" t="0" r="-8128" b="0"/>
            </a:stretch>
          </a:blipFill>
        </p:spPr>
      </p:sp>
      <p:sp>
        <p:nvSpPr>
          <p:cNvPr name="Freeform 10" id="10"/>
          <p:cNvSpPr/>
          <p:nvPr/>
        </p:nvSpPr>
        <p:spPr>
          <a:xfrm flipH="false" flipV="false" rot="0">
            <a:off x="2249648" y="2251115"/>
            <a:ext cx="5570285" cy="6356958"/>
          </a:xfrm>
          <a:custGeom>
            <a:avLst/>
            <a:gdLst/>
            <a:ahLst/>
            <a:cxnLst/>
            <a:rect r="r" b="b" t="t" l="l"/>
            <a:pathLst>
              <a:path h="6356958" w="5570285">
                <a:moveTo>
                  <a:pt x="0" y="0"/>
                </a:moveTo>
                <a:lnTo>
                  <a:pt x="5570285" y="0"/>
                </a:lnTo>
                <a:lnTo>
                  <a:pt x="5570285" y="6356958"/>
                </a:lnTo>
                <a:lnTo>
                  <a:pt x="0" y="6356958"/>
                </a:lnTo>
                <a:lnTo>
                  <a:pt x="0" y="0"/>
                </a:lnTo>
                <a:close/>
              </a:path>
            </a:pathLst>
          </a:custGeom>
          <a:blipFill>
            <a:blip r:embed="rId5"/>
            <a:stretch>
              <a:fillRect l="0" t="0" r="0" b="0"/>
            </a:stretch>
          </a:blipFill>
        </p:spPr>
      </p:sp>
      <p:sp>
        <p:nvSpPr>
          <p:cNvPr name="TextBox 11" id="11"/>
          <p:cNvSpPr txBox="true"/>
          <p:nvPr/>
        </p:nvSpPr>
        <p:spPr>
          <a:xfrm rot="0">
            <a:off x="2114181" y="962025"/>
            <a:ext cx="6157287" cy="629920"/>
          </a:xfrm>
          <a:prstGeom prst="rect">
            <a:avLst/>
          </a:prstGeom>
        </p:spPr>
        <p:txBody>
          <a:bodyPr anchor="t" rtlCol="false" tIns="0" lIns="0" bIns="0" rIns="0">
            <a:spAutoFit/>
          </a:bodyPr>
          <a:lstStyle/>
          <a:p>
            <a:pPr algn="l">
              <a:lnSpc>
                <a:spcPts val="5179"/>
              </a:lnSpc>
            </a:pPr>
            <a:r>
              <a:rPr lang="en-US" sz="3699" b="true">
                <a:solidFill>
                  <a:srgbClr val="1E1D1C"/>
                </a:solidFill>
                <a:latin typeface="Tex Gyre Termes Bold"/>
                <a:ea typeface="Tex Gyre Termes Bold"/>
                <a:cs typeface="Tex Gyre Termes Bold"/>
                <a:sym typeface="Tex Gyre Termes Bold"/>
              </a:rPr>
              <a:t>Int main:</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a:off x="-1130260" y="9277350"/>
            <a:ext cx="20548521" cy="0"/>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820488" y="-3456152"/>
            <a:ext cx="0" cy="20548521"/>
          </a:xfrm>
          <a:prstGeom prst="line">
            <a:avLst/>
          </a:prstGeom>
          <a:ln cap="flat" w="38100">
            <a:solidFill>
              <a:srgbClr val="000000"/>
            </a:solidFill>
            <a:prstDash val="solid"/>
            <a:headEnd type="none" len="sm" w="sm"/>
            <a:tailEnd type="none" len="sm" w="sm"/>
          </a:ln>
        </p:spPr>
      </p:sp>
      <p:sp>
        <p:nvSpPr>
          <p:cNvPr name="AutoShape 5" id="5"/>
          <p:cNvSpPr/>
          <p:nvPr/>
        </p:nvSpPr>
        <p:spPr>
          <a:xfrm flipV="true">
            <a:off x="16486562" y="-3456152"/>
            <a:ext cx="0" cy="20548521"/>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1376464">
            <a:off x="15742396" y="2845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376464">
            <a:off x="1076321" y="853318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1255199">
            <a:off x="15742396" y="85141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114181" y="2289987"/>
            <a:ext cx="6670500" cy="6270270"/>
          </a:xfrm>
          <a:custGeom>
            <a:avLst/>
            <a:gdLst/>
            <a:ahLst/>
            <a:cxnLst/>
            <a:rect r="r" b="b" t="t" l="l"/>
            <a:pathLst>
              <a:path h="6270270" w="6670500">
                <a:moveTo>
                  <a:pt x="0" y="0"/>
                </a:moveTo>
                <a:lnTo>
                  <a:pt x="6670500" y="0"/>
                </a:lnTo>
                <a:lnTo>
                  <a:pt x="6670500" y="6270271"/>
                </a:lnTo>
                <a:lnTo>
                  <a:pt x="0" y="6270271"/>
                </a:lnTo>
                <a:lnTo>
                  <a:pt x="0" y="0"/>
                </a:lnTo>
                <a:close/>
              </a:path>
            </a:pathLst>
          </a:custGeom>
          <a:blipFill>
            <a:blip r:embed="rId4"/>
            <a:stretch>
              <a:fillRect l="0" t="0" r="0" b="0"/>
            </a:stretch>
          </a:blipFill>
        </p:spPr>
      </p:sp>
      <p:sp>
        <p:nvSpPr>
          <p:cNvPr name="Freeform 10" id="10"/>
          <p:cNvSpPr/>
          <p:nvPr/>
        </p:nvSpPr>
        <p:spPr>
          <a:xfrm flipH="false" flipV="false" rot="0">
            <a:off x="9144000" y="2289987"/>
            <a:ext cx="6461964" cy="6279469"/>
          </a:xfrm>
          <a:custGeom>
            <a:avLst/>
            <a:gdLst/>
            <a:ahLst/>
            <a:cxnLst/>
            <a:rect r="r" b="b" t="t" l="l"/>
            <a:pathLst>
              <a:path h="6279469" w="6461964">
                <a:moveTo>
                  <a:pt x="0" y="0"/>
                </a:moveTo>
                <a:lnTo>
                  <a:pt x="6461964" y="0"/>
                </a:lnTo>
                <a:lnTo>
                  <a:pt x="6461964" y="6279470"/>
                </a:lnTo>
                <a:lnTo>
                  <a:pt x="0" y="6279470"/>
                </a:lnTo>
                <a:lnTo>
                  <a:pt x="0" y="0"/>
                </a:lnTo>
                <a:close/>
              </a:path>
            </a:pathLst>
          </a:custGeom>
          <a:blipFill>
            <a:blip r:embed="rId5"/>
            <a:stretch>
              <a:fillRect l="0" t="0" r="0" b="0"/>
            </a:stretch>
          </a:blipFill>
        </p:spPr>
      </p:sp>
      <p:sp>
        <p:nvSpPr>
          <p:cNvPr name="TextBox 11" id="11"/>
          <p:cNvSpPr txBox="true"/>
          <p:nvPr/>
        </p:nvSpPr>
        <p:spPr>
          <a:xfrm rot="0">
            <a:off x="2114181" y="962025"/>
            <a:ext cx="6157287" cy="629920"/>
          </a:xfrm>
          <a:prstGeom prst="rect">
            <a:avLst/>
          </a:prstGeom>
        </p:spPr>
        <p:txBody>
          <a:bodyPr anchor="t" rtlCol="false" tIns="0" lIns="0" bIns="0" rIns="0">
            <a:spAutoFit/>
          </a:bodyPr>
          <a:lstStyle/>
          <a:p>
            <a:pPr algn="l">
              <a:lnSpc>
                <a:spcPts val="5179"/>
              </a:lnSpc>
            </a:pPr>
            <a:r>
              <a:rPr lang="en-US" sz="3699" b="true">
                <a:solidFill>
                  <a:srgbClr val="1E1D1C"/>
                </a:solidFill>
                <a:latin typeface="Tex Gyre Termes Bold"/>
                <a:ea typeface="Tex Gyre Termes Bold"/>
                <a:cs typeface="Tex Gyre Termes Bold"/>
                <a:sym typeface="Tex Gyre Termes Bold"/>
              </a:rPr>
              <a:t>Int main:</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a:off x="-1130260" y="9277350"/>
            <a:ext cx="20548521" cy="0"/>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820488" y="-3456152"/>
            <a:ext cx="0" cy="20548521"/>
          </a:xfrm>
          <a:prstGeom prst="line">
            <a:avLst/>
          </a:prstGeom>
          <a:ln cap="flat" w="38100">
            <a:solidFill>
              <a:srgbClr val="000000"/>
            </a:solidFill>
            <a:prstDash val="solid"/>
            <a:headEnd type="none" len="sm" w="sm"/>
            <a:tailEnd type="none" len="sm" w="sm"/>
          </a:ln>
        </p:spPr>
      </p:sp>
      <p:sp>
        <p:nvSpPr>
          <p:cNvPr name="AutoShape 5" id="5"/>
          <p:cNvSpPr/>
          <p:nvPr/>
        </p:nvSpPr>
        <p:spPr>
          <a:xfrm flipV="true">
            <a:off x="16486562" y="-3456152"/>
            <a:ext cx="0" cy="20548521"/>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1376464">
            <a:off x="15742396" y="2845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376464">
            <a:off x="1076321" y="853318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1255199">
            <a:off x="15742396" y="85141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291146" y="2004072"/>
            <a:ext cx="7746364" cy="6022798"/>
          </a:xfrm>
          <a:custGeom>
            <a:avLst/>
            <a:gdLst/>
            <a:ahLst/>
            <a:cxnLst/>
            <a:rect r="r" b="b" t="t" l="l"/>
            <a:pathLst>
              <a:path h="6022798" w="7746364">
                <a:moveTo>
                  <a:pt x="0" y="0"/>
                </a:moveTo>
                <a:lnTo>
                  <a:pt x="7746364" y="0"/>
                </a:lnTo>
                <a:lnTo>
                  <a:pt x="7746364" y="6022798"/>
                </a:lnTo>
                <a:lnTo>
                  <a:pt x="0" y="6022798"/>
                </a:lnTo>
                <a:lnTo>
                  <a:pt x="0" y="0"/>
                </a:lnTo>
                <a:close/>
              </a:path>
            </a:pathLst>
          </a:custGeom>
          <a:blipFill>
            <a:blip r:embed="rId4"/>
            <a:stretch>
              <a:fillRect l="0" t="0" r="0" b="0"/>
            </a:stretch>
          </a:blipFill>
        </p:spPr>
      </p:sp>
      <p:sp>
        <p:nvSpPr>
          <p:cNvPr name="Freeform 10" id="10"/>
          <p:cNvSpPr/>
          <p:nvPr/>
        </p:nvSpPr>
        <p:spPr>
          <a:xfrm flipH="false" flipV="false" rot="0">
            <a:off x="10246531" y="1965021"/>
            <a:ext cx="5832509" cy="6356958"/>
          </a:xfrm>
          <a:custGeom>
            <a:avLst/>
            <a:gdLst/>
            <a:ahLst/>
            <a:cxnLst/>
            <a:rect r="r" b="b" t="t" l="l"/>
            <a:pathLst>
              <a:path h="6356958" w="5832509">
                <a:moveTo>
                  <a:pt x="0" y="0"/>
                </a:moveTo>
                <a:lnTo>
                  <a:pt x="5832509" y="0"/>
                </a:lnTo>
                <a:lnTo>
                  <a:pt x="5832509" y="6356958"/>
                </a:lnTo>
                <a:lnTo>
                  <a:pt x="0" y="6356958"/>
                </a:lnTo>
                <a:lnTo>
                  <a:pt x="0" y="0"/>
                </a:lnTo>
                <a:close/>
              </a:path>
            </a:pathLst>
          </a:custGeom>
          <a:blipFill>
            <a:blip r:embed="rId5"/>
            <a:stretch>
              <a:fillRect l="0" t="0" r="0" b="0"/>
            </a:stretch>
          </a:blipFill>
        </p:spPr>
      </p:sp>
      <p:sp>
        <p:nvSpPr>
          <p:cNvPr name="TextBox 11" id="11"/>
          <p:cNvSpPr txBox="true"/>
          <p:nvPr/>
        </p:nvSpPr>
        <p:spPr>
          <a:xfrm rot="0">
            <a:off x="2114181" y="962025"/>
            <a:ext cx="6157287" cy="629920"/>
          </a:xfrm>
          <a:prstGeom prst="rect">
            <a:avLst/>
          </a:prstGeom>
        </p:spPr>
        <p:txBody>
          <a:bodyPr anchor="t" rtlCol="false" tIns="0" lIns="0" bIns="0" rIns="0">
            <a:spAutoFit/>
          </a:bodyPr>
          <a:lstStyle/>
          <a:p>
            <a:pPr algn="l">
              <a:lnSpc>
                <a:spcPts val="5179"/>
              </a:lnSpc>
            </a:pPr>
            <a:r>
              <a:rPr lang="en-US" sz="3699" b="true">
                <a:solidFill>
                  <a:srgbClr val="1E1D1C"/>
                </a:solidFill>
                <a:latin typeface="Tex Gyre Termes Bold"/>
                <a:ea typeface="Tex Gyre Termes Bold"/>
                <a:cs typeface="Tex Gyre Termes Bold"/>
                <a:sym typeface="Tex Gyre Termes Bold"/>
              </a:rPr>
              <a:t>Int main:</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a:off x="-1130260" y="9277350"/>
            <a:ext cx="20548521" cy="0"/>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820488" y="-3456152"/>
            <a:ext cx="0" cy="20548521"/>
          </a:xfrm>
          <a:prstGeom prst="line">
            <a:avLst/>
          </a:prstGeom>
          <a:ln cap="flat" w="38100">
            <a:solidFill>
              <a:srgbClr val="000000"/>
            </a:solidFill>
            <a:prstDash val="solid"/>
            <a:headEnd type="none" len="sm" w="sm"/>
            <a:tailEnd type="none" len="sm" w="sm"/>
          </a:ln>
        </p:spPr>
      </p:sp>
      <p:sp>
        <p:nvSpPr>
          <p:cNvPr name="AutoShape 5" id="5"/>
          <p:cNvSpPr/>
          <p:nvPr/>
        </p:nvSpPr>
        <p:spPr>
          <a:xfrm flipV="true">
            <a:off x="16486562" y="-3456152"/>
            <a:ext cx="0" cy="20548521"/>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1376464">
            <a:off x="15742396" y="2845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376464">
            <a:off x="1076321" y="853318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1255199">
            <a:off x="15742396" y="85141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114181" y="2531518"/>
            <a:ext cx="5037393" cy="2611982"/>
          </a:xfrm>
          <a:custGeom>
            <a:avLst/>
            <a:gdLst/>
            <a:ahLst/>
            <a:cxnLst/>
            <a:rect r="r" b="b" t="t" l="l"/>
            <a:pathLst>
              <a:path h="2611982" w="5037393">
                <a:moveTo>
                  <a:pt x="0" y="0"/>
                </a:moveTo>
                <a:lnTo>
                  <a:pt x="5037393" y="0"/>
                </a:lnTo>
                <a:lnTo>
                  <a:pt x="5037393" y="2611982"/>
                </a:lnTo>
                <a:lnTo>
                  <a:pt x="0" y="2611982"/>
                </a:lnTo>
                <a:lnTo>
                  <a:pt x="0" y="0"/>
                </a:lnTo>
                <a:close/>
              </a:path>
            </a:pathLst>
          </a:custGeom>
          <a:blipFill>
            <a:blip r:embed="rId4"/>
            <a:stretch>
              <a:fillRect l="0" t="0" r="0" b="0"/>
            </a:stretch>
          </a:blipFill>
        </p:spPr>
      </p:sp>
      <p:sp>
        <p:nvSpPr>
          <p:cNvPr name="TextBox 10" id="10"/>
          <p:cNvSpPr txBox="true"/>
          <p:nvPr/>
        </p:nvSpPr>
        <p:spPr>
          <a:xfrm rot="0">
            <a:off x="2114181" y="962025"/>
            <a:ext cx="6157287" cy="629920"/>
          </a:xfrm>
          <a:prstGeom prst="rect">
            <a:avLst/>
          </a:prstGeom>
        </p:spPr>
        <p:txBody>
          <a:bodyPr anchor="t" rtlCol="false" tIns="0" lIns="0" bIns="0" rIns="0">
            <a:spAutoFit/>
          </a:bodyPr>
          <a:lstStyle/>
          <a:p>
            <a:pPr algn="l">
              <a:lnSpc>
                <a:spcPts val="5179"/>
              </a:lnSpc>
            </a:pPr>
            <a:r>
              <a:rPr lang="en-US" sz="3699" b="true">
                <a:solidFill>
                  <a:srgbClr val="1E1D1C"/>
                </a:solidFill>
                <a:latin typeface="Tex Gyre Termes Bold"/>
                <a:ea typeface="Tex Gyre Termes Bold"/>
                <a:cs typeface="Tex Gyre Termes Bold"/>
                <a:sym typeface="Tex Gyre Termes Bold"/>
              </a:rPr>
              <a:t>Int main:</a:t>
            </a:r>
          </a:p>
        </p:txBody>
      </p:sp>
      <p:sp>
        <p:nvSpPr>
          <p:cNvPr name="TextBox 11" id="11"/>
          <p:cNvSpPr txBox="true"/>
          <p:nvPr/>
        </p:nvSpPr>
        <p:spPr>
          <a:xfrm rot="0">
            <a:off x="7903660" y="2493418"/>
            <a:ext cx="7432600" cy="2650082"/>
          </a:xfrm>
          <a:prstGeom prst="rect">
            <a:avLst/>
          </a:prstGeom>
        </p:spPr>
        <p:txBody>
          <a:bodyPr anchor="t" rtlCol="false" tIns="0" lIns="0" bIns="0" rIns="0">
            <a:spAutoFit/>
          </a:bodyPr>
          <a:lstStyle/>
          <a:p>
            <a:pPr algn="just" marL="0" indent="0" lvl="0">
              <a:lnSpc>
                <a:spcPts val="3032"/>
              </a:lnSpc>
              <a:spcBef>
                <a:spcPct val="0"/>
              </a:spcBef>
            </a:pPr>
            <a:r>
              <a:rPr lang="en-US" sz="2166">
                <a:solidFill>
                  <a:srgbClr val="000000"/>
                </a:solidFill>
                <a:latin typeface="Open Sans"/>
                <a:ea typeface="Open Sans"/>
                <a:cs typeface="Open Sans"/>
                <a:sym typeface="Open Sans"/>
              </a:rPr>
              <a:t>Este programa en C++ permite gestionar procesos utilizando tres estructur</a:t>
            </a:r>
            <a:r>
              <a:rPr lang="en-US" sz="2166" strike="noStrike" u="none">
                <a:solidFill>
                  <a:srgbClr val="000000"/>
                </a:solidFill>
                <a:latin typeface="Open Sans"/>
                <a:ea typeface="Open Sans"/>
                <a:cs typeface="Open Sans"/>
                <a:sym typeface="Open Sans"/>
              </a:rPr>
              <a:t>a</a:t>
            </a:r>
            <a:r>
              <a:rPr lang="en-US" sz="2166" strike="noStrike" u="none">
                <a:solidFill>
                  <a:srgbClr val="000000"/>
                </a:solidFill>
                <a:latin typeface="Open Sans"/>
                <a:ea typeface="Open Sans"/>
                <a:cs typeface="Open Sans"/>
                <a:sym typeface="Open Sans"/>
              </a:rPr>
              <a:t>s </a:t>
            </a:r>
            <a:r>
              <a:rPr lang="en-US" sz="2166" strike="noStrike" u="none">
                <a:solidFill>
                  <a:srgbClr val="000000"/>
                </a:solidFill>
                <a:latin typeface="Open Sans"/>
                <a:ea typeface="Open Sans"/>
                <a:cs typeface="Open Sans"/>
                <a:sym typeface="Open Sans"/>
              </a:rPr>
              <a:t>d</a:t>
            </a:r>
            <a:r>
              <a:rPr lang="en-US" sz="2166" strike="noStrike" u="none">
                <a:solidFill>
                  <a:srgbClr val="000000"/>
                </a:solidFill>
                <a:latin typeface="Open Sans"/>
                <a:ea typeface="Open Sans"/>
                <a:cs typeface="Open Sans"/>
                <a:sym typeface="Open Sans"/>
              </a:rPr>
              <a:t>e datos: p</a:t>
            </a:r>
            <a:r>
              <a:rPr lang="en-US" sz="2166" strike="noStrike" u="none">
                <a:solidFill>
                  <a:srgbClr val="000000"/>
                </a:solidFill>
                <a:latin typeface="Open Sans"/>
                <a:ea typeface="Open Sans"/>
                <a:cs typeface="Open Sans"/>
                <a:sym typeface="Open Sans"/>
              </a:rPr>
              <a:t>i</a:t>
            </a:r>
            <a:r>
              <a:rPr lang="en-US" sz="2166" strike="noStrike" u="none">
                <a:solidFill>
                  <a:srgbClr val="000000"/>
                </a:solidFill>
                <a:latin typeface="Open Sans"/>
                <a:ea typeface="Open Sans"/>
                <a:cs typeface="Open Sans"/>
                <a:sym typeface="Open Sans"/>
              </a:rPr>
              <a:t>la, lista y cola.</a:t>
            </a:r>
          </a:p>
          <a:p>
            <a:pPr algn="just" marL="0" indent="0" lvl="0">
              <a:lnSpc>
                <a:spcPts val="3032"/>
              </a:lnSpc>
              <a:spcBef>
                <a:spcPct val="0"/>
              </a:spcBef>
            </a:pPr>
            <a:r>
              <a:rPr lang="en-US" sz="2166" strike="noStrike" u="none">
                <a:solidFill>
                  <a:srgbClr val="000000"/>
                </a:solidFill>
                <a:latin typeface="Open Sans"/>
                <a:ea typeface="Open Sans"/>
                <a:cs typeface="Open Sans"/>
                <a:sym typeface="Open Sans"/>
              </a:rPr>
              <a:t> Al inicia</a:t>
            </a:r>
            <a:r>
              <a:rPr lang="en-US" sz="2166" strike="noStrike" u="none">
                <a:solidFill>
                  <a:srgbClr val="000000"/>
                </a:solidFill>
                <a:latin typeface="Open Sans"/>
                <a:ea typeface="Open Sans"/>
                <a:cs typeface="Open Sans"/>
                <a:sym typeface="Open Sans"/>
              </a:rPr>
              <a:t>r</a:t>
            </a:r>
            <a:r>
              <a:rPr lang="en-US" sz="2166" strike="noStrike" u="none">
                <a:solidFill>
                  <a:srgbClr val="000000"/>
                </a:solidFill>
                <a:latin typeface="Open Sans"/>
                <a:ea typeface="Open Sans"/>
                <a:cs typeface="Open Sans"/>
                <a:sym typeface="Open Sans"/>
              </a:rPr>
              <a:t>, el usuario ve</a:t>
            </a:r>
            <a:r>
              <a:rPr lang="en-US" sz="2166" strike="noStrike" u="none">
                <a:solidFill>
                  <a:srgbClr val="000000"/>
                </a:solidFill>
                <a:latin typeface="Open Sans"/>
                <a:ea typeface="Open Sans"/>
                <a:cs typeface="Open Sans"/>
                <a:sym typeface="Open Sans"/>
              </a:rPr>
              <a:t> un </a:t>
            </a:r>
            <a:r>
              <a:rPr lang="en-US" sz="2166" strike="noStrike" u="none">
                <a:solidFill>
                  <a:srgbClr val="000000"/>
                </a:solidFill>
                <a:latin typeface="Open Sans"/>
                <a:ea typeface="Open Sans"/>
                <a:cs typeface="Open Sans"/>
                <a:sym typeface="Open Sans"/>
              </a:rPr>
              <a:t>menú </a:t>
            </a:r>
            <a:r>
              <a:rPr lang="en-US" sz="2166" strike="noStrike" u="none">
                <a:solidFill>
                  <a:srgbClr val="000000"/>
                </a:solidFill>
                <a:latin typeface="Open Sans"/>
                <a:ea typeface="Open Sans"/>
                <a:cs typeface="Open Sans"/>
                <a:sym typeface="Open Sans"/>
              </a:rPr>
              <a:t>p</a:t>
            </a:r>
            <a:r>
              <a:rPr lang="en-US" sz="2166" strike="noStrike" u="none">
                <a:solidFill>
                  <a:srgbClr val="000000"/>
                </a:solidFill>
                <a:latin typeface="Open Sans"/>
                <a:ea typeface="Open Sans"/>
                <a:cs typeface="Open Sans"/>
                <a:sym typeface="Open Sans"/>
              </a:rPr>
              <a:t>rincipal, desde el cual puede acceder a un submenú de gestión de pr</a:t>
            </a:r>
            <a:r>
              <a:rPr lang="en-US" sz="2166" strike="noStrike" u="none">
                <a:solidFill>
                  <a:srgbClr val="000000"/>
                </a:solidFill>
                <a:latin typeface="Open Sans"/>
                <a:ea typeface="Open Sans"/>
                <a:cs typeface="Open Sans"/>
                <a:sym typeface="Open Sans"/>
              </a:rPr>
              <a:t>oc</a:t>
            </a:r>
            <a:r>
              <a:rPr lang="en-US" sz="2166" strike="noStrike" u="none">
                <a:solidFill>
                  <a:srgbClr val="000000"/>
                </a:solidFill>
                <a:latin typeface="Open Sans"/>
                <a:ea typeface="Open Sans"/>
                <a:cs typeface="Open Sans"/>
                <a:sym typeface="Open Sans"/>
              </a:rPr>
              <a:t>es</a:t>
            </a:r>
            <a:r>
              <a:rPr lang="en-US" sz="2166" strike="noStrike" u="none">
                <a:solidFill>
                  <a:srgbClr val="000000"/>
                </a:solidFill>
                <a:latin typeface="Open Sans"/>
                <a:ea typeface="Open Sans"/>
                <a:cs typeface="Open Sans"/>
                <a:sym typeface="Open Sans"/>
              </a:rPr>
              <a:t>o</a:t>
            </a:r>
            <a:r>
              <a:rPr lang="en-US" sz="2166" strike="noStrike" u="none">
                <a:solidFill>
                  <a:srgbClr val="000000"/>
                </a:solidFill>
                <a:latin typeface="Open Sans"/>
                <a:ea typeface="Open Sans"/>
                <a:cs typeface="Open Sans"/>
                <a:sym typeface="Open Sans"/>
              </a:rPr>
              <a:t>s.</a:t>
            </a:r>
          </a:p>
          <a:p>
            <a:pPr algn="just" marL="0" indent="0" lvl="0">
              <a:lnSpc>
                <a:spcPts val="3032"/>
              </a:lnSpc>
              <a:spcBef>
                <a:spcPct val="0"/>
              </a:spcBef>
            </a:pPr>
            <a:r>
              <a:rPr lang="en-US" sz="2166" strike="noStrike" u="none">
                <a:solidFill>
                  <a:srgbClr val="000000"/>
                </a:solidFill>
                <a:latin typeface="Open Sans"/>
                <a:ea typeface="Open Sans"/>
                <a:cs typeface="Open Sans"/>
                <a:sym typeface="Open Sans"/>
              </a:rPr>
              <a:t> </a:t>
            </a:r>
            <a:r>
              <a:rPr lang="en-US" sz="2166" strike="noStrike" u="none">
                <a:solidFill>
                  <a:srgbClr val="000000"/>
                </a:solidFill>
                <a:latin typeface="Open Sans"/>
                <a:ea typeface="Open Sans"/>
                <a:cs typeface="Open Sans"/>
                <a:sym typeface="Open Sans"/>
              </a:rPr>
              <a:t>Ca</a:t>
            </a:r>
            <a:r>
              <a:rPr lang="en-US" sz="2166" strike="noStrike" u="none">
                <a:solidFill>
                  <a:srgbClr val="000000"/>
                </a:solidFill>
                <a:latin typeface="Open Sans"/>
                <a:ea typeface="Open Sans"/>
                <a:cs typeface="Open Sans"/>
                <a:sym typeface="Open Sans"/>
              </a:rPr>
              <a:t>d</a:t>
            </a:r>
            <a:r>
              <a:rPr lang="en-US" sz="2166" strike="noStrike" u="none">
                <a:solidFill>
                  <a:srgbClr val="000000"/>
                </a:solidFill>
                <a:latin typeface="Open Sans"/>
                <a:ea typeface="Open Sans"/>
                <a:cs typeface="Open Sans"/>
                <a:sym typeface="Open Sans"/>
              </a:rPr>
              <a:t>a </a:t>
            </a:r>
            <a:r>
              <a:rPr lang="en-US" sz="2166" strike="noStrike" u="none">
                <a:solidFill>
                  <a:srgbClr val="000000"/>
                </a:solidFill>
                <a:latin typeface="Open Sans"/>
                <a:ea typeface="Open Sans"/>
                <a:cs typeface="Open Sans"/>
                <a:sym typeface="Open Sans"/>
              </a:rPr>
              <a:t>e</a:t>
            </a:r>
            <a:r>
              <a:rPr lang="en-US" sz="2166" strike="noStrike" u="none">
                <a:solidFill>
                  <a:srgbClr val="000000"/>
                </a:solidFill>
                <a:latin typeface="Open Sans"/>
                <a:ea typeface="Open Sans"/>
                <a:cs typeface="Open Sans"/>
                <a:sym typeface="Open Sans"/>
              </a:rPr>
              <a:t>structura</a:t>
            </a:r>
            <a:r>
              <a:rPr lang="en-US" sz="2166" strike="noStrike" u="none">
                <a:solidFill>
                  <a:srgbClr val="000000"/>
                </a:solidFill>
                <a:latin typeface="Open Sans"/>
                <a:ea typeface="Open Sans"/>
                <a:cs typeface="Open Sans"/>
                <a:sym typeface="Open Sans"/>
              </a:rPr>
              <a:t> t</a:t>
            </a:r>
            <a:r>
              <a:rPr lang="en-US" sz="2166" strike="noStrike" u="none">
                <a:solidFill>
                  <a:srgbClr val="000000"/>
                </a:solidFill>
                <a:latin typeface="Open Sans"/>
                <a:ea typeface="Open Sans"/>
                <a:cs typeface="Open Sans"/>
                <a:sym typeface="Open Sans"/>
              </a:rPr>
              <a:t>i</a:t>
            </a:r>
            <a:r>
              <a:rPr lang="en-US" sz="2166" strike="noStrike" u="none">
                <a:solidFill>
                  <a:srgbClr val="000000"/>
                </a:solidFill>
                <a:latin typeface="Open Sans"/>
                <a:ea typeface="Open Sans"/>
                <a:cs typeface="Open Sans"/>
                <a:sym typeface="Open Sans"/>
              </a:rPr>
              <a:t>e</a:t>
            </a:r>
            <a:r>
              <a:rPr lang="en-US" sz="2166" strike="noStrike" u="none">
                <a:solidFill>
                  <a:srgbClr val="000000"/>
                </a:solidFill>
                <a:latin typeface="Open Sans"/>
                <a:ea typeface="Open Sans"/>
                <a:cs typeface="Open Sans"/>
                <a:sym typeface="Open Sans"/>
              </a:rPr>
              <a:t>ne su propio submenú con las opciones de agregar, eliminar y mos</a:t>
            </a:r>
            <a:r>
              <a:rPr lang="en-US" sz="2166" strike="noStrike" u="none">
                <a:solidFill>
                  <a:srgbClr val="000000"/>
                </a:solidFill>
                <a:latin typeface="Open Sans"/>
                <a:ea typeface="Open Sans"/>
                <a:cs typeface="Open Sans"/>
                <a:sym typeface="Open Sans"/>
              </a:rPr>
              <a:t>t</a:t>
            </a:r>
            <a:r>
              <a:rPr lang="en-US" sz="2166" strike="noStrike" u="none">
                <a:solidFill>
                  <a:srgbClr val="000000"/>
                </a:solidFill>
                <a:latin typeface="Open Sans"/>
                <a:ea typeface="Open Sans"/>
                <a:cs typeface="Open Sans"/>
                <a:sym typeface="Open Sans"/>
              </a:rPr>
              <a:t>rar l</a:t>
            </a:r>
            <a:r>
              <a:rPr lang="en-US" sz="2166" strike="noStrike" u="none">
                <a:solidFill>
                  <a:srgbClr val="000000"/>
                </a:solidFill>
                <a:latin typeface="Open Sans"/>
                <a:ea typeface="Open Sans"/>
                <a:cs typeface="Open Sans"/>
                <a:sym typeface="Open Sans"/>
              </a:rPr>
              <a:t>o</a:t>
            </a:r>
            <a:r>
              <a:rPr lang="en-US" sz="2166" strike="noStrike" u="none">
                <a:solidFill>
                  <a:srgbClr val="000000"/>
                </a:solidFill>
                <a:latin typeface="Open Sans"/>
                <a:ea typeface="Open Sans"/>
                <a:cs typeface="Open Sans"/>
                <a:sym typeface="Open Sans"/>
              </a:rPr>
              <a:t>s procesos almacenados.</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a:off x="-1130260" y="9277350"/>
            <a:ext cx="20548521" cy="0"/>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820488" y="-3456152"/>
            <a:ext cx="0" cy="20548521"/>
          </a:xfrm>
          <a:prstGeom prst="line">
            <a:avLst/>
          </a:prstGeom>
          <a:ln cap="flat" w="38100">
            <a:solidFill>
              <a:srgbClr val="000000"/>
            </a:solidFill>
            <a:prstDash val="solid"/>
            <a:headEnd type="none" len="sm" w="sm"/>
            <a:tailEnd type="none" len="sm" w="sm"/>
          </a:ln>
        </p:spPr>
      </p:sp>
      <p:sp>
        <p:nvSpPr>
          <p:cNvPr name="AutoShape 5" id="5"/>
          <p:cNvSpPr/>
          <p:nvPr/>
        </p:nvSpPr>
        <p:spPr>
          <a:xfrm flipV="true">
            <a:off x="16486562" y="-3456152"/>
            <a:ext cx="0" cy="20548521"/>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1376464">
            <a:off x="15742396" y="2845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376464">
            <a:off x="1076321" y="853318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1255199">
            <a:off x="15742396" y="85141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114181" y="2531518"/>
            <a:ext cx="6538462" cy="2231029"/>
          </a:xfrm>
          <a:custGeom>
            <a:avLst/>
            <a:gdLst/>
            <a:ahLst/>
            <a:cxnLst/>
            <a:rect r="r" b="b" t="t" l="l"/>
            <a:pathLst>
              <a:path h="2231029" w="6538462">
                <a:moveTo>
                  <a:pt x="0" y="0"/>
                </a:moveTo>
                <a:lnTo>
                  <a:pt x="6538462" y="0"/>
                </a:lnTo>
                <a:lnTo>
                  <a:pt x="6538462" y="2231029"/>
                </a:lnTo>
                <a:lnTo>
                  <a:pt x="0" y="2231029"/>
                </a:lnTo>
                <a:lnTo>
                  <a:pt x="0" y="0"/>
                </a:lnTo>
                <a:close/>
              </a:path>
            </a:pathLst>
          </a:custGeom>
          <a:blipFill>
            <a:blip r:embed="rId4"/>
            <a:stretch>
              <a:fillRect l="0" t="0" r="0" b="0"/>
            </a:stretch>
          </a:blipFill>
        </p:spPr>
      </p:sp>
      <p:sp>
        <p:nvSpPr>
          <p:cNvPr name="TextBox 10" id="10"/>
          <p:cNvSpPr txBox="true"/>
          <p:nvPr/>
        </p:nvSpPr>
        <p:spPr>
          <a:xfrm rot="0">
            <a:off x="2114181" y="962025"/>
            <a:ext cx="6157287" cy="629920"/>
          </a:xfrm>
          <a:prstGeom prst="rect">
            <a:avLst/>
          </a:prstGeom>
        </p:spPr>
        <p:txBody>
          <a:bodyPr anchor="t" rtlCol="false" tIns="0" lIns="0" bIns="0" rIns="0">
            <a:spAutoFit/>
          </a:bodyPr>
          <a:lstStyle/>
          <a:p>
            <a:pPr algn="l">
              <a:lnSpc>
                <a:spcPts val="5179"/>
              </a:lnSpc>
            </a:pPr>
            <a:r>
              <a:rPr lang="en-US" sz="3699" b="true">
                <a:solidFill>
                  <a:srgbClr val="1E1D1C"/>
                </a:solidFill>
                <a:latin typeface="Tex Gyre Termes Bold"/>
                <a:ea typeface="Tex Gyre Termes Bold"/>
                <a:cs typeface="Tex Gyre Termes Bold"/>
                <a:sym typeface="Tex Gyre Termes Bold"/>
              </a:rPr>
              <a:t>Int main:</a:t>
            </a:r>
          </a:p>
        </p:txBody>
      </p:sp>
      <p:sp>
        <p:nvSpPr>
          <p:cNvPr name="TextBox 11" id="11"/>
          <p:cNvSpPr txBox="true"/>
          <p:nvPr/>
        </p:nvSpPr>
        <p:spPr>
          <a:xfrm rot="0">
            <a:off x="8879161" y="2493418"/>
            <a:ext cx="6632029" cy="2364105"/>
          </a:xfrm>
          <a:prstGeom prst="rect">
            <a:avLst/>
          </a:prstGeom>
        </p:spPr>
        <p:txBody>
          <a:bodyPr anchor="t" rtlCol="false" tIns="0" lIns="0" bIns="0" rIns="0">
            <a:spAutoFit/>
          </a:bodyPr>
          <a:lstStyle/>
          <a:p>
            <a:pPr algn="l" marL="453396" indent="-226698" lvl="1">
              <a:lnSpc>
                <a:spcPts val="2940"/>
              </a:lnSpc>
              <a:spcBef>
                <a:spcPct val="0"/>
              </a:spcBef>
              <a:buFont typeface="Arial"/>
              <a:buChar char="•"/>
            </a:pPr>
            <a:r>
              <a:rPr lang="en-US" sz="2100">
                <a:solidFill>
                  <a:srgbClr val="000000"/>
                </a:solidFill>
                <a:latin typeface="Open Sans"/>
                <a:ea typeface="Open Sans"/>
                <a:cs typeface="Open Sans"/>
                <a:sym typeface="Open Sans"/>
              </a:rPr>
              <a:t>Est</a:t>
            </a:r>
            <a:r>
              <a:rPr lang="en-US" sz="2100" strike="noStrike" u="none">
                <a:solidFill>
                  <a:srgbClr val="000000"/>
                </a:solidFill>
                <a:latin typeface="Open Sans"/>
                <a:ea typeface="Open Sans"/>
                <a:cs typeface="Open Sans"/>
                <a:sym typeface="Open Sans"/>
              </a:rPr>
              <a:t>a </a:t>
            </a:r>
            <a:r>
              <a:rPr lang="en-US" sz="2100" strike="noStrike" u="none">
                <a:solidFill>
                  <a:srgbClr val="000000"/>
                </a:solidFill>
                <a:latin typeface="Open Sans"/>
                <a:ea typeface="Open Sans"/>
                <a:cs typeface="Open Sans"/>
                <a:sym typeface="Open Sans"/>
              </a:rPr>
              <a:t>es la f</a:t>
            </a:r>
            <a:r>
              <a:rPr lang="en-US" sz="2100" strike="noStrike" u="none">
                <a:solidFill>
                  <a:srgbClr val="000000"/>
                </a:solidFill>
                <a:latin typeface="Open Sans"/>
                <a:ea typeface="Open Sans"/>
                <a:cs typeface="Open Sans"/>
                <a:sym typeface="Open Sans"/>
              </a:rPr>
              <a:t>un</a:t>
            </a:r>
            <a:r>
              <a:rPr lang="en-US" sz="2100" strike="noStrike" u="none">
                <a:solidFill>
                  <a:srgbClr val="000000"/>
                </a:solidFill>
                <a:latin typeface="Open Sans"/>
                <a:ea typeface="Open Sans"/>
                <a:cs typeface="Open Sans"/>
                <a:sym typeface="Open Sans"/>
              </a:rPr>
              <a:t>ción</a:t>
            </a:r>
            <a:r>
              <a:rPr lang="en-US" sz="2100" strike="noStrike" u="none">
                <a:solidFill>
                  <a:srgbClr val="000000"/>
                </a:solidFill>
                <a:latin typeface="Open Sans"/>
                <a:ea typeface="Open Sans"/>
                <a:cs typeface="Open Sans"/>
                <a:sym typeface="Open Sans"/>
              </a:rPr>
              <a:t> p</a:t>
            </a:r>
            <a:r>
              <a:rPr lang="en-US" sz="2100" strike="noStrike" u="none">
                <a:solidFill>
                  <a:srgbClr val="000000"/>
                </a:solidFill>
                <a:latin typeface="Open Sans"/>
                <a:ea typeface="Open Sans"/>
                <a:cs typeface="Open Sans"/>
                <a:sym typeface="Open Sans"/>
              </a:rPr>
              <a:t>rincipal.</a:t>
            </a:r>
          </a:p>
          <a:p>
            <a:pPr algn="l" marL="453396" indent="-226698" lvl="1">
              <a:lnSpc>
                <a:spcPts val="2940"/>
              </a:lnSpc>
              <a:spcBef>
                <a:spcPct val="0"/>
              </a:spcBef>
              <a:buFont typeface="Arial"/>
              <a:buChar char="•"/>
            </a:pPr>
            <a:r>
              <a:rPr lang="en-US" sz="2100" strike="noStrike" u="none">
                <a:solidFill>
                  <a:srgbClr val="000000"/>
                </a:solidFill>
                <a:latin typeface="Open Sans"/>
                <a:ea typeface="Open Sans"/>
                <a:cs typeface="Open Sans"/>
                <a:sym typeface="Open Sans"/>
              </a:rPr>
              <a:t>Llama a m</a:t>
            </a:r>
            <a:r>
              <a:rPr lang="en-US" sz="2100" strike="noStrike" u="none">
                <a:solidFill>
                  <a:srgbClr val="000000"/>
                </a:solidFill>
                <a:latin typeface="Open Sans"/>
                <a:ea typeface="Open Sans"/>
                <a:cs typeface="Open Sans"/>
                <a:sym typeface="Open Sans"/>
              </a:rPr>
              <a:t>o</a:t>
            </a:r>
            <a:r>
              <a:rPr lang="en-US" sz="2100" strike="noStrike" u="none">
                <a:solidFill>
                  <a:srgbClr val="000000"/>
                </a:solidFill>
                <a:latin typeface="Open Sans"/>
                <a:ea typeface="Open Sans"/>
                <a:cs typeface="Open Sans"/>
                <a:sym typeface="Open Sans"/>
              </a:rPr>
              <a:t>strarMenuPrin</a:t>
            </a:r>
            <a:r>
              <a:rPr lang="en-US" sz="2100" strike="noStrike" u="none">
                <a:solidFill>
                  <a:srgbClr val="000000"/>
                </a:solidFill>
                <a:latin typeface="Open Sans"/>
                <a:ea typeface="Open Sans"/>
                <a:cs typeface="Open Sans"/>
                <a:sym typeface="Open Sans"/>
              </a:rPr>
              <a:t>c</a:t>
            </a:r>
            <a:r>
              <a:rPr lang="en-US" sz="2100" strike="noStrike" u="none">
                <a:solidFill>
                  <a:srgbClr val="000000"/>
                </a:solidFill>
                <a:latin typeface="Open Sans"/>
                <a:ea typeface="Open Sans"/>
                <a:cs typeface="Open Sans"/>
                <a:sym typeface="Open Sans"/>
              </a:rPr>
              <a:t>ipal(), l</a:t>
            </a:r>
            <a:r>
              <a:rPr lang="en-US" sz="2100" strike="noStrike" u="none">
                <a:solidFill>
                  <a:srgbClr val="000000"/>
                </a:solidFill>
                <a:latin typeface="Open Sans"/>
                <a:ea typeface="Open Sans"/>
                <a:cs typeface="Open Sans"/>
                <a:sym typeface="Open Sans"/>
              </a:rPr>
              <a:t>o </a:t>
            </a:r>
            <a:r>
              <a:rPr lang="en-US" sz="2100" strike="noStrike" u="none">
                <a:solidFill>
                  <a:srgbClr val="000000"/>
                </a:solidFill>
                <a:latin typeface="Open Sans"/>
                <a:ea typeface="Open Sans"/>
                <a:cs typeface="Open Sans"/>
                <a:sym typeface="Open Sans"/>
              </a:rPr>
              <a:t>que inicia to</a:t>
            </a:r>
            <a:r>
              <a:rPr lang="en-US" sz="2100" strike="noStrike" u="none">
                <a:solidFill>
                  <a:srgbClr val="000000"/>
                </a:solidFill>
                <a:latin typeface="Open Sans"/>
                <a:ea typeface="Open Sans"/>
                <a:cs typeface="Open Sans"/>
                <a:sym typeface="Open Sans"/>
              </a:rPr>
              <a:t>d</a:t>
            </a:r>
            <a:r>
              <a:rPr lang="en-US" sz="2100" strike="noStrike" u="none">
                <a:solidFill>
                  <a:srgbClr val="000000"/>
                </a:solidFill>
                <a:latin typeface="Open Sans"/>
                <a:ea typeface="Open Sans"/>
                <a:cs typeface="Open Sans"/>
                <a:sym typeface="Open Sans"/>
              </a:rPr>
              <a:t>o </a:t>
            </a:r>
            <a:r>
              <a:rPr lang="en-US" sz="2100" strike="noStrike" u="none">
                <a:solidFill>
                  <a:srgbClr val="000000"/>
                </a:solidFill>
                <a:latin typeface="Open Sans"/>
                <a:ea typeface="Open Sans"/>
                <a:cs typeface="Open Sans"/>
                <a:sym typeface="Open Sans"/>
              </a:rPr>
              <a:t>e</a:t>
            </a:r>
            <a:r>
              <a:rPr lang="en-US" sz="2100" strike="noStrike" u="none">
                <a:solidFill>
                  <a:srgbClr val="000000"/>
                </a:solidFill>
                <a:latin typeface="Open Sans"/>
                <a:ea typeface="Open Sans"/>
                <a:cs typeface="Open Sans"/>
                <a:sym typeface="Open Sans"/>
              </a:rPr>
              <a:t>l</a:t>
            </a:r>
            <a:r>
              <a:rPr lang="en-US" sz="2100" strike="noStrike" u="none">
                <a:solidFill>
                  <a:srgbClr val="000000"/>
                </a:solidFill>
                <a:latin typeface="Open Sans"/>
                <a:ea typeface="Open Sans"/>
                <a:cs typeface="Open Sans"/>
                <a:sym typeface="Open Sans"/>
              </a:rPr>
              <a:t> </a:t>
            </a:r>
            <a:r>
              <a:rPr lang="en-US" sz="2100" strike="noStrike" u="none">
                <a:solidFill>
                  <a:srgbClr val="000000"/>
                </a:solidFill>
                <a:latin typeface="Open Sans"/>
                <a:ea typeface="Open Sans"/>
                <a:cs typeface="Open Sans"/>
                <a:sym typeface="Open Sans"/>
              </a:rPr>
              <a:t>programa.</a:t>
            </a:r>
          </a:p>
          <a:p>
            <a:pPr algn="l" marL="453396" indent="-226698" lvl="1">
              <a:lnSpc>
                <a:spcPts val="2940"/>
              </a:lnSpc>
              <a:spcBef>
                <a:spcPct val="0"/>
              </a:spcBef>
              <a:buFont typeface="Arial"/>
              <a:buChar char="•"/>
            </a:pPr>
            <a:r>
              <a:rPr lang="en-US" sz="2100" strike="noStrike" u="none">
                <a:solidFill>
                  <a:srgbClr val="000000"/>
                </a:solidFill>
                <a:latin typeface="Open Sans"/>
                <a:ea typeface="Open Sans"/>
                <a:cs typeface="Open Sans"/>
                <a:sym typeface="Open Sans"/>
              </a:rPr>
              <a:t>re</a:t>
            </a:r>
            <a:r>
              <a:rPr lang="en-US" sz="2100" strike="noStrike" u="none">
                <a:solidFill>
                  <a:srgbClr val="000000"/>
                </a:solidFill>
                <a:latin typeface="Open Sans"/>
                <a:ea typeface="Open Sans"/>
                <a:cs typeface="Open Sans"/>
                <a:sym typeface="Open Sans"/>
              </a:rPr>
              <a:t>t</a:t>
            </a:r>
            <a:r>
              <a:rPr lang="en-US" sz="2100" strike="noStrike" u="none">
                <a:solidFill>
                  <a:srgbClr val="000000"/>
                </a:solidFill>
                <a:latin typeface="Open Sans"/>
                <a:ea typeface="Open Sans"/>
                <a:cs typeface="Open Sans"/>
                <a:sym typeface="Open Sans"/>
              </a:rPr>
              <a:t>urn 0 indica qu</a:t>
            </a:r>
            <a:r>
              <a:rPr lang="en-US" sz="2100" strike="noStrike" u="none">
                <a:solidFill>
                  <a:srgbClr val="000000"/>
                </a:solidFill>
                <a:latin typeface="Open Sans"/>
                <a:ea typeface="Open Sans"/>
                <a:cs typeface="Open Sans"/>
                <a:sym typeface="Open Sans"/>
              </a:rPr>
              <a:t>e</a:t>
            </a:r>
            <a:r>
              <a:rPr lang="en-US" sz="2100" strike="noStrike" u="none">
                <a:solidFill>
                  <a:srgbClr val="000000"/>
                </a:solidFill>
                <a:latin typeface="Open Sans"/>
                <a:ea typeface="Open Sans"/>
                <a:cs typeface="Open Sans"/>
                <a:sym typeface="Open Sans"/>
              </a:rPr>
              <a:t> el programa </a:t>
            </a:r>
            <a:r>
              <a:rPr lang="en-US" sz="2100" strike="noStrike" u="none">
                <a:solidFill>
                  <a:srgbClr val="000000"/>
                </a:solidFill>
                <a:latin typeface="Open Sans"/>
                <a:ea typeface="Open Sans"/>
                <a:cs typeface="Open Sans"/>
                <a:sym typeface="Open Sans"/>
              </a:rPr>
              <a:t>t</a:t>
            </a:r>
            <a:r>
              <a:rPr lang="en-US" sz="2100" strike="noStrike" u="none">
                <a:solidFill>
                  <a:srgbClr val="000000"/>
                </a:solidFill>
                <a:latin typeface="Open Sans"/>
                <a:ea typeface="Open Sans"/>
                <a:cs typeface="Open Sans"/>
                <a:sym typeface="Open Sans"/>
              </a:rPr>
              <a:t>erminó c</a:t>
            </a:r>
            <a:r>
              <a:rPr lang="en-US" sz="2100" strike="noStrike" u="none">
                <a:solidFill>
                  <a:srgbClr val="000000"/>
                </a:solidFill>
                <a:latin typeface="Open Sans"/>
                <a:ea typeface="Open Sans"/>
                <a:cs typeface="Open Sans"/>
                <a:sym typeface="Open Sans"/>
              </a:rPr>
              <a:t>o</a:t>
            </a:r>
            <a:r>
              <a:rPr lang="en-US" sz="2100" strike="noStrike" u="none">
                <a:solidFill>
                  <a:srgbClr val="000000"/>
                </a:solidFill>
                <a:latin typeface="Open Sans"/>
                <a:ea typeface="Open Sans"/>
                <a:cs typeface="Open Sans"/>
                <a:sym typeface="Open Sans"/>
              </a:rPr>
              <a:t>rrectamente.</a:t>
            </a:r>
          </a:p>
          <a:p>
            <a:pPr algn="ctr" marL="0" indent="0" lvl="0">
              <a:lnSpc>
                <a:spcPts val="4200"/>
              </a:lnSpc>
              <a:spcBef>
                <a:spcPct val="0"/>
              </a:spcBef>
            </a:pPr>
          </a:p>
        </p:txBody>
      </p:sp>
      <p:sp>
        <p:nvSpPr>
          <p:cNvPr name="TextBox 12" id="12"/>
          <p:cNvSpPr txBox="true"/>
          <p:nvPr/>
        </p:nvSpPr>
        <p:spPr>
          <a:xfrm rot="0">
            <a:off x="2114181" y="4860926"/>
            <a:ext cx="10415399" cy="4216994"/>
          </a:xfrm>
          <a:prstGeom prst="rect">
            <a:avLst/>
          </a:prstGeom>
        </p:spPr>
        <p:txBody>
          <a:bodyPr anchor="t" rtlCol="false" tIns="0" lIns="0" bIns="0" rIns="0">
            <a:spAutoFit/>
          </a:bodyPr>
          <a:lstStyle/>
          <a:p>
            <a:pPr algn="just" marL="0" indent="0" lvl="0">
              <a:lnSpc>
                <a:spcPts val="2805"/>
              </a:lnSpc>
              <a:spcBef>
                <a:spcPct val="0"/>
              </a:spcBef>
            </a:pPr>
            <a:r>
              <a:rPr lang="en-US" sz="2004">
                <a:solidFill>
                  <a:srgbClr val="000000"/>
                </a:solidFill>
                <a:latin typeface="Open Sans"/>
                <a:ea typeface="Open Sans"/>
                <a:cs typeface="Open Sans"/>
                <a:sym typeface="Open Sans"/>
              </a:rPr>
              <a:t>2. mostr</a:t>
            </a:r>
            <a:r>
              <a:rPr lang="en-US" sz="2004" strike="noStrike" u="none">
                <a:solidFill>
                  <a:srgbClr val="000000"/>
                </a:solidFill>
                <a:latin typeface="Open Sans"/>
                <a:ea typeface="Open Sans"/>
                <a:cs typeface="Open Sans"/>
                <a:sym typeface="Open Sans"/>
              </a:rPr>
              <a:t>a</a:t>
            </a:r>
            <a:r>
              <a:rPr lang="en-US" sz="2004" strike="noStrike" u="none">
                <a:solidFill>
                  <a:srgbClr val="000000"/>
                </a:solidFill>
                <a:latin typeface="Open Sans"/>
                <a:ea typeface="Open Sans"/>
                <a:cs typeface="Open Sans"/>
                <a:sym typeface="Open Sans"/>
              </a:rPr>
              <a:t>rMenuPrincipal()</a:t>
            </a:r>
          </a:p>
          <a:p>
            <a:pPr algn="just" marL="432700" indent="-216350" lvl="1">
              <a:lnSpc>
                <a:spcPts val="2805"/>
              </a:lnSpc>
              <a:spcBef>
                <a:spcPct val="0"/>
              </a:spcBef>
              <a:buFont typeface="Arial"/>
              <a:buChar char="•"/>
            </a:pPr>
            <a:r>
              <a:rPr lang="en-US" sz="2004" strike="noStrike" u="none">
                <a:solidFill>
                  <a:srgbClr val="000000"/>
                </a:solidFill>
                <a:latin typeface="Open Sans"/>
                <a:ea typeface="Open Sans"/>
                <a:cs typeface="Open Sans"/>
                <a:sym typeface="Open Sans"/>
              </a:rPr>
              <a:t>Muestra un menú con </a:t>
            </a:r>
            <a:r>
              <a:rPr lang="en-US" sz="2004" strike="noStrike" u="none">
                <a:solidFill>
                  <a:srgbClr val="000000"/>
                </a:solidFill>
                <a:latin typeface="Open Sans"/>
                <a:ea typeface="Open Sans"/>
                <a:cs typeface="Open Sans"/>
                <a:sym typeface="Open Sans"/>
              </a:rPr>
              <a:t>d</a:t>
            </a:r>
            <a:r>
              <a:rPr lang="en-US" sz="2004" strike="noStrike" u="none">
                <a:solidFill>
                  <a:srgbClr val="000000"/>
                </a:solidFill>
                <a:latin typeface="Open Sans"/>
                <a:ea typeface="Open Sans"/>
                <a:cs typeface="Open Sans"/>
                <a:sym typeface="Open Sans"/>
              </a:rPr>
              <a:t>os opc</a:t>
            </a:r>
            <a:r>
              <a:rPr lang="en-US" sz="2004" strike="noStrike" u="none">
                <a:solidFill>
                  <a:srgbClr val="000000"/>
                </a:solidFill>
                <a:latin typeface="Open Sans"/>
                <a:ea typeface="Open Sans"/>
                <a:cs typeface="Open Sans"/>
                <a:sym typeface="Open Sans"/>
              </a:rPr>
              <a:t>i</a:t>
            </a:r>
            <a:r>
              <a:rPr lang="en-US" sz="2004" strike="noStrike" u="none">
                <a:solidFill>
                  <a:srgbClr val="000000"/>
                </a:solidFill>
                <a:latin typeface="Open Sans"/>
                <a:ea typeface="Open Sans"/>
                <a:cs typeface="Open Sans"/>
                <a:sym typeface="Open Sans"/>
              </a:rPr>
              <a:t>ones:</a:t>
            </a:r>
          </a:p>
          <a:p>
            <a:pPr algn="just" marL="865399" indent="-288466" lvl="2">
              <a:lnSpc>
                <a:spcPts val="2805"/>
              </a:lnSpc>
              <a:buAutoNum type="alphaLcPeriod" startAt="1"/>
            </a:pPr>
            <a:r>
              <a:rPr lang="en-US" sz="2004" strike="noStrike" u="none">
                <a:solidFill>
                  <a:srgbClr val="000000"/>
                </a:solidFill>
                <a:latin typeface="Open Sans"/>
                <a:ea typeface="Open Sans"/>
                <a:cs typeface="Open Sans"/>
                <a:sym typeface="Open Sans"/>
              </a:rPr>
              <a:t>I</a:t>
            </a:r>
            <a:r>
              <a:rPr lang="en-US" sz="2004" strike="noStrike" u="none">
                <a:solidFill>
                  <a:srgbClr val="000000"/>
                </a:solidFill>
                <a:latin typeface="Open Sans"/>
                <a:ea typeface="Open Sans"/>
                <a:cs typeface="Open Sans"/>
                <a:sym typeface="Open Sans"/>
              </a:rPr>
              <a:t>r </a:t>
            </a:r>
            <a:r>
              <a:rPr lang="en-US" sz="2004" strike="noStrike" u="none">
                <a:solidFill>
                  <a:srgbClr val="000000"/>
                </a:solidFill>
                <a:latin typeface="Open Sans"/>
                <a:ea typeface="Open Sans"/>
                <a:cs typeface="Open Sans"/>
                <a:sym typeface="Open Sans"/>
              </a:rPr>
              <a:t>a gestión de procesos.</a:t>
            </a:r>
          </a:p>
          <a:p>
            <a:pPr algn="just" marL="865399" indent="-288466" lvl="2">
              <a:lnSpc>
                <a:spcPts val="2805"/>
              </a:lnSpc>
              <a:spcBef>
                <a:spcPct val="0"/>
              </a:spcBef>
              <a:buAutoNum type="alphaLcPeriod" startAt="1"/>
            </a:pPr>
            <a:r>
              <a:rPr lang="en-US" sz="2004" strike="noStrike" u="none">
                <a:solidFill>
                  <a:srgbClr val="000000"/>
                </a:solidFill>
                <a:latin typeface="Open Sans"/>
                <a:ea typeface="Open Sans"/>
                <a:cs typeface="Open Sans"/>
                <a:sym typeface="Open Sans"/>
              </a:rPr>
              <a:t>Salir.</a:t>
            </a:r>
          </a:p>
          <a:p>
            <a:pPr algn="just" marL="432700" indent="-216350" lvl="1">
              <a:lnSpc>
                <a:spcPts val="2805"/>
              </a:lnSpc>
              <a:spcBef>
                <a:spcPct val="0"/>
              </a:spcBef>
              <a:buFont typeface="Arial"/>
              <a:buChar char="•"/>
            </a:pPr>
            <a:r>
              <a:rPr lang="en-US" sz="2004" strike="noStrike" u="none">
                <a:solidFill>
                  <a:srgbClr val="000000"/>
                </a:solidFill>
                <a:latin typeface="Open Sans"/>
                <a:ea typeface="Open Sans"/>
                <a:cs typeface="Open Sans"/>
                <a:sym typeface="Open Sans"/>
              </a:rPr>
              <a:t>Si eliges la opción 1, se llama a men</a:t>
            </a:r>
            <a:r>
              <a:rPr lang="en-US" sz="2004" strike="noStrike" u="none">
                <a:solidFill>
                  <a:srgbClr val="000000"/>
                </a:solidFill>
                <a:latin typeface="Open Sans"/>
                <a:ea typeface="Open Sans"/>
                <a:cs typeface="Open Sans"/>
                <a:sym typeface="Open Sans"/>
              </a:rPr>
              <a:t>u</a:t>
            </a:r>
            <a:r>
              <a:rPr lang="en-US" sz="2004" strike="noStrike" u="none">
                <a:solidFill>
                  <a:srgbClr val="000000"/>
                </a:solidFill>
                <a:latin typeface="Open Sans"/>
                <a:ea typeface="Open Sans"/>
                <a:cs typeface="Open Sans"/>
                <a:sym typeface="Open Sans"/>
              </a:rPr>
              <a:t>Procesos().</a:t>
            </a:r>
          </a:p>
          <a:p>
            <a:pPr algn="just" marL="0" indent="0" lvl="0">
              <a:lnSpc>
                <a:spcPts val="2805"/>
              </a:lnSpc>
              <a:spcBef>
                <a:spcPct val="0"/>
              </a:spcBef>
            </a:pPr>
            <a:r>
              <a:rPr lang="en-US" sz="2004" strike="noStrike" u="none">
                <a:solidFill>
                  <a:srgbClr val="000000"/>
                </a:solidFill>
                <a:latin typeface="Open Sans"/>
                <a:ea typeface="Open Sans"/>
                <a:cs typeface="Open Sans"/>
                <a:sym typeface="Open Sans"/>
              </a:rPr>
              <a:t>3. me</a:t>
            </a:r>
            <a:r>
              <a:rPr lang="en-US" sz="2004" strike="noStrike" u="none">
                <a:solidFill>
                  <a:srgbClr val="000000"/>
                </a:solidFill>
                <a:latin typeface="Open Sans"/>
                <a:ea typeface="Open Sans"/>
                <a:cs typeface="Open Sans"/>
                <a:sym typeface="Open Sans"/>
              </a:rPr>
              <a:t>n</a:t>
            </a:r>
            <a:r>
              <a:rPr lang="en-US" sz="2004" strike="noStrike" u="none">
                <a:solidFill>
                  <a:srgbClr val="000000"/>
                </a:solidFill>
                <a:latin typeface="Open Sans"/>
                <a:ea typeface="Open Sans"/>
                <a:cs typeface="Open Sans"/>
                <a:sym typeface="Open Sans"/>
              </a:rPr>
              <a:t>uProcesos()</a:t>
            </a:r>
          </a:p>
          <a:p>
            <a:pPr algn="just" marL="432700" indent="-216350" lvl="1">
              <a:lnSpc>
                <a:spcPts val="2805"/>
              </a:lnSpc>
              <a:spcBef>
                <a:spcPct val="0"/>
              </a:spcBef>
              <a:buFont typeface="Arial"/>
              <a:buChar char="•"/>
            </a:pPr>
            <a:r>
              <a:rPr lang="en-US" sz="2004" strike="noStrike" u="none">
                <a:solidFill>
                  <a:srgbClr val="000000"/>
                </a:solidFill>
                <a:latin typeface="Open Sans"/>
                <a:ea typeface="Open Sans"/>
                <a:cs typeface="Open Sans"/>
                <a:sym typeface="Open Sans"/>
              </a:rPr>
              <a:t>Tiene</a:t>
            </a:r>
            <a:r>
              <a:rPr lang="en-US" sz="2004" strike="noStrike" u="none">
                <a:solidFill>
                  <a:srgbClr val="000000"/>
                </a:solidFill>
                <a:latin typeface="Open Sans"/>
                <a:ea typeface="Open Sans"/>
                <a:cs typeface="Open Sans"/>
                <a:sym typeface="Open Sans"/>
              </a:rPr>
              <a:t> </a:t>
            </a:r>
            <a:r>
              <a:rPr lang="en-US" sz="2004" strike="noStrike" u="none">
                <a:solidFill>
                  <a:srgbClr val="000000"/>
                </a:solidFill>
                <a:latin typeface="Open Sans"/>
                <a:ea typeface="Open Sans"/>
                <a:cs typeface="Open Sans"/>
                <a:sym typeface="Open Sans"/>
              </a:rPr>
              <a:t>3 o</a:t>
            </a:r>
            <a:r>
              <a:rPr lang="en-US" sz="2004" strike="noStrike" u="none">
                <a:solidFill>
                  <a:srgbClr val="000000"/>
                </a:solidFill>
                <a:latin typeface="Open Sans"/>
                <a:ea typeface="Open Sans"/>
                <a:cs typeface="Open Sans"/>
                <a:sym typeface="Open Sans"/>
              </a:rPr>
              <a:t>p</a:t>
            </a:r>
            <a:r>
              <a:rPr lang="en-US" sz="2004" strike="noStrike" u="none">
                <a:solidFill>
                  <a:srgbClr val="000000"/>
                </a:solidFill>
                <a:latin typeface="Open Sans"/>
                <a:ea typeface="Open Sans"/>
                <a:cs typeface="Open Sans"/>
                <a:sym typeface="Open Sans"/>
              </a:rPr>
              <a:t>ciones:</a:t>
            </a:r>
          </a:p>
          <a:p>
            <a:pPr algn="just" marL="865399" indent="-288466" lvl="2">
              <a:lnSpc>
                <a:spcPts val="2805"/>
              </a:lnSpc>
              <a:spcBef>
                <a:spcPct val="0"/>
              </a:spcBef>
              <a:buAutoNum type="alphaLcPeriod" startAt="1"/>
            </a:pPr>
            <a:r>
              <a:rPr lang="en-US" sz="2004" strike="noStrike" u="none">
                <a:solidFill>
                  <a:srgbClr val="000000"/>
                </a:solidFill>
                <a:latin typeface="Open Sans"/>
                <a:ea typeface="Open Sans"/>
                <a:cs typeface="Open Sans"/>
                <a:sym typeface="Open Sans"/>
              </a:rPr>
              <a:t>Pila de pr</a:t>
            </a:r>
            <a:r>
              <a:rPr lang="en-US" sz="2004" strike="noStrike" u="none">
                <a:solidFill>
                  <a:srgbClr val="000000"/>
                </a:solidFill>
                <a:latin typeface="Open Sans"/>
                <a:ea typeface="Open Sans"/>
                <a:cs typeface="Open Sans"/>
                <a:sym typeface="Open Sans"/>
              </a:rPr>
              <a:t>oc</a:t>
            </a:r>
            <a:r>
              <a:rPr lang="en-US" sz="2004" strike="noStrike" u="none">
                <a:solidFill>
                  <a:srgbClr val="000000"/>
                </a:solidFill>
                <a:latin typeface="Open Sans"/>
                <a:ea typeface="Open Sans"/>
                <a:cs typeface="Open Sans"/>
                <a:sym typeface="Open Sans"/>
              </a:rPr>
              <a:t>es</a:t>
            </a:r>
            <a:r>
              <a:rPr lang="en-US" sz="2004" strike="noStrike" u="none">
                <a:solidFill>
                  <a:srgbClr val="000000"/>
                </a:solidFill>
                <a:latin typeface="Open Sans"/>
                <a:ea typeface="Open Sans"/>
                <a:cs typeface="Open Sans"/>
                <a:sym typeface="Open Sans"/>
              </a:rPr>
              <a:t>o</a:t>
            </a:r>
            <a:r>
              <a:rPr lang="en-US" sz="2004" strike="noStrike" u="none">
                <a:solidFill>
                  <a:srgbClr val="000000"/>
                </a:solidFill>
                <a:latin typeface="Open Sans"/>
                <a:ea typeface="Open Sans"/>
                <a:cs typeface="Open Sans"/>
                <a:sym typeface="Open Sans"/>
              </a:rPr>
              <a:t>s.</a:t>
            </a:r>
          </a:p>
          <a:p>
            <a:pPr algn="just" marL="865399" indent="-288466" lvl="2">
              <a:lnSpc>
                <a:spcPts val="2805"/>
              </a:lnSpc>
              <a:spcBef>
                <a:spcPct val="0"/>
              </a:spcBef>
              <a:buAutoNum type="alphaLcPeriod" startAt="1"/>
            </a:pPr>
            <a:r>
              <a:rPr lang="en-US" sz="2004" strike="noStrike" u="none">
                <a:solidFill>
                  <a:srgbClr val="000000"/>
                </a:solidFill>
                <a:latin typeface="Open Sans"/>
                <a:ea typeface="Open Sans"/>
                <a:cs typeface="Open Sans"/>
                <a:sym typeface="Open Sans"/>
              </a:rPr>
              <a:t>Lista</a:t>
            </a:r>
            <a:r>
              <a:rPr lang="en-US" sz="2004" strike="noStrike" u="none">
                <a:solidFill>
                  <a:srgbClr val="000000"/>
                </a:solidFill>
                <a:latin typeface="Open Sans"/>
                <a:ea typeface="Open Sans"/>
                <a:cs typeface="Open Sans"/>
                <a:sym typeface="Open Sans"/>
              </a:rPr>
              <a:t> de </a:t>
            </a:r>
            <a:r>
              <a:rPr lang="en-US" sz="2004" strike="noStrike" u="none">
                <a:solidFill>
                  <a:srgbClr val="000000"/>
                </a:solidFill>
                <a:latin typeface="Open Sans"/>
                <a:ea typeface="Open Sans"/>
                <a:cs typeface="Open Sans"/>
                <a:sym typeface="Open Sans"/>
              </a:rPr>
              <a:t>procesos.</a:t>
            </a:r>
          </a:p>
          <a:p>
            <a:pPr algn="just" marL="865399" indent="-288466" lvl="2">
              <a:lnSpc>
                <a:spcPts val="2805"/>
              </a:lnSpc>
              <a:spcBef>
                <a:spcPct val="0"/>
              </a:spcBef>
              <a:buAutoNum type="alphaLcPeriod" startAt="1"/>
            </a:pPr>
            <a:r>
              <a:rPr lang="en-US" sz="2004" strike="noStrike" u="none">
                <a:solidFill>
                  <a:srgbClr val="000000"/>
                </a:solidFill>
                <a:latin typeface="Open Sans"/>
                <a:ea typeface="Open Sans"/>
                <a:cs typeface="Open Sans"/>
                <a:sym typeface="Open Sans"/>
              </a:rPr>
              <a:t>Cola de procesos.</a:t>
            </a:r>
          </a:p>
          <a:p>
            <a:pPr algn="just" marL="432700" indent="-216350" lvl="1">
              <a:lnSpc>
                <a:spcPts val="2805"/>
              </a:lnSpc>
              <a:spcBef>
                <a:spcPct val="0"/>
              </a:spcBef>
              <a:buFont typeface="Arial"/>
              <a:buChar char="•"/>
            </a:pPr>
            <a:r>
              <a:rPr lang="en-US" sz="2004" strike="noStrike" u="none">
                <a:solidFill>
                  <a:srgbClr val="000000"/>
                </a:solidFill>
                <a:latin typeface="Open Sans"/>
                <a:ea typeface="Open Sans"/>
                <a:cs typeface="Open Sans"/>
                <a:sym typeface="Open Sans"/>
              </a:rPr>
              <a:t>Cada opción abre un submenú que permi</a:t>
            </a:r>
            <a:r>
              <a:rPr lang="en-US" sz="2004" strike="noStrike" u="none">
                <a:solidFill>
                  <a:srgbClr val="000000"/>
                </a:solidFill>
                <a:latin typeface="Open Sans"/>
                <a:ea typeface="Open Sans"/>
                <a:cs typeface="Open Sans"/>
                <a:sym typeface="Open Sans"/>
              </a:rPr>
              <a:t>te</a:t>
            </a:r>
            <a:r>
              <a:rPr lang="en-US" sz="2004" strike="noStrike" u="none">
                <a:solidFill>
                  <a:srgbClr val="000000"/>
                </a:solidFill>
                <a:latin typeface="Open Sans"/>
                <a:ea typeface="Open Sans"/>
                <a:cs typeface="Open Sans"/>
                <a:sym typeface="Open Sans"/>
              </a:rPr>
              <a:t> </a:t>
            </a:r>
            <a:r>
              <a:rPr lang="en-US" sz="2004" strike="noStrike" u="none">
                <a:solidFill>
                  <a:srgbClr val="000000"/>
                </a:solidFill>
                <a:latin typeface="Open Sans"/>
                <a:ea typeface="Open Sans"/>
                <a:cs typeface="Open Sans"/>
                <a:sym typeface="Open Sans"/>
              </a:rPr>
              <a:t>t</a:t>
            </a:r>
            <a:r>
              <a:rPr lang="en-US" sz="2004" strike="noStrike" u="none">
                <a:solidFill>
                  <a:srgbClr val="000000"/>
                </a:solidFill>
                <a:latin typeface="Open Sans"/>
                <a:ea typeface="Open Sans"/>
                <a:cs typeface="Open Sans"/>
                <a:sym typeface="Open Sans"/>
              </a:rPr>
              <a:t>rabajar c</a:t>
            </a:r>
            <a:r>
              <a:rPr lang="en-US" sz="2004" strike="noStrike" u="none">
                <a:solidFill>
                  <a:srgbClr val="000000"/>
                </a:solidFill>
                <a:latin typeface="Open Sans"/>
                <a:ea typeface="Open Sans"/>
                <a:cs typeface="Open Sans"/>
                <a:sym typeface="Open Sans"/>
              </a:rPr>
              <a:t>o</a:t>
            </a:r>
            <a:r>
              <a:rPr lang="en-US" sz="2004" strike="noStrike" u="none">
                <a:solidFill>
                  <a:srgbClr val="000000"/>
                </a:solidFill>
                <a:latin typeface="Open Sans"/>
                <a:ea typeface="Open Sans"/>
                <a:cs typeface="Open Sans"/>
                <a:sym typeface="Open Sans"/>
              </a:rPr>
              <a:t>n la estructura seleccionada.</a:t>
            </a:r>
          </a:p>
          <a:p>
            <a:pPr algn="ctr" marL="0" indent="0" lvl="0">
              <a:lnSpc>
                <a:spcPts val="2538"/>
              </a:lnSpc>
              <a:spcBef>
                <a:spcPct val="0"/>
              </a:spcBef>
            </a:pP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a:off x="-1130260" y="9277350"/>
            <a:ext cx="20548521" cy="0"/>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820488" y="-3456152"/>
            <a:ext cx="0" cy="20548521"/>
          </a:xfrm>
          <a:prstGeom prst="line">
            <a:avLst/>
          </a:prstGeom>
          <a:ln cap="flat" w="38100">
            <a:solidFill>
              <a:srgbClr val="000000"/>
            </a:solidFill>
            <a:prstDash val="solid"/>
            <a:headEnd type="none" len="sm" w="sm"/>
            <a:tailEnd type="none" len="sm" w="sm"/>
          </a:ln>
        </p:spPr>
      </p:sp>
      <p:sp>
        <p:nvSpPr>
          <p:cNvPr name="AutoShape 5" id="5"/>
          <p:cNvSpPr/>
          <p:nvPr/>
        </p:nvSpPr>
        <p:spPr>
          <a:xfrm flipV="true">
            <a:off x="16486562" y="-3456152"/>
            <a:ext cx="0" cy="20548521"/>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1376464">
            <a:off x="15742396" y="2845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376464">
            <a:off x="1076321" y="853318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1255199">
            <a:off x="15742396" y="85141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095723" y="2531518"/>
            <a:ext cx="5830938" cy="1012943"/>
          </a:xfrm>
          <a:custGeom>
            <a:avLst/>
            <a:gdLst/>
            <a:ahLst/>
            <a:cxnLst/>
            <a:rect r="r" b="b" t="t" l="l"/>
            <a:pathLst>
              <a:path h="1012943" w="5830938">
                <a:moveTo>
                  <a:pt x="0" y="0"/>
                </a:moveTo>
                <a:lnTo>
                  <a:pt x="5830938" y="0"/>
                </a:lnTo>
                <a:lnTo>
                  <a:pt x="5830938" y="1012943"/>
                </a:lnTo>
                <a:lnTo>
                  <a:pt x="0" y="1012943"/>
                </a:lnTo>
                <a:lnTo>
                  <a:pt x="0" y="0"/>
                </a:lnTo>
                <a:close/>
              </a:path>
            </a:pathLst>
          </a:custGeom>
          <a:blipFill>
            <a:blip r:embed="rId4"/>
            <a:stretch>
              <a:fillRect l="0" t="0" r="0" b="-21614"/>
            </a:stretch>
          </a:blipFill>
        </p:spPr>
      </p:sp>
      <p:sp>
        <p:nvSpPr>
          <p:cNvPr name="Freeform 10" id="10"/>
          <p:cNvSpPr/>
          <p:nvPr/>
        </p:nvSpPr>
        <p:spPr>
          <a:xfrm flipH="false" flipV="false" rot="0">
            <a:off x="2114181" y="6551804"/>
            <a:ext cx="5488598" cy="927650"/>
          </a:xfrm>
          <a:custGeom>
            <a:avLst/>
            <a:gdLst/>
            <a:ahLst/>
            <a:cxnLst/>
            <a:rect r="r" b="b" t="t" l="l"/>
            <a:pathLst>
              <a:path h="927650" w="5488598">
                <a:moveTo>
                  <a:pt x="0" y="0"/>
                </a:moveTo>
                <a:lnTo>
                  <a:pt x="5488598" y="0"/>
                </a:lnTo>
                <a:lnTo>
                  <a:pt x="5488598" y="927650"/>
                </a:lnTo>
                <a:lnTo>
                  <a:pt x="0" y="927650"/>
                </a:lnTo>
                <a:lnTo>
                  <a:pt x="0" y="0"/>
                </a:lnTo>
                <a:close/>
              </a:path>
            </a:pathLst>
          </a:custGeom>
          <a:blipFill>
            <a:blip r:embed="rId5"/>
            <a:stretch>
              <a:fillRect l="0" t="0" r="0" b="0"/>
            </a:stretch>
          </a:blipFill>
        </p:spPr>
      </p:sp>
      <p:sp>
        <p:nvSpPr>
          <p:cNvPr name="TextBox 11" id="11"/>
          <p:cNvSpPr txBox="true"/>
          <p:nvPr/>
        </p:nvSpPr>
        <p:spPr>
          <a:xfrm rot="0">
            <a:off x="2114181" y="962025"/>
            <a:ext cx="6157287" cy="629920"/>
          </a:xfrm>
          <a:prstGeom prst="rect">
            <a:avLst/>
          </a:prstGeom>
        </p:spPr>
        <p:txBody>
          <a:bodyPr anchor="t" rtlCol="false" tIns="0" lIns="0" bIns="0" rIns="0">
            <a:spAutoFit/>
          </a:bodyPr>
          <a:lstStyle/>
          <a:p>
            <a:pPr algn="l">
              <a:lnSpc>
                <a:spcPts val="5179"/>
              </a:lnSpc>
            </a:pPr>
            <a:r>
              <a:rPr lang="en-US" sz="3699" b="true">
                <a:solidFill>
                  <a:srgbClr val="1E1D1C"/>
                </a:solidFill>
                <a:latin typeface="Tex Gyre Termes Bold"/>
                <a:ea typeface="Tex Gyre Termes Bold"/>
                <a:cs typeface="Tex Gyre Termes Bold"/>
                <a:sym typeface="Tex Gyre Termes Bold"/>
              </a:rPr>
              <a:t>Pila:</a:t>
            </a:r>
          </a:p>
        </p:txBody>
      </p:sp>
      <p:sp>
        <p:nvSpPr>
          <p:cNvPr name="TextBox 12" id="12"/>
          <p:cNvSpPr txBox="true"/>
          <p:nvPr/>
        </p:nvSpPr>
        <p:spPr>
          <a:xfrm rot="0">
            <a:off x="8879161" y="1272223"/>
            <a:ext cx="6632029" cy="1992630"/>
          </a:xfrm>
          <a:prstGeom prst="rect">
            <a:avLst/>
          </a:prstGeom>
        </p:spPr>
        <p:txBody>
          <a:bodyPr anchor="t" rtlCol="false" tIns="0" lIns="0" bIns="0" rIns="0">
            <a:spAutoFit/>
          </a:bodyPr>
          <a:lstStyle/>
          <a:p>
            <a:pPr algn="l" marL="453396" indent="-226698" lvl="1">
              <a:lnSpc>
                <a:spcPts val="2940"/>
              </a:lnSpc>
              <a:spcBef>
                <a:spcPct val="0"/>
              </a:spcBef>
              <a:buFont typeface="Arial"/>
              <a:buChar char="•"/>
            </a:pPr>
            <a:r>
              <a:rPr lang="en-US" sz="2100">
                <a:solidFill>
                  <a:srgbClr val="000000"/>
                </a:solidFill>
                <a:latin typeface="Open Sans"/>
                <a:ea typeface="Open Sans"/>
                <a:cs typeface="Open Sans"/>
                <a:sym typeface="Open Sans"/>
              </a:rPr>
              <a:t>Al </a:t>
            </a:r>
            <a:r>
              <a:rPr lang="en-US" sz="2100" strike="noStrike" u="none">
                <a:solidFill>
                  <a:srgbClr val="000000"/>
                </a:solidFill>
                <a:latin typeface="Open Sans"/>
                <a:ea typeface="Open Sans"/>
                <a:cs typeface="Open Sans"/>
                <a:sym typeface="Open Sans"/>
              </a:rPr>
              <a:t>agregar, e</a:t>
            </a:r>
            <a:r>
              <a:rPr lang="en-US" sz="2100" strike="noStrike" u="none">
                <a:solidFill>
                  <a:srgbClr val="000000"/>
                </a:solidFill>
                <a:latin typeface="Open Sans"/>
                <a:ea typeface="Open Sans"/>
                <a:cs typeface="Open Sans"/>
                <a:sym typeface="Open Sans"/>
              </a:rPr>
              <a:t>l proce</a:t>
            </a:r>
            <a:r>
              <a:rPr lang="en-US" sz="2100" strike="noStrike" u="none">
                <a:solidFill>
                  <a:srgbClr val="000000"/>
                </a:solidFill>
                <a:latin typeface="Open Sans"/>
                <a:ea typeface="Open Sans"/>
                <a:cs typeface="Open Sans"/>
                <a:sym typeface="Open Sans"/>
              </a:rPr>
              <a:t>s</a:t>
            </a:r>
            <a:r>
              <a:rPr lang="en-US" sz="2100" strike="noStrike" u="none">
                <a:solidFill>
                  <a:srgbClr val="000000"/>
                </a:solidFill>
                <a:latin typeface="Open Sans"/>
                <a:ea typeface="Open Sans"/>
                <a:cs typeface="Open Sans"/>
                <a:sym typeface="Open Sans"/>
              </a:rPr>
              <a:t>o</a:t>
            </a:r>
            <a:r>
              <a:rPr lang="en-US" sz="2100" strike="noStrike" u="none">
                <a:solidFill>
                  <a:srgbClr val="000000"/>
                </a:solidFill>
                <a:latin typeface="Open Sans"/>
                <a:ea typeface="Open Sans"/>
                <a:cs typeface="Open Sans"/>
                <a:sym typeface="Open Sans"/>
              </a:rPr>
              <a:t> </a:t>
            </a:r>
            <a:r>
              <a:rPr lang="en-US" sz="2100" strike="noStrike" u="none">
                <a:solidFill>
                  <a:srgbClr val="000000"/>
                </a:solidFill>
                <a:latin typeface="Open Sans"/>
                <a:ea typeface="Open Sans"/>
                <a:cs typeface="Open Sans"/>
                <a:sym typeface="Open Sans"/>
              </a:rPr>
              <a:t>se</a:t>
            </a:r>
            <a:r>
              <a:rPr lang="en-US" sz="2100" strike="noStrike" u="none">
                <a:solidFill>
                  <a:srgbClr val="000000"/>
                </a:solidFill>
                <a:latin typeface="Open Sans"/>
                <a:ea typeface="Open Sans"/>
                <a:cs typeface="Open Sans"/>
                <a:sym typeface="Open Sans"/>
              </a:rPr>
              <a:t> </a:t>
            </a:r>
            <a:r>
              <a:rPr lang="en-US" sz="2100" strike="noStrike" u="none">
                <a:solidFill>
                  <a:srgbClr val="000000"/>
                </a:solidFill>
                <a:latin typeface="Open Sans"/>
                <a:ea typeface="Open Sans"/>
                <a:cs typeface="Open Sans"/>
                <a:sym typeface="Open Sans"/>
              </a:rPr>
              <a:t>g</a:t>
            </a:r>
            <a:r>
              <a:rPr lang="en-US" sz="2100" strike="noStrike" u="none">
                <a:solidFill>
                  <a:srgbClr val="000000"/>
                </a:solidFill>
                <a:latin typeface="Open Sans"/>
                <a:ea typeface="Open Sans"/>
                <a:cs typeface="Open Sans"/>
                <a:sym typeface="Open Sans"/>
              </a:rPr>
              <a:t>uarda en la posición si</a:t>
            </a:r>
            <a:r>
              <a:rPr lang="en-US" sz="2100" strike="noStrike" u="none">
                <a:solidFill>
                  <a:srgbClr val="000000"/>
                </a:solidFill>
                <a:latin typeface="Open Sans"/>
                <a:ea typeface="Open Sans"/>
                <a:cs typeface="Open Sans"/>
                <a:sym typeface="Open Sans"/>
              </a:rPr>
              <a:t>gu</a:t>
            </a:r>
            <a:r>
              <a:rPr lang="en-US" sz="2100" strike="noStrike" u="none">
                <a:solidFill>
                  <a:srgbClr val="000000"/>
                </a:solidFill>
                <a:latin typeface="Open Sans"/>
                <a:ea typeface="Open Sans"/>
                <a:cs typeface="Open Sans"/>
                <a:sym typeface="Open Sans"/>
              </a:rPr>
              <a:t>i</a:t>
            </a:r>
            <a:r>
              <a:rPr lang="en-US" sz="2100" strike="noStrike" u="none">
                <a:solidFill>
                  <a:srgbClr val="000000"/>
                </a:solidFill>
                <a:latin typeface="Open Sans"/>
                <a:ea typeface="Open Sans"/>
                <a:cs typeface="Open Sans"/>
                <a:sym typeface="Open Sans"/>
              </a:rPr>
              <a:t>ente de</a:t>
            </a:r>
            <a:r>
              <a:rPr lang="en-US" sz="2100" strike="noStrike" u="none">
                <a:solidFill>
                  <a:srgbClr val="000000"/>
                </a:solidFill>
                <a:latin typeface="Open Sans"/>
                <a:ea typeface="Open Sans"/>
                <a:cs typeface="Open Sans"/>
                <a:sym typeface="Open Sans"/>
              </a:rPr>
              <a:t>l</a:t>
            </a:r>
            <a:r>
              <a:rPr lang="en-US" sz="2100" strike="noStrike" u="none">
                <a:solidFill>
                  <a:srgbClr val="000000"/>
                </a:solidFill>
                <a:latin typeface="Open Sans"/>
                <a:ea typeface="Open Sans"/>
                <a:cs typeface="Open Sans"/>
                <a:sym typeface="Open Sans"/>
              </a:rPr>
              <a:t> tope</a:t>
            </a:r>
            <a:r>
              <a:rPr lang="en-US" sz="2100" strike="noStrike" u="none">
                <a:solidFill>
                  <a:srgbClr val="000000"/>
                </a:solidFill>
                <a:latin typeface="Open Sans"/>
                <a:ea typeface="Open Sans"/>
                <a:cs typeface="Open Sans"/>
                <a:sym typeface="Open Sans"/>
              </a:rPr>
              <a:t>.</a:t>
            </a:r>
          </a:p>
          <a:p>
            <a:pPr algn="l" marL="453396" indent="-226698" lvl="1">
              <a:lnSpc>
                <a:spcPts val="2940"/>
              </a:lnSpc>
              <a:spcBef>
                <a:spcPct val="0"/>
              </a:spcBef>
              <a:buFont typeface="Arial"/>
              <a:buChar char="•"/>
            </a:pPr>
            <a:r>
              <a:rPr lang="en-US" sz="2100" strike="noStrike" u="none">
                <a:solidFill>
                  <a:srgbClr val="000000"/>
                </a:solidFill>
                <a:latin typeface="Open Sans"/>
                <a:ea typeface="Open Sans"/>
                <a:cs typeface="Open Sans"/>
                <a:sym typeface="Open Sans"/>
              </a:rPr>
              <a:t>A</a:t>
            </a:r>
            <a:r>
              <a:rPr lang="en-US" sz="2100" strike="noStrike" u="none">
                <a:solidFill>
                  <a:srgbClr val="000000"/>
                </a:solidFill>
                <a:latin typeface="Open Sans"/>
                <a:ea typeface="Open Sans"/>
                <a:cs typeface="Open Sans"/>
                <a:sym typeface="Open Sans"/>
              </a:rPr>
              <a:t>l </a:t>
            </a:r>
            <a:r>
              <a:rPr lang="en-US" sz="2100" strike="noStrike" u="none">
                <a:solidFill>
                  <a:srgbClr val="000000"/>
                </a:solidFill>
                <a:latin typeface="Open Sans"/>
                <a:ea typeface="Open Sans"/>
                <a:cs typeface="Open Sans"/>
                <a:sym typeface="Open Sans"/>
              </a:rPr>
              <a:t>eli</a:t>
            </a:r>
            <a:r>
              <a:rPr lang="en-US" sz="2100" strike="noStrike" u="none">
                <a:solidFill>
                  <a:srgbClr val="000000"/>
                </a:solidFill>
                <a:latin typeface="Open Sans"/>
                <a:ea typeface="Open Sans"/>
                <a:cs typeface="Open Sans"/>
                <a:sym typeface="Open Sans"/>
              </a:rPr>
              <a:t>m</a:t>
            </a:r>
            <a:r>
              <a:rPr lang="en-US" sz="2100" strike="noStrike" u="none">
                <a:solidFill>
                  <a:srgbClr val="000000"/>
                </a:solidFill>
                <a:latin typeface="Open Sans"/>
                <a:ea typeface="Open Sans"/>
                <a:cs typeface="Open Sans"/>
                <a:sym typeface="Open Sans"/>
              </a:rPr>
              <a:t>in</a:t>
            </a:r>
            <a:r>
              <a:rPr lang="en-US" sz="2100" strike="noStrike" u="none">
                <a:solidFill>
                  <a:srgbClr val="000000"/>
                </a:solidFill>
                <a:latin typeface="Open Sans"/>
                <a:ea typeface="Open Sans"/>
                <a:cs typeface="Open Sans"/>
                <a:sym typeface="Open Sans"/>
              </a:rPr>
              <a:t>ar</a:t>
            </a:r>
            <a:r>
              <a:rPr lang="en-US" sz="2100" strike="noStrike" u="none">
                <a:solidFill>
                  <a:srgbClr val="000000"/>
                </a:solidFill>
                <a:latin typeface="Open Sans"/>
                <a:ea typeface="Open Sans"/>
                <a:cs typeface="Open Sans"/>
                <a:sym typeface="Open Sans"/>
              </a:rPr>
              <a:t>, s</a:t>
            </a:r>
            <a:r>
              <a:rPr lang="en-US" sz="2100" strike="noStrike" u="none">
                <a:solidFill>
                  <a:srgbClr val="000000"/>
                </a:solidFill>
                <a:latin typeface="Open Sans"/>
                <a:ea typeface="Open Sans"/>
                <a:cs typeface="Open Sans"/>
                <a:sym typeface="Open Sans"/>
              </a:rPr>
              <a:t>e</a:t>
            </a:r>
            <a:r>
              <a:rPr lang="en-US" sz="2100" strike="noStrike" u="none">
                <a:solidFill>
                  <a:srgbClr val="000000"/>
                </a:solidFill>
                <a:latin typeface="Open Sans"/>
                <a:ea typeface="Open Sans"/>
                <a:cs typeface="Open Sans"/>
                <a:sym typeface="Open Sans"/>
              </a:rPr>
              <a:t> q</a:t>
            </a:r>
            <a:r>
              <a:rPr lang="en-US" sz="2100" strike="noStrike" u="none">
                <a:solidFill>
                  <a:srgbClr val="000000"/>
                </a:solidFill>
                <a:latin typeface="Open Sans"/>
                <a:ea typeface="Open Sans"/>
                <a:cs typeface="Open Sans"/>
                <a:sym typeface="Open Sans"/>
              </a:rPr>
              <a:t>ui</a:t>
            </a:r>
            <a:r>
              <a:rPr lang="en-US" sz="2100" strike="noStrike" u="none">
                <a:solidFill>
                  <a:srgbClr val="000000"/>
                </a:solidFill>
                <a:latin typeface="Open Sans"/>
                <a:ea typeface="Open Sans"/>
                <a:cs typeface="Open Sans"/>
                <a:sym typeface="Open Sans"/>
              </a:rPr>
              <a:t>t</a:t>
            </a:r>
            <a:r>
              <a:rPr lang="en-US" sz="2100" strike="noStrike" u="none">
                <a:solidFill>
                  <a:srgbClr val="000000"/>
                </a:solidFill>
                <a:latin typeface="Open Sans"/>
                <a:ea typeface="Open Sans"/>
                <a:cs typeface="Open Sans"/>
                <a:sym typeface="Open Sans"/>
              </a:rPr>
              <a:t>a</a:t>
            </a:r>
            <a:r>
              <a:rPr lang="en-US" sz="2100" strike="noStrike" u="none">
                <a:solidFill>
                  <a:srgbClr val="000000"/>
                </a:solidFill>
                <a:latin typeface="Open Sans"/>
                <a:ea typeface="Open Sans"/>
                <a:cs typeface="Open Sans"/>
                <a:sym typeface="Open Sans"/>
              </a:rPr>
              <a:t> e</a:t>
            </a:r>
            <a:r>
              <a:rPr lang="en-US" sz="2100" strike="noStrike" u="none">
                <a:solidFill>
                  <a:srgbClr val="000000"/>
                </a:solidFill>
                <a:latin typeface="Open Sans"/>
                <a:ea typeface="Open Sans"/>
                <a:cs typeface="Open Sans"/>
                <a:sym typeface="Open Sans"/>
              </a:rPr>
              <a:t>l </a:t>
            </a:r>
            <a:r>
              <a:rPr lang="en-US" sz="2100" strike="noStrike" u="none">
                <a:solidFill>
                  <a:srgbClr val="000000"/>
                </a:solidFill>
                <a:latin typeface="Open Sans"/>
                <a:ea typeface="Open Sans"/>
                <a:cs typeface="Open Sans"/>
                <a:sym typeface="Open Sans"/>
              </a:rPr>
              <a:t>ú</a:t>
            </a:r>
            <a:r>
              <a:rPr lang="en-US" sz="2100" strike="noStrike" u="none">
                <a:solidFill>
                  <a:srgbClr val="000000"/>
                </a:solidFill>
                <a:latin typeface="Open Sans"/>
                <a:ea typeface="Open Sans"/>
                <a:cs typeface="Open Sans"/>
                <a:sym typeface="Open Sans"/>
              </a:rPr>
              <a:t>l</a:t>
            </a:r>
            <a:r>
              <a:rPr lang="en-US" sz="2100" strike="noStrike" u="none">
                <a:solidFill>
                  <a:srgbClr val="000000"/>
                </a:solidFill>
                <a:latin typeface="Open Sans"/>
                <a:ea typeface="Open Sans"/>
                <a:cs typeface="Open Sans"/>
                <a:sym typeface="Open Sans"/>
              </a:rPr>
              <a:t>tim</a:t>
            </a:r>
            <a:r>
              <a:rPr lang="en-US" sz="2100" strike="noStrike" u="none">
                <a:solidFill>
                  <a:srgbClr val="000000"/>
                </a:solidFill>
                <a:latin typeface="Open Sans"/>
                <a:ea typeface="Open Sans"/>
                <a:cs typeface="Open Sans"/>
                <a:sym typeface="Open Sans"/>
              </a:rPr>
              <a:t>o proce</a:t>
            </a:r>
            <a:r>
              <a:rPr lang="en-US" sz="2100" strike="noStrike" u="none">
                <a:solidFill>
                  <a:srgbClr val="000000"/>
                </a:solidFill>
                <a:latin typeface="Open Sans"/>
                <a:ea typeface="Open Sans"/>
                <a:cs typeface="Open Sans"/>
                <a:sym typeface="Open Sans"/>
              </a:rPr>
              <a:t>so</a:t>
            </a:r>
            <a:r>
              <a:rPr lang="en-US" sz="2100" strike="noStrike" u="none">
                <a:solidFill>
                  <a:srgbClr val="000000"/>
                </a:solidFill>
                <a:latin typeface="Open Sans"/>
                <a:ea typeface="Open Sans"/>
                <a:cs typeface="Open Sans"/>
                <a:sym typeface="Open Sans"/>
              </a:rPr>
              <a:t> in</a:t>
            </a:r>
            <a:r>
              <a:rPr lang="en-US" sz="2100" strike="noStrike" u="none">
                <a:solidFill>
                  <a:srgbClr val="000000"/>
                </a:solidFill>
                <a:latin typeface="Open Sans"/>
                <a:ea typeface="Open Sans"/>
                <a:cs typeface="Open Sans"/>
                <a:sym typeface="Open Sans"/>
              </a:rPr>
              <a:t>gres</a:t>
            </a:r>
            <a:r>
              <a:rPr lang="en-US" sz="2100" strike="noStrike" u="none">
                <a:solidFill>
                  <a:srgbClr val="000000"/>
                </a:solidFill>
                <a:latin typeface="Open Sans"/>
                <a:ea typeface="Open Sans"/>
                <a:cs typeface="Open Sans"/>
                <a:sym typeface="Open Sans"/>
              </a:rPr>
              <a:t>ado</a:t>
            </a:r>
            <a:r>
              <a:rPr lang="en-US" sz="2100" strike="noStrike" u="none">
                <a:solidFill>
                  <a:srgbClr val="000000"/>
                </a:solidFill>
                <a:latin typeface="Open Sans"/>
                <a:ea typeface="Open Sans"/>
                <a:cs typeface="Open Sans"/>
                <a:sym typeface="Open Sans"/>
              </a:rPr>
              <a:t>.</a:t>
            </a:r>
          </a:p>
          <a:p>
            <a:pPr algn="l" marL="453396" indent="-226698" lvl="1">
              <a:lnSpc>
                <a:spcPts val="2940"/>
              </a:lnSpc>
              <a:spcBef>
                <a:spcPct val="0"/>
              </a:spcBef>
              <a:buFont typeface="Arial"/>
              <a:buChar char="•"/>
            </a:pPr>
            <a:r>
              <a:rPr lang="en-US" sz="2100" strike="noStrike" u="none">
                <a:solidFill>
                  <a:srgbClr val="000000"/>
                </a:solidFill>
                <a:latin typeface="Open Sans"/>
                <a:ea typeface="Open Sans"/>
                <a:cs typeface="Open Sans"/>
                <a:sym typeface="Open Sans"/>
              </a:rPr>
              <a:t>A</a:t>
            </a:r>
            <a:r>
              <a:rPr lang="en-US" sz="2100" strike="noStrike" u="none">
                <a:solidFill>
                  <a:srgbClr val="000000"/>
                </a:solidFill>
                <a:latin typeface="Open Sans"/>
                <a:ea typeface="Open Sans"/>
                <a:cs typeface="Open Sans"/>
                <a:sym typeface="Open Sans"/>
              </a:rPr>
              <a:t>l mo</a:t>
            </a:r>
            <a:r>
              <a:rPr lang="en-US" sz="2100" strike="noStrike" u="none">
                <a:solidFill>
                  <a:srgbClr val="000000"/>
                </a:solidFill>
                <a:latin typeface="Open Sans"/>
                <a:ea typeface="Open Sans"/>
                <a:cs typeface="Open Sans"/>
                <a:sym typeface="Open Sans"/>
              </a:rPr>
              <a:t>st</a:t>
            </a:r>
            <a:r>
              <a:rPr lang="en-US" sz="2100" strike="noStrike" u="none">
                <a:solidFill>
                  <a:srgbClr val="000000"/>
                </a:solidFill>
                <a:latin typeface="Open Sans"/>
                <a:ea typeface="Open Sans"/>
                <a:cs typeface="Open Sans"/>
                <a:sym typeface="Open Sans"/>
              </a:rPr>
              <a:t>rar</a:t>
            </a:r>
            <a:r>
              <a:rPr lang="en-US" sz="2100" strike="noStrike" u="none">
                <a:solidFill>
                  <a:srgbClr val="000000"/>
                </a:solidFill>
                <a:latin typeface="Open Sans"/>
                <a:ea typeface="Open Sans"/>
                <a:cs typeface="Open Sans"/>
                <a:sym typeface="Open Sans"/>
              </a:rPr>
              <a:t>,</a:t>
            </a:r>
            <a:r>
              <a:rPr lang="en-US" sz="2100" strike="noStrike" u="none">
                <a:solidFill>
                  <a:srgbClr val="000000"/>
                </a:solidFill>
                <a:latin typeface="Open Sans"/>
                <a:ea typeface="Open Sans"/>
                <a:cs typeface="Open Sans"/>
                <a:sym typeface="Open Sans"/>
              </a:rPr>
              <a:t> </a:t>
            </a:r>
            <a:r>
              <a:rPr lang="en-US" sz="2100" strike="noStrike" u="none">
                <a:solidFill>
                  <a:srgbClr val="000000"/>
                </a:solidFill>
                <a:latin typeface="Open Sans"/>
                <a:ea typeface="Open Sans"/>
                <a:cs typeface="Open Sans"/>
                <a:sym typeface="Open Sans"/>
              </a:rPr>
              <a:t>se</a:t>
            </a:r>
            <a:r>
              <a:rPr lang="en-US" sz="2100" strike="noStrike" u="none">
                <a:solidFill>
                  <a:srgbClr val="000000"/>
                </a:solidFill>
                <a:latin typeface="Open Sans"/>
                <a:ea typeface="Open Sans"/>
                <a:cs typeface="Open Sans"/>
                <a:sym typeface="Open Sans"/>
              </a:rPr>
              <a:t> i</a:t>
            </a:r>
            <a:r>
              <a:rPr lang="en-US" sz="2100" strike="noStrike" u="none">
                <a:solidFill>
                  <a:srgbClr val="000000"/>
                </a:solidFill>
                <a:latin typeface="Open Sans"/>
                <a:ea typeface="Open Sans"/>
                <a:cs typeface="Open Sans"/>
                <a:sym typeface="Open Sans"/>
              </a:rPr>
              <a:t>mpr</a:t>
            </a:r>
            <a:r>
              <a:rPr lang="en-US" sz="2100" strike="noStrike" u="none">
                <a:solidFill>
                  <a:srgbClr val="000000"/>
                </a:solidFill>
                <a:latin typeface="Open Sans"/>
                <a:ea typeface="Open Sans"/>
                <a:cs typeface="Open Sans"/>
                <a:sym typeface="Open Sans"/>
              </a:rPr>
              <a:t>i</a:t>
            </a:r>
            <a:r>
              <a:rPr lang="en-US" sz="2100" strike="noStrike" u="none">
                <a:solidFill>
                  <a:srgbClr val="000000"/>
                </a:solidFill>
                <a:latin typeface="Open Sans"/>
                <a:ea typeface="Open Sans"/>
                <a:cs typeface="Open Sans"/>
                <a:sym typeface="Open Sans"/>
              </a:rPr>
              <a:t>m</a:t>
            </a:r>
            <a:r>
              <a:rPr lang="en-US" sz="2100" strike="noStrike" u="none">
                <a:solidFill>
                  <a:srgbClr val="000000"/>
                </a:solidFill>
                <a:latin typeface="Open Sans"/>
                <a:ea typeface="Open Sans"/>
                <a:cs typeface="Open Sans"/>
                <a:sym typeface="Open Sans"/>
              </a:rPr>
              <a:t>en </a:t>
            </a:r>
            <a:r>
              <a:rPr lang="en-US" sz="2100" strike="noStrike" u="none">
                <a:solidFill>
                  <a:srgbClr val="000000"/>
                </a:solidFill>
                <a:latin typeface="Open Sans"/>
                <a:ea typeface="Open Sans"/>
                <a:cs typeface="Open Sans"/>
                <a:sym typeface="Open Sans"/>
              </a:rPr>
              <a:t>d</a:t>
            </a:r>
            <a:r>
              <a:rPr lang="en-US" sz="2100" strike="noStrike" u="none">
                <a:solidFill>
                  <a:srgbClr val="000000"/>
                </a:solidFill>
                <a:latin typeface="Open Sans"/>
                <a:ea typeface="Open Sans"/>
                <a:cs typeface="Open Sans"/>
                <a:sym typeface="Open Sans"/>
              </a:rPr>
              <a:t>e </a:t>
            </a:r>
            <a:r>
              <a:rPr lang="en-US" sz="2100" strike="noStrike" u="none">
                <a:solidFill>
                  <a:srgbClr val="000000"/>
                </a:solidFill>
                <a:latin typeface="Open Sans"/>
                <a:ea typeface="Open Sans"/>
                <a:cs typeface="Open Sans"/>
                <a:sym typeface="Open Sans"/>
              </a:rPr>
              <a:t>a</a:t>
            </a:r>
            <a:r>
              <a:rPr lang="en-US" sz="2100" strike="noStrike" u="none">
                <a:solidFill>
                  <a:srgbClr val="000000"/>
                </a:solidFill>
                <a:latin typeface="Open Sans"/>
                <a:ea typeface="Open Sans"/>
                <a:cs typeface="Open Sans"/>
                <a:sym typeface="Open Sans"/>
              </a:rPr>
              <a:t>rr</a:t>
            </a:r>
            <a:r>
              <a:rPr lang="en-US" sz="2100" strike="noStrike" u="none">
                <a:solidFill>
                  <a:srgbClr val="000000"/>
                </a:solidFill>
                <a:latin typeface="Open Sans"/>
                <a:ea typeface="Open Sans"/>
                <a:cs typeface="Open Sans"/>
                <a:sym typeface="Open Sans"/>
              </a:rPr>
              <a:t>ib</a:t>
            </a:r>
            <a:r>
              <a:rPr lang="en-US" sz="2100" strike="noStrike" u="none">
                <a:solidFill>
                  <a:srgbClr val="000000"/>
                </a:solidFill>
                <a:latin typeface="Open Sans"/>
                <a:ea typeface="Open Sans"/>
                <a:cs typeface="Open Sans"/>
                <a:sym typeface="Open Sans"/>
              </a:rPr>
              <a:t>a </a:t>
            </a:r>
            <a:r>
              <a:rPr lang="en-US" sz="2100" strike="noStrike" u="none">
                <a:solidFill>
                  <a:srgbClr val="000000"/>
                </a:solidFill>
                <a:latin typeface="Open Sans"/>
                <a:ea typeface="Open Sans"/>
                <a:cs typeface="Open Sans"/>
                <a:sym typeface="Open Sans"/>
              </a:rPr>
              <a:t>hac</a:t>
            </a:r>
            <a:r>
              <a:rPr lang="en-US" sz="2100" strike="noStrike" u="none">
                <a:solidFill>
                  <a:srgbClr val="000000"/>
                </a:solidFill>
                <a:latin typeface="Open Sans"/>
                <a:ea typeface="Open Sans"/>
                <a:cs typeface="Open Sans"/>
                <a:sym typeface="Open Sans"/>
              </a:rPr>
              <a:t>i</a:t>
            </a:r>
            <a:r>
              <a:rPr lang="en-US" sz="2100" strike="noStrike" u="none">
                <a:solidFill>
                  <a:srgbClr val="000000"/>
                </a:solidFill>
                <a:latin typeface="Open Sans"/>
                <a:ea typeface="Open Sans"/>
                <a:cs typeface="Open Sans"/>
                <a:sym typeface="Open Sans"/>
              </a:rPr>
              <a:t>a</a:t>
            </a:r>
            <a:r>
              <a:rPr lang="en-US" sz="2100" strike="noStrike" u="none">
                <a:solidFill>
                  <a:srgbClr val="000000"/>
                </a:solidFill>
                <a:latin typeface="Open Sans"/>
                <a:ea typeface="Open Sans"/>
                <a:cs typeface="Open Sans"/>
                <a:sym typeface="Open Sans"/>
              </a:rPr>
              <a:t> </a:t>
            </a:r>
            <a:r>
              <a:rPr lang="en-US" sz="2100" strike="noStrike" u="none">
                <a:solidFill>
                  <a:srgbClr val="000000"/>
                </a:solidFill>
                <a:latin typeface="Open Sans"/>
                <a:ea typeface="Open Sans"/>
                <a:cs typeface="Open Sans"/>
                <a:sym typeface="Open Sans"/>
              </a:rPr>
              <a:t>abaj</a:t>
            </a:r>
            <a:r>
              <a:rPr lang="en-US" sz="2100" strike="noStrike" u="none">
                <a:solidFill>
                  <a:srgbClr val="000000"/>
                </a:solidFill>
                <a:latin typeface="Open Sans"/>
                <a:ea typeface="Open Sans"/>
                <a:cs typeface="Open Sans"/>
                <a:sym typeface="Open Sans"/>
              </a:rPr>
              <a:t>o.</a:t>
            </a:r>
          </a:p>
          <a:p>
            <a:pPr algn="ctr" marL="0" indent="0" lvl="0">
              <a:lnSpc>
                <a:spcPts val="4200"/>
              </a:lnSpc>
              <a:spcBef>
                <a:spcPct val="0"/>
              </a:spcBef>
            </a:pPr>
          </a:p>
        </p:txBody>
      </p:sp>
      <p:sp>
        <p:nvSpPr>
          <p:cNvPr name="TextBox 13" id="13"/>
          <p:cNvSpPr txBox="true"/>
          <p:nvPr/>
        </p:nvSpPr>
        <p:spPr>
          <a:xfrm rot="0">
            <a:off x="8971012" y="2990365"/>
            <a:ext cx="6448327" cy="1735371"/>
          </a:xfrm>
          <a:prstGeom prst="rect">
            <a:avLst/>
          </a:prstGeom>
        </p:spPr>
        <p:txBody>
          <a:bodyPr anchor="t" rtlCol="false" tIns="0" lIns="0" bIns="0" rIns="0">
            <a:spAutoFit/>
          </a:bodyPr>
          <a:lstStyle/>
          <a:p>
            <a:pPr algn="just" marL="0" indent="0" lvl="0">
              <a:lnSpc>
                <a:spcPts val="2805"/>
              </a:lnSpc>
              <a:spcBef>
                <a:spcPct val="0"/>
              </a:spcBef>
            </a:pPr>
            <a:r>
              <a:rPr lang="en-US" sz="2004">
                <a:solidFill>
                  <a:srgbClr val="000000"/>
                </a:solidFill>
                <a:latin typeface="Open Sans"/>
                <a:ea typeface="Open Sans"/>
                <a:cs typeface="Open Sans"/>
                <a:sym typeface="Open Sans"/>
              </a:rPr>
              <a:t>Ej</a:t>
            </a:r>
            <a:r>
              <a:rPr lang="en-US" sz="2004" strike="noStrike" u="none">
                <a:solidFill>
                  <a:srgbClr val="000000"/>
                </a:solidFill>
                <a:latin typeface="Open Sans"/>
                <a:ea typeface="Open Sans"/>
                <a:cs typeface="Open Sans"/>
                <a:sym typeface="Open Sans"/>
              </a:rPr>
              <a:t>e</a:t>
            </a:r>
            <a:r>
              <a:rPr lang="en-US" sz="2004" strike="noStrike" u="none">
                <a:solidFill>
                  <a:srgbClr val="000000"/>
                </a:solidFill>
                <a:latin typeface="Open Sans"/>
                <a:ea typeface="Open Sans"/>
                <a:cs typeface="Open Sans"/>
                <a:sym typeface="Open Sans"/>
              </a:rPr>
              <a:t>m</a:t>
            </a:r>
            <a:r>
              <a:rPr lang="en-US" sz="2004" strike="noStrike" u="none">
                <a:solidFill>
                  <a:srgbClr val="000000"/>
                </a:solidFill>
                <a:latin typeface="Open Sans"/>
                <a:ea typeface="Open Sans"/>
                <a:cs typeface="Open Sans"/>
                <a:sym typeface="Open Sans"/>
              </a:rPr>
              <a:t>pl</a:t>
            </a:r>
            <a:r>
              <a:rPr lang="en-US" sz="2004" strike="noStrike" u="none">
                <a:solidFill>
                  <a:srgbClr val="000000"/>
                </a:solidFill>
                <a:latin typeface="Open Sans"/>
                <a:ea typeface="Open Sans"/>
                <a:cs typeface="Open Sans"/>
                <a:sym typeface="Open Sans"/>
              </a:rPr>
              <a:t>o:</a:t>
            </a:r>
          </a:p>
          <a:p>
            <a:pPr algn="just" marL="432700" indent="-216350" lvl="1">
              <a:lnSpc>
                <a:spcPts val="2805"/>
              </a:lnSpc>
              <a:spcBef>
                <a:spcPct val="0"/>
              </a:spcBef>
              <a:buAutoNum type="arabicPeriod" startAt="1"/>
            </a:pPr>
            <a:r>
              <a:rPr lang="en-US" sz="2004" strike="noStrike" u="none">
                <a:solidFill>
                  <a:srgbClr val="000000"/>
                </a:solidFill>
                <a:latin typeface="Open Sans"/>
                <a:ea typeface="Open Sans"/>
                <a:cs typeface="Open Sans"/>
                <a:sym typeface="Open Sans"/>
              </a:rPr>
              <a:t>Ag</a:t>
            </a:r>
            <a:r>
              <a:rPr lang="en-US" sz="2004" strike="noStrike" u="none">
                <a:solidFill>
                  <a:srgbClr val="000000"/>
                </a:solidFill>
                <a:latin typeface="Open Sans"/>
                <a:ea typeface="Open Sans"/>
                <a:cs typeface="Open Sans"/>
                <a:sym typeface="Open Sans"/>
              </a:rPr>
              <a:t>re</a:t>
            </a:r>
            <a:r>
              <a:rPr lang="en-US" sz="2004" strike="noStrike" u="none">
                <a:solidFill>
                  <a:srgbClr val="000000"/>
                </a:solidFill>
                <a:latin typeface="Open Sans"/>
                <a:ea typeface="Open Sans"/>
                <a:cs typeface="Open Sans"/>
                <a:sym typeface="Open Sans"/>
              </a:rPr>
              <a:t>g</a:t>
            </a:r>
            <a:r>
              <a:rPr lang="en-US" sz="2004" strike="noStrike" u="none">
                <a:solidFill>
                  <a:srgbClr val="000000"/>
                </a:solidFill>
                <a:latin typeface="Open Sans"/>
                <a:ea typeface="Open Sans"/>
                <a:cs typeface="Open Sans"/>
                <a:sym typeface="Open Sans"/>
              </a:rPr>
              <a:t>o:</a:t>
            </a:r>
            <a:r>
              <a:rPr lang="en-US" sz="2004" strike="noStrike" u="none">
                <a:solidFill>
                  <a:srgbClr val="000000"/>
                </a:solidFill>
                <a:latin typeface="Open Sans"/>
                <a:ea typeface="Open Sans"/>
                <a:cs typeface="Open Sans"/>
                <a:sym typeface="Open Sans"/>
              </a:rPr>
              <a:t> </a:t>
            </a:r>
            <a:r>
              <a:rPr lang="en-US" sz="2004" strike="noStrike" u="none">
                <a:solidFill>
                  <a:srgbClr val="000000"/>
                </a:solidFill>
                <a:latin typeface="Open Sans"/>
                <a:ea typeface="Open Sans"/>
                <a:cs typeface="Open Sans"/>
                <a:sym typeface="Open Sans"/>
              </a:rPr>
              <a:t>P</a:t>
            </a:r>
            <a:r>
              <a:rPr lang="en-US" sz="2004" strike="noStrike" u="none">
                <a:solidFill>
                  <a:srgbClr val="000000"/>
                </a:solidFill>
                <a:latin typeface="Open Sans"/>
                <a:ea typeface="Open Sans"/>
                <a:cs typeface="Open Sans"/>
                <a:sym typeface="Open Sans"/>
              </a:rPr>
              <a:t>roceso</a:t>
            </a:r>
            <a:r>
              <a:rPr lang="en-US" sz="2004" strike="noStrike" u="none">
                <a:solidFill>
                  <a:srgbClr val="000000"/>
                </a:solidFill>
                <a:latin typeface="Open Sans"/>
                <a:ea typeface="Open Sans"/>
                <a:cs typeface="Open Sans"/>
                <a:sym typeface="Open Sans"/>
              </a:rPr>
              <a:t> </a:t>
            </a:r>
            <a:r>
              <a:rPr lang="en-US" sz="2004" strike="noStrike" u="none">
                <a:solidFill>
                  <a:srgbClr val="000000"/>
                </a:solidFill>
                <a:latin typeface="Open Sans"/>
                <a:ea typeface="Open Sans"/>
                <a:cs typeface="Open Sans"/>
                <a:sym typeface="Open Sans"/>
              </a:rPr>
              <a:t>A</a:t>
            </a:r>
            <a:r>
              <a:rPr lang="en-US" sz="2004" strike="noStrike" u="none">
                <a:solidFill>
                  <a:srgbClr val="000000"/>
                </a:solidFill>
                <a:latin typeface="Open Sans"/>
                <a:ea typeface="Open Sans"/>
                <a:cs typeface="Open Sans"/>
                <a:sym typeface="Open Sans"/>
              </a:rPr>
              <a:t>, Proceso</a:t>
            </a:r>
            <a:r>
              <a:rPr lang="en-US" sz="2004" strike="noStrike" u="none">
                <a:solidFill>
                  <a:srgbClr val="000000"/>
                </a:solidFill>
                <a:latin typeface="Open Sans"/>
                <a:ea typeface="Open Sans"/>
                <a:cs typeface="Open Sans"/>
                <a:sym typeface="Open Sans"/>
              </a:rPr>
              <a:t> B,</a:t>
            </a:r>
            <a:r>
              <a:rPr lang="en-US" sz="2004" strike="noStrike" u="none">
                <a:solidFill>
                  <a:srgbClr val="000000"/>
                </a:solidFill>
                <a:latin typeface="Open Sans"/>
                <a:ea typeface="Open Sans"/>
                <a:cs typeface="Open Sans"/>
                <a:sym typeface="Open Sans"/>
              </a:rPr>
              <a:t> Proceso</a:t>
            </a:r>
            <a:r>
              <a:rPr lang="en-US" sz="2004" strike="noStrike" u="none">
                <a:solidFill>
                  <a:srgbClr val="000000"/>
                </a:solidFill>
                <a:latin typeface="Open Sans"/>
                <a:ea typeface="Open Sans"/>
                <a:cs typeface="Open Sans"/>
                <a:sym typeface="Open Sans"/>
              </a:rPr>
              <a:t> C.</a:t>
            </a:r>
          </a:p>
          <a:p>
            <a:pPr algn="just" marL="432700" indent="-216350" lvl="1">
              <a:lnSpc>
                <a:spcPts val="2805"/>
              </a:lnSpc>
              <a:spcBef>
                <a:spcPct val="0"/>
              </a:spcBef>
              <a:buAutoNum type="arabicPeriod" startAt="1"/>
            </a:pPr>
            <a:r>
              <a:rPr lang="en-US" sz="2004" strike="noStrike" u="none">
                <a:solidFill>
                  <a:srgbClr val="000000"/>
                </a:solidFill>
                <a:latin typeface="Open Sans"/>
                <a:ea typeface="Open Sans"/>
                <a:cs typeface="Open Sans"/>
                <a:sym typeface="Open Sans"/>
              </a:rPr>
              <a:t>Elim</a:t>
            </a:r>
            <a:r>
              <a:rPr lang="en-US" sz="2004" strike="noStrike" u="none">
                <a:solidFill>
                  <a:srgbClr val="000000"/>
                </a:solidFill>
                <a:latin typeface="Open Sans"/>
                <a:ea typeface="Open Sans"/>
                <a:cs typeface="Open Sans"/>
                <a:sym typeface="Open Sans"/>
              </a:rPr>
              <a:t>in</a:t>
            </a:r>
            <a:r>
              <a:rPr lang="en-US" sz="2004" strike="noStrike" u="none">
                <a:solidFill>
                  <a:srgbClr val="000000"/>
                </a:solidFill>
                <a:latin typeface="Open Sans"/>
                <a:ea typeface="Open Sans"/>
                <a:cs typeface="Open Sans"/>
                <a:sym typeface="Open Sans"/>
              </a:rPr>
              <a:t>o</a:t>
            </a:r>
            <a:r>
              <a:rPr lang="en-US" sz="2004" strike="noStrike" u="none">
                <a:solidFill>
                  <a:srgbClr val="000000"/>
                </a:solidFill>
                <a:latin typeface="Open Sans"/>
                <a:ea typeface="Open Sans"/>
                <a:cs typeface="Open Sans"/>
                <a:sym typeface="Open Sans"/>
              </a:rPr>
              <a:t> → </a:t>
            </a:r>
            <a:r>
              <a:rPr lang="en-US" sz="2004" strike="noStrike" u="none">
                <a:solidFill>
                  <a:srgbClr val="000000"/>
                </a:solidFill>
                <a:latin typeface="Open Sans"/>
                <a:ea typeface="Open Sans"/>
                <a:cs typeface="Open Sans"/>
                <a:sym typeface="Open Sans"/>
              </a:rPr>
              <a:t>S</a:t>
            </a:r>
            <a:r>
              <a:rPr lang="en-US" sz="2004" strike="noStrike" u="none">
                <a:solidFill>
                  <a:srgbClr val="000000"/>
                </a:solidFill>
                <a:latin typeface="Open Sans"/>
                <a:ea typeface="Open Sans"/>
                <a:cs typeface="Open Sans"/>
                <a:sym typeface="Open Sans"/>
              </a:rPr>
              <a:t>e </a:t>
            </a:r>
            <a:r>
              <a:rPr lang="en-US" sz="2004" strike="noStrike" u="none">
                <a:solidFill>
                  <a:srgbClr val="000000"/>
                </a:solidFill>
                <a:latin typeface="Open Sans"/>
                <a:ea typeface="Open Sans"/>
                <a:cs typeface="Open Sans"/>
                <a:sym typeface="Open Sans"/>
              </a:rPr>
              <a:t>qu</a:t>
            </a:r>
            <a:r>
              <a:rPr lang="en-US" sz="2004" strike="noStrike" u="none">
                <a:solidFill>
                  <a:srgbClr val="000000"/>
                </a:solidFill>
                <a:latin typeface="Open Sans"/>
                <a:ea typeface="Open Sans"/>
                <a:cs typeface="Open Sans"/>
                <a:sym typeface="Open Sans"/>
              </a:rPr>
              <a:t>ita</a:t>
            </a:r>
            <a:r>
              <a:rPr lang="en-US" sz="2004" strike="noStrike" u="none">
                <a:solidFill>
                  <a:srgbClr val="000000"/>
                </a:solidFill>
                <a:latin typeface="Open Sans"/>
                <a:ea typeface="Open Sans"/>
                <a:cs typeface="Open Sans"/>
                <a:sym typeface="Open Sans"/>
              </a:rPr>
              <a:t>:</a:t>
            </a:r>
            <a:r>
              <a:rPr lang="en-US" sz="2004" strike="noStrike" u="none">
                <a:solidFill>
                  <a:srgbClr val="000000"/>
                </a:solidFill>
                <a:latin typeface="Open Sans"/>
                <a:ea typeface="Open Sans"/>
                <a:cs typeface="Open Sans"/>
                <a:sym typeface="Open Sans"/>
              </a:rPr>
              <a:t> Proceso</a:t>
            </a:r>
            <a:r>
              <a:rPr lang="en-US" sz="2004" strike="noStrike" u="none">
                <a:solidFill>
                  <a:srgbClr val="000000"/>
                </a:solidFill>
                <a:latin typeface="Open Sans"/>
                <a:ea typeface="Open Sans"/>
                <a:cs typeface="Open Sans"/>
                <a:sym typeface="Open Sans"/>
              </a:rPr>
              <a:t> </a:t>
            </a:r>
            <a:r>
              <a:rPr lang="en-US" sz="2004" strike="noStrike" u="none">
                <a:solidFill>
                  <a:srgbClr val="000000"/>
                </a:solidFill>
                <a:latin typeface="Open Sans"/>
                <a:ea typeface="Open Sans"/>
                <a:cs typeface="Open Sans"/>
                <a:sym typeface="Open Sans"/>
              </a:rPr>
              <a:t>C</a:t>
            </a:r>
            <a:r>
              <a:rPr lang="en-US" sz="2004" strike="noStrike" u="none">
                <a:solidFill>
                  <a:srgbClr val="000000"/>
                </a:solidFill>
                <a:latin typeface="Open Sans"/>
                <a:ea typeface="Open Sans"/>
                <a:cs typeface="Open Sans"/>
                <a:sym typeface="Open Sans"/>
              </a:rPr>
              <a:t> (últim</a:t>
            </a:r>
            <a:r>
              <a:rPr lang="en-US" sz="2004" strike="noStrike" u="none">
                <a:solidFill>
                  <a:srgbClr val="000000"/>
                </a:solidFill>
                <a:latin typeface="Open Sans"/>
                <a:ea typeface="Open Sans"/>
                <a:cs typeface="Open Sans"/>
                <a:sym typeface="Open Sans"/>
              </a:rPr>
              <a:t>o </a:t>
            </a:r>
            <a:r>
              <a:rPr lang="en-US" sz="2004" strike="noStrike" u="none">
                <a:solidFill>
                  <a:srgbClr val="000000"/>
                </a:solidFill>
                <a:latin typeface="Open Sans"/>
                <a:ea typeface="Open Sans"/>
                <a:cs typeface="Open Sans"/>
                <a:sym typeface="Open Sans"/>
              </a:rPr>
              <a:t>qu</a:t>
            </a:r>
            <a:r>
              <a:rPr lang="en-US" sz="2004" strike="noStrike" u="none">
                <a:solidFill>
                  <a:srgbClr val="000000"/>
                </a:solidFill>
                <a:latin typeface="Open Sans"/>
                <a:ea typeface="Open Sans"/>
                <a:cs typeface="Open Sans"/>
                <a:sym typeface="Open Sans"/>
              </a:rPr>
              <a:t>e </a:t>
            </a:r>
            <a:r>
              <a:rPr lang="en-US" sz="2004" strike="noStrike" u="none">
                <a:solidFill>
                  <a:srgbClr val="000000"/>
                </a:solidFill>
                <a:latin typeface="Open Sans"/>
                <a:ea typeface="Open Sans"/>
                <a:cs typeface="Open Sans"/>
                <a:sym typeface="Open Sans"/>
              </a:rPr>
              <a:t>ent</a:t>
            </a:r>
            <a:r>
              <a:rPr lang="en-US" sz="2004" strike="noStrike" u="none">
                <a:solidFill>
                  <a:srgbClr val="000000"/>
                </a:solidFill>
                <a:latin typeface="Open Sans"/>
                <a:ea typeface="Open Sans"/>
                <a:cs typeface="Open Sans"/>
                <a:sym typeface="Open Sans"/>
              </a:rPr>
              <a:t>r</a:t>
            </a:r>
            <a:r>
              <a:rPr lang="en-US" sz="2004" strike="noStrike" u="none">
                <a:solidFill>
                  <a:srgbClr val="000000"/>
                </a:solidFill>
                <a:latin typeface="Open Sans"/>
                <a:ea typeface="Open Sans"/>
                <a:cs typeface="Open Sans"/>
                <a:sym typeface="Open Sans"/>
              </a:rPr>
              <a:t>ó)</a:t>
            </a:r>
            <a:r>
              <a:rPr lang="en-US" sz="2004" strike="noStrike" u="none">
                <a:solidFill>
                  <a:srgbClr val="000000"/>
                </a:solidFill>
                <a:latin typeface="Open Sans"/>
                <a:ea typeface="Open Sans"/>
                <a:cs typeface="Open Sans"/>
                <a:sym typeface="Open Sans"/>
              </a:rPr>
              <a:t>.</a:t>
            </a:r>
          </a:p>
          <a:p>
            <a:pPr algn="just" marL="432700" indent="-216350" lvl="1">
              <a:lnSpc>
                <a:spcPts val="2805"/>
              </a:lnSpc>
              <a:spcBef>
                <a:spcPct val="0"/>
              </a:spcBef>
              <a:buAutoNum type="arabicPeriod" startAt="1"/>
            </a:pPr>
            <a:r>
              <a:rPr lang="en-US" sz="2004" strike="noStrike" u="none">
                <a:solidFill>
                  <a:srgbClr val="000000"/>
                </a:solidFill>
                <a:latin typeface="Open Sans"/>
                <a:ea typeface="Open Sans"/>
                <a:cs typeface="Open Sans"/>
                <a:sym typeface="Open Sans"/>
              </a:rPr>
              <a:t>M</a:t>
            </a:r>
            <a:r>
              <a:rPr lang="en-US" sz="2004" strike="noStrike" u="none">
                <a:solidFill>
                  <a:srgbClr val="000000"/>
                </a:solidFill>
                <a:latin typeface="Open Sans"/>
                <a:ea typeface="Open Sans"/>
                <a:cs typeface="Open Sans"/>
                <a:sym typeface="Open Sans"/>
              </a:rPr>
              <a:t>o</a:t>
            </a:r>
            <a:r>
              <a:rPr lang="en-US" sz="2004" strike="noStrike" u="none">
                <a:solidFill>
                  <a:srgbClr val="000000"/>
                </a:solidFill>
                <a:latin typeface="Open Sans"/>
                <a:ea typeface="Open Sans"/>
                <a:cs typeface="Open Sans"/>
                <a:sym typeface="Open Sans"/>
              </a:rPr>
              <a:t>str</a:t>
            </a:r>
            <a:r>
              <a:rPr lang="en-US" sz="2004" strike="noStrike" u="none">
                <a:solidFill>
                  <a:srgbClr val="000000"/>
                </a:solidFill>
                <a:latin typeface="Open Sans"/>
                <a:ea typeface="Open Sans"/>
                <a:cs typeface="Open Sans"/>
                <a:sym typeface="Open Sans"/>
              </a:rPr>
              <a:t>ar </a:t>
            </a:r>
            <a:r>
              <a:rPr lang="en-US" sz="2004" strike="noStrike" u="none">
                <a:solidFill>
                  <a:srgbClr val="000000"/>
                </a:solidFill>
                <a:latin typeface="Open Sans"/>
                <a:ea typeface="Open Sans"/>
                <a:cs typeface="Open Sans"/>
                <a:sym typeface="Open Sans"/>
              </a:rPr>
              <a:t>→</a:t>
            </a:r>
            <a:r>
              <a:rPr lang="en-US" sz="2004" strike="noStrike" u="none">
                <a:solidFill>
                  <a:srgbClr val="000000"/>
                </a:solidFill>
                <a:latin typeface="Open Sans"/>
                <a:ea typeface="Open Sans"/>
                <a:cs typeface="Open Sans"/>
                <a:sym typeface="Open Sans"/>
              </a:rPr>
              <a:t> </a:t>
            </a:r>
            <a:r>
              <a:rPr lang="en-US" sz="2004" strike="noStrike" u="none">
                <a:solidFill>
                  <a:srgbClr val="000000"/>
                </a:solidFill>
                <a:latin typeface="Open Sans"/>
                <a:ea typeface="Open Sans"/>
                <a:cs typeface="Open Sans"/>
                <a:sym typeface="Open Sans"/>
              </a:rPr>
              <a:t>Q</a:t>
            </a:r>
            <a:r>
              <a:rPr lang="en-US" sz="2004" strike="noStrike" u="none">
                <a:solidFill>
                  <a:srgbClr val="000000"/>
                </a:solidFill>
                <a:latin typeface="Open Sans"/>
                <a:ea typeface="Open Sans"/>
                <a:cs typeface="Open Sans"/>
                <a:sym typeface="Open Sans"/>
              </a:rPr>
              <a:t>ue</a:t>
            </a:r>
            <a:r>
              <a:rPr lang="en-US" sz="2004" strike="noStrike" u="none">
                <a:solidFill>
                  <a:srgbClr val="000000"/>
                </a:solidFill>
                <a:latin typeface="Open Sans"/>
                <a:ea typeface="Open Sans"/>
                <a:cs typeface="Open Sans"/>
                <a:sym typeface="Open Sans"/>
              </a:rPr>
              <a:t>da</a:t>
            </a:r>
            <a:r>
              <a:rPr lang="en-US" sz="2004" strike="noStrike" u="none">
                <a:solidFill>
                  <a:srgbClr val="000000"/>
                </a:solidFill>
                <a:latin typeface="Open Sans"/>
                <a:ea typeface="Open Sans"/>
                <a:cs typeface="Open Sans"/>
                <a:sym typeface="Open Sans"/>
              </a:rPr>
              <a:t>n</a:t>
            </a:r>
            <a:r>
              <a:rPr lang="en-US" sz="2004" strike="noStrike" u="none">
                <a:solidFill>
                  <a:srgbClr val="000000"/>
                </a:solidFill>
                <a:latin typeface="Open Sans"/>
                <a:ea typeface="Open Sans"/>
                <a:cs typeface="Open Sans"/>
                <a:sym typeface="Open Sans"/>
              </a:rPr>
              <a:t>:</a:t>
            </a:r>
            <a:r>
              <a:rPr lang="en-US" sz="2004" strike="noStrike" u="none">
                <a:solidFill>
                  <a:srgbClr val="000000"/>
                </a:solidFill>
                <a:latin typeface="Open Sans"/>
                <a:ea typeface="Open Sans"/>
                <a:cs typeface="Open Sans"/>
                <a:sym typeface="Open Sans"/>
              </a:rPr>
              <a:t> </a:t>
            </a:r>
            <a:r>
              <a:rPr lang="en-US" sz="2004" strike="noStrike" u="none">
                <a:solidFill>
                  <a:srgbClr val="000000"/>
                </a:solidFill>
                <a:latin typeface="Open Sans"/>
                <a:ea typeface="Open Sans"/>
                <a:cs typeface="Open Sans"/>
                <a:sym typeface="Open Sans"/>
              </a:rPr>
              <a:t>P</a:t>
            </a:r>
            <a:r>
              <a:rPr lang="en-US" sz="2004" strike="noStrike" u="none">
                <a:solidFill>
                  <a:srgbClr val="000000"/>
                </a:solidFill>
                <a:latin typeface="Open Sans"/>
                <a:ea typeface="Open Sans"/>
                <a:cs typeface="Open Sans"/>
                <a:sym typeface="Open Sans"/>
              </a:rPr>
              <a:t>r</a:t>
            </a:r>
            <a:r>
              <a:rPr lang="en-US" sz="2004" strike="noStrike" u="none">
                <a:solidFill>
                  <a:srgbClr val="000000"/>
                </a:solidFill>
                <a:latin typeface="Open Sans"/>
                <a:ea typeface="Open Sans"/>
                <a:cs typeface="Open Sans"/>
                <a:sym typeface="Open Sans"/>
              </a:rPr>
              <a:t>o</a:t>
            </a:r>
            <a:r>
              <a:rPr lang="en-US" sz="2004" strike="noStrike" u="none">
                <a:solidFill>
                  <a:srgbClr val="000000"/>
                </a:solidFill>
                <a:latin typeface="Open Sans"/>
                <a:ea typeface="Open Sans"/>
                <a:cs typeface="Open Sans"/>
                <a:sym typeface="Open Sans"/>
              </a:rPr>
              <a:t>c</a:t>
            </a:r>
            <a:r>
              <a:rPr lang="en-US" sz="2004" strike="noStrike" u="none">
                <a:solidFill>
                  <a:srgbClr val="000000"/>
                </a:solidFill>
                <a:latin typeface="Open Sans"/>
                <a:ea typeface="Open Sans"/>
                <a:cs typeface="Open Sans"/>
                <a:sym typeface="Open Sans"/>
              </a:rPr>
              <a:t>es</a:t>
            </a:r>
            <a:r>
              <a:rPr lang="en-US" sz="2004" strike="noStrike" u="none">
                <a:solidFill>
                  <a:srgbClr val="000000"/>
                </a:solidFill>
                <a:latin typeface="Open Sans"/>
                <a:ea typeface="Open Sans"/>
                <a:cs typeface="Open Sans"/>
                <a:sym typeface="Open Sans"/>
              </a:rPr>
              <a:t>o </a:t>
            </a:r>
            <a:r>
              <a:rPr lang="en-US" sz="2004" strike="noStrike" u="none">
                <a:solidFill>
                  <a:srgbClr val="000000"/>
                </a:solidFill>
                <a:latin typeface="Open Sans"/>
                <a:ea typeface="Open Sans"/>
                <a:cs typeface="Open Sans"/>
                <a:sym typeface="Open Sans"/>
              </a:rPr>
              <a:t>B,</a:t>
            </a:r>
            <a:r>
              <a:rPr lang="en-US" sz="2004" strike="noStrike" u="none">
                <a:solidFill>
                  <a:srgbClr val="000000"/>
                </a:solidFill>
                <a:latin typeface="Open Sans"/>
                <a:ea typeface="Open Sans"/>
                <a:cs typeface="Open Sans"/>
                <a:sym typeface="Open Sans"/>
              </a:rPr>
              <a:t> </a:t>
            </a:r>
            <a:r>
              <a:rPr lang="en-US" sz="2004" strike="noStrike" u="none">
                <a:solidFill>
                  <a:srgbClr val="000000"/>
                </a:solidFill>
                <a:latin typeface="Open Sans"/>
                <a:ea typeface="Open Sans"/>
                <a:cs typeface="Open Sans"/>
                <a:sym typeface="Open Sans"/>
              </a:rPr>
              <a:t>P</a:t>
            </a:r>
            <a:r>
              <a:rPr lang="en-US" sz="2004" strike="noStrike" u="none">
                <a:solidFill>
                  <a:srgbClr val="000000"/>
                </a:solidFill>
                <a:latin typeface="Open Sans"/>
                <a:ea typeface="Open Sans"/>
                <a:cs typeface="Open Sans"/>
                <a:sym typeface="Open Sans"/>
              </a:rPr>
              <a:t>r</a:t>
            </a:r>
            <a:r>
              <a:rPr lang="en-US" sz="2004" strike="noStrike" u="none">
                <a:solidFill>
                  <a:srgbClr val="000000"/>
                </a:solidFill>
                <a:latin typeface="Open Sans"/>
                <a:ea typeface="Open Sans"/>
                <a:cs typeface="Open Sans"/>
                <a:sym typeface="Open Sans"/>
              </a:rPr>
              <a:t>o</a:t>
            </a:r>
            <a:r>
              <a:rPr lang="en-US" sz="2004" strike="noStrike" u="none">
                <a:solidFill>
                  <a:srgbClr val="000000"/>
                </a:solidFill>
                <a:latin typeface="Open Sans"/>
                <a:ea typeface="Open Sans"/>
                <a:cs typeface="Open Sans"/>
                <a:sym typeface="Open Sans"/>
              </a:rPr>
              <a:t>ce</a:t>
            </a:r>
            <a:r>
              <a:rPr lang="en-US" sz="2004" strike="noStrike" u="none">
                <a:solidFill>
                  <a:srgbClr val="000000"/>
                </a:solidFill>
                <a:latin typeface="Open Sans"/>
                <a:ea typeface="Open Sans"/>
                <a:cs typeface="Open Sans"/>
                <a:sym typeface="Open Sans"/>
              </a:rPr>
              <a:t>s</a:t>
            </a:r>
            <a:r>
              <a:rPr lang="en-US" sz="2004" strike="noStrike" u="none">
                <a:solidFill>
                  <a:srgbClr val="000000"/>
                </a:solidFill>
                <a:latin typeface="Open Sans"/>
                <a:ea typeface="Open Sans"/>
                <a:cs typeface="Open Sans"/>
                <a:sym typeface="Open Sans"/>
              </a:rPr>
              <a:t>o</a:t>
            </a:r>
            <a:r>
              <a:rPr lang="en-US" sz="2004" strike="noStrike" u="none">
                <a:solidFill>
                  <a:srgbClr val="000000"/>
                </a:solidFill>
                <a:latin typeface="Open Sans"/>
                <a:ea typeface="Open Sans"/>
                <a:cs typeface="Open Sans"/>
                <a:sym typeface="Open Sans"/>
              </a:rPr>
              <a:t> A</a:t>
            </a:r>
            <a:r>
              <a:rPr lang="en-US" sz="2004" strike="noStrike" u="none">
                <a:solidFill>
                  <a:srgbClr val="000000"/>
                </a:solidFill>
                <a:latin typeface="Open Sans"/>
                <a:ea typeface="Open Sans"/>
                <a:cs typeface="Open Sans"/>
                <a:sym typeface="Open Sans"/>
              </a:rPr>
              <a:t>.</a:t>
            </a:r>
          </a:p>
          <a:p>
            <a:pPr algn="ctr" marL="0" indent="0" lvl="0">
              <a:lnSpc>
                <a:spcPts val="2538"/>
              </a:lnSpc>
              <a:spcBef>
                <a:spcPct val="0"/>
              </a:spcBef>
            </a:pPr>
          </a:p>
        </p:txBody>
      </p:sp>
      <p:sp>
        <p:nvSpPr>
          <p:cNvPr name="TextBox 14" id="14"/>
          <p:cNvSpPr txBox="true"/>
          <p:nvPr/>
        </p:nvSpPr>
        <p:spPr>
          <a:xfrm rot="0">
            <a:off x="8787310" y="5486825"/>
            <a:ext cx="6632029" cy="1992630"/>
          </a:xfrm>
          <a:prstGeom prst="rect">
            <a:avLst/>
          </a:prstGeom>
        </p:spPr>
        <p:txBody>
          <a:bodyPr anchor="t" rtlCol="false" tIns="0" lIns="0" bIns="0" rIns="0">
            <a:spAutoFit/>
          </a:bodyPr>
          <a:lstStyle/>
          <a:p>
            <a:pPr algn="l" marL="453396" indent="-226698" lvl="1">
              <a:lnSpc>
                <a:spcPts val="2940"/>
              </a:lnSpc>
              <a:spcBef>
                <a:spcPct val="0"/>
              </a:spcBef>
              <a:buFont typeface="Arial"/>
              <a:buChar char="•"/>
            </a:pPr>
            <a:r>
              <a:rPr lang="en-US" sz="2100">
                <a:solidFill>
                  <a:srgbClr val="000000"/>
                </a:solidFill>
                <a:latin typeface="Open Sans"/>
                <a:ea typeface="Open Sans"/>
                <a:cs typeface="Open Sans"/>
                <a:sym typeface="Open Sans"/>
              </a:rPr>
              <a:t>Al </a:t>
            </a:r>
            <a:r>
              <a:rPr lang="en-US" sz="2100" strike="noStrike" u="none">
                <a:solidFill>
                  <a:srgbClr val="000000"/>
                </a:solidFill>
                <a:latin typeface="Open Sans"/>
                <a:ea typeface="Open Sans"/>
                <a:cs typeface="Open Sans"/>
                <a:sym typeface="Open Sans"/>
              </a:rPr>
              <a:t>agregar, se po</a:t>
            </a:r>
            <a:r>
              <a:rPr lang="en-US" sz="2100" strike="noStrike" u="none">
                <a:solidFill>
                  <a:srgbClr val="000000"/>
                </a:solidFill>
                <a:latin typeface="Open Sans"/>
                <a:ea typeface="Open Sans"/>
                <a:cs typeface="Open Sans"/>
                <a:sym typeface="Open Sans"/>
              </a:rPr>
              <a:t>n</a:t>
            </a:r>
            <a:r>
              <a:rPr lang="en-US" sz="2100" strike="noStrike" u="none">
                <a:solidFill>
                  <a:srgbClr val="000000"/>
                </a:solidFill>
                <a:latin typeface="Open Sans"/>
                <a:ea typeface="Open Sans"/>
                <a:cs typeface="Open Sans"/>
                <a:sym typeface="Open Sans"/>
              </a:rPr>
              <a:t>e al final.</a:t>
            </a:r>
          </a:p>
          <a:p>
            <a:pPr algn="l" marL="453396" indent="-226698" lvl="1">
              <a:lnSpc>
                <a:spcPts val="2940"/>
              </a:lnSpc>
              <a:spcBef>
                <a:spcPct val="0"/>
              </a:spcBef>
              <a:buFont typeface="Arial"/>
              <a:buChar char="•"/>
            </a:pPr>
            <a:r>
              <a:rPr lang="en-US" sz="2100" strike="noStrike" u="none">
                <a:solidFill>
                  <a:srgbClr val="000000"/>
                </a:solidFill>
                <a:latin typeface="Open Sans"/>
                <a:ea typeface="Open Sans"/>
                <a:cs typeface="Open Sans"/>
                <a:sym typeface="Open Sans"/>
              </a:rPr>
              <a:t>A</a:t>
            </a:r>
            <a:r>
              <a:rPr lang="en-US" sz="2100" strike="noStrike" u="none">
                <a:solidFill>
                  <a:srgbClr val="000000"/>
                </a:solidFill>
                <a:latin typeface="Open Sans"/>
                <a:ea typeface="Open Sans"/>
                <a:cs typeface="Open Sans"/>
                <a:sym typeface="Open Sans"/>
              </a:rPr>
              <a:t>l eliminar, se quita el prim</a:t>
            </a:r>
            <a:r>
              <a:rPr lang="en-US" sz="2100" strike="noStrike" u="none">
                <a:solidFill>
                  <a:srgbClr val="000000"/>
                </a:solidFill>
                <a:latin typeface="Open Sans"/>
                <a:ea typeface="Open Sans"/>
                <a:cs typeface="Open Sans"/>
                <a:sym typeface="Open Sans"/>
              </a:rPr>
              <a:t>er</a:t>
            </a:r>
            <a:r>
              <a:rPr lang="en-US" sz="2100" strike="noStrike" u="none">
                <a:solidFill>
                  <a:srgbClr val="000000"/>
                </a:solidFill>
                <a:latin typeface="Open Sans"/>
                <a:ea typeface="Open Sans"/>
                <a:cs typeface="Open Sans"/>
                <a:sym typeface="Open Sans"/>
              </a:rPr>
              <a:t>o y se recorren los de</a:t>
            </a:r>
            <a:r>
              <a:rPr lang="en-US" sz="2100" strike="noStrike" u="none">
                <a:solidFill>
                  <a:srgbClr val="000000"/>
                </a:solidFill>
                <a:latin typeface="Open Sans"/>
                <a:ea typeface="Open Sans"/>
                <a:cs typeface="Open Sans"/>
                <a:sym typeface="Open Sans"/>
              </a:rPr>
              <a:t>má</a:t>
            </a:r>
            <a:r>
              <a:rPr lang="en-US" sz="2100" strike="noStrike" u="none">
                <a:solidFill>
                  <a:srgbClr val="000000"/>
                </a:solidFill>
                <a:latin typeface="Open Sans"/>
                <a:ea typeface="Open Sans"/>
                <a:cs typeface="Open Sans"/>
                <a:sym typeface="Open Sans"/>
              </a:rPr>
              <a:t>s.</a:t>
            </a:r>
          </a:p>
          <a:p>
            <a:pPr algn="l" marL="453396" indent="-226698" lvl="1">
              <a:lnSpc>
                <a:spcPts val="2940"/>
              </a:lnSpc>
              <a:spcBef>
                <a:spcPct val="0"/>
              </a:spcBef>
              <a:buFont typeface="Arial"/>
              <a:buChar char="•"/>
            </a:pPr>
            <a:r>
              <a:rPr lang="en-US" sz="2100" strike="noStrike" u="none">
                <a:solidFill>
                  <a:srgbClr val="000000"/>
                </a:solidFill>
                <a:latin typeface="Open Sans"/>
                <a:ea typeface="Open Sans"/>
                <a:cs typeface="Open Sans"/>
                <a:sym typeface="Open Sans"/>
              </a:rPr>
              <a:t>Al mostrar, se imprimen en orden.</a:t>
            </a:r>
          </a:p>
          <a:p>
            <a:pPr algn="ctr" marL="0" indent="0" lvl="0">
              <a:lnSpc>
                <a:spcPts val="4200"/>
              </a:lnSpc>
              <a:spcBef>
                <a:spcPct val="0"/>
              </a:spcBef>
            </a:pPr>
          </a:p>
        </p:txBody>
      </p:sp>
      <p:sp>
        <p:nvSpPr>
          <p:cNvPr name="TextBox 15" id="15"/>
          <p:cNvSpPr txBox="true"/>
          <p:nvPr/>
        </p:nvSpPr>
        <p:spPr>
          <a:xfrm rot="0">
            <a:off x="8902833" y="7204140"/>
            <a:ext cx="6448327" cy="1380853"/>
          </a:xfrm>
          <a:prstGeom prst="rect">
            <a:avLst/>
          </a:prstGeom>
        </p:spPr>
        <p:txBody>
          <a:bodyPr anchor="t" rtlCol="false" tIns="0" lIns="0" bIns="0" rIns="0">
            <a:spAutoFit/>
          </a:bodyPr>
          <a:lstStyle/>
          <a:p>
            <a:pPr algn="just" marL="432700" indent="-216350" lvl="1">
              <a:lnSpc>
                <a:spcPts val="2805"/>
              </a:lnSpc>
              <a:spcBef>
                <a:spcPct val="0"/>
              </a:spcBef>
              <a:buAutoNum type="arabicPeriod" startAt="1"/>
            </a:pPr>
            <a:r>
              <a:rPr lang="en-US" sz="2004" strike="noStrike" u="none">
                <a:solidFill>
                  <a:srgbClr val="000000"/>
                </a:solidFill>
                <a:latin typeface="Open Sans"/>
                <a:ea typeface="Open Sans"/>
                <a:cs typeface="Open Sans"/>
                <a:sym typeface="Open Sans"/>
              </a:rPr>
              <a:t>Agrego:</a:t>
            </a:r>
            <a:r>
              <a:rPr lang="en-US" sz="2004" strike="noStrike" u="none">
                <a:solidFill>
                  <a:srgbClr val="000000"/>
                </a:solidFill>
                <a:latin typeface="Open Sans"/>
                <a:ea typeface="Open Sans"/>
                <a:cs typeface="Open Sans"/>
                <a:sym typeface="Open Sans"/>
              </a:rPr>
              <a:t> Proceso</a:t>
            </a:r>
            <a:r>
              <a:rPr lang="en-US" sz="2004" strike="noStrike" u="none">
                <a:solidFill>
                  <a:srgbClr val="000000"/>
                </a:solidFill>
                <a:latin typeface="Open Sans"/>
                <a:ea typeface="Open Sans"/>
                <a:cs typeface="Open Sans"/>
                <a:sym typeface="Open Sans"/>
              </a:rPr>
              <a:t> A, Proceso B, Proceso C.</a:t>
            </a:r>
          </a:p>
          <a:p>
            <a:pPr algn="just" marL="432700" indent="-216350" lvl="1">
              <a:lnSpc>
                <a:spcPts val="2805"/>
              </a:lnSpc>
              <a:spcBef>
                <a:spcPct val="0"/>
              </a:spcBef>
              <a:buAutoNum type="arabicPeriod" startAt="1"/>
            </a:pPr>
            <a:r>
              <a:rPr lang="en-US" sz="2004" strike="noStrike" u="none">
                <a:solidFill>
                  <a:srgbClr val="000000"/>
                </a:solidFill>
                <a:latin typeface="Open Sans"/>
                <a:ea typeface="Open Sans"/>
                <a:cs typeface="Open Sans"/>
                <a:sym typeface="Open Sans"/>
              </a:rPr>
              <a:t>Elimino → Se quita: Proceso </a:t>
            </a:r>
            <a:r>
              <a:rPr lang="en-US" sz="2004" strike="noStrike" u="none">
                <a:solidFill>
                  <a:srgbClr val="000000"/>
                </a:solidFill>
                <a:latin typeface="Open Sans"/>
                <a:ea typeface="Open Sans"/>
                <a:cs typeface="Open Sans"/>
                <a:sym typeface="Open Sans"/>
              </a:rPr>
              <a:t>A</a:t>
            </a:r>
            <a:r>
              <a:rPr lang="en-US" sz="2004" strike="noStrike" u="none">
                <a:solidFill>
                  <a:srgbClr val="000000"/>
                </a:solidFill>
                <a:latin typeface="Open Sans"/>
                <a:ea typeface="Open Sans"/>
                <a:cs typeface="Open Sans"/>
                <a:sym typeface="Open Sans"/>
              </a:rPr>
              <a:t>.</a:t>
            </a:r>
          </a:p>
          <a:p>
            <a:pPr algn="just" marL="432700" indent="-216350" lvl="1">
              <a:lnSpc>
                <a:spcPts val="2805"/>
              </a:lnSpc>
              <a:spcBef>
                <a:spcPct val="0"/>
              </a:spcBef>
              <a:buAutoNum type="arabicPeriod" startAt="1"/>
            </a:pPr>
            <a:r>
              <a:rPr lang="en-US" sz="2004" strike="noStrike" u="none">
                <a:solidFill>
                  <a:srgbClr val="000000"/>
                </a:solidFill>
                <a:latin typeface="Open Sans"/>
                <a:ea typeface="Open Sans"/>
                <a:cs typeface="Open Sans"/>
                <a:sym typeface="Open Sans"/>
              </a:rPr>
              <a:t>M</a:t>
            </a:r>
            <a:r>
              <a:rPr lang="en-US" sz="2004" strike="noStrike" u="none">
                <a:solidFill>
                  <a:srgbClr val="000000"/>
                </a:solidFill>
                <a:latin typeface="Open Sans"/>
                <a:ea typeface="Open Sans"/>
                <a:cs typeface="Open Sans"/>
                <a:sym typeface="Open Sans"/>
              </a:rPr>
              <a:t>ostrar → Quedan: Proceso B, Proceso </a:t>
            </a:r>
            <a:r>
              <a:rPr lang="en-US" sz="2004" strike="noStrike" u="none">
                <a:solidFill>
                  <a:srgbClr val="000000"/>
                </a:solidFill>
                <a:latin typeface="Open Sans"/>
                <a:ea typeface="Open Sans"/>
                <a:cs typeface="Open Sans"/>
                <a:sym typeface="Open Sans"/>
              </a:rPr>
              <a:t>C</a:t>
            </a:r>
            <a:r>
              <a:rPr lang="en-US" sz="2004" strike="noStrike" u="none">
                <a:solidFill>
                  <a:srgbClr val="000000"/>
                </a:solidFill>
                <a:latin typeface="Open Sans"/>
                <a:ea typeface="Open Sans"/>
                <a:cs typeface="Open Sans"/>
                <a:sym typeface="Open Sans"/>
              </a:rPr>
              <a:t>.</a:t>
            </a:r>
          </a:p>
          <a:p>
            <a:pPr algn="ctr" marL="0" indent="0" lvl="0">
              <a:lnSpc>
                <a:spcPts val="2538"/>
              </a:lnSpc>
              <a:spcBef>
                <a:spcPct val="0"/>
              </a:spcBef>
            </a:pPr>
          </a:p>
        </p:txBody>
      </p:sp>
      <p:sp>
        <p:nvSpPr>
          <p:cNvPr name="TextBox 16" id="16"/>
          <p:cNvSpPr txBox="true"/>
          <p:nvPr/>
        </p:nvSpPr>
        <p:spPr>
          <a:xfrm rot="0">
            <a:off x="2114181" y="5574922"/>
            <a:ext cx="6157287" cy="629920"/>
          </a:xfrm>
          <a:prstGeom prst="rect">
            <a:avLst/>
          </a:prstGeom>
        </p:spPr>
        <p:txBody>
          <a:bodyPr anchor="t" rtlCol="false" tIns="0" lIns="0" bIns="0" rIns="0">
            <a:spAutoFit/>
          </a:bodyPr>
          <a:lstStyle/>
          <a:p>
            <a:pPr algn="l">
              <a:lnSpc>
                <a:spcPts val="5179"/>
              </a:lnSpc>
            </a:pPr>
            <a:r>
              <a:rPr lang="en-US" sz="3699" b="true">
                <a:solidFill>
                  <a:srgbClr val="1E1D1C"/>
                </a:solidFill>
                <a:latin typeface="Tex Gyre Termes Bold"/>
                <a:ea typeface="Tex Gyre Termes Bold"/>
                <a:cs typeface="Tex Gyre Termes Bold"/>
                <a:sym typeface="Tex Gyre Termes Bold"/>
              </a:rPr>
              <a:t>Lista:</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a:off x="-1130260" y="9277350"/>
            <a:ext cx="20548521" cy="0"/>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820488" y="-3456152"/>
            <a:ext cx="0" cy="20548521"/>
          </a:xfrm>
          <a:prstGeom prst="line">
            <a:avLst/>
          </a:prstGeom>
          <a:ln cap="flat" w="38100">
            <a:solidFill>
              <a:srgbClr val="000000"/>
            </a:solidFill>
            <a:prstDash val="solid"/>
            <a:headEnd type="none" len="sm" w="sm"/>
            <a:tailEnd type="none" len="sm" w="sm"/>
          </a:ln>
        </p:spPr>
      </p:sp>
      <p:sp>
        <p:nvSpPr>
          <p:cNvPr name="AutoShape 5" id="5"/>
          <p:cNvSpPr/>
          <p:nvPr/>
        </p:nvSpPr>
        <p:spPr>
          <a:xfrm flipV="true">
            <a:off x="16486562" y="-3456152"/>
            <a:ext cx="0" cy="20548521"/>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1376464">
            <a:off x="15742396" y="2845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376464">
            <a:off x="1076321" y="853318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1255199">
            <a:off x="15742396" y="85141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820488" y="3595253"/>
            <a:ext cx="6865868" cy="2260966"/>
          </a:xfrm>
          <a:custGeom>
            <a:avLst/>
            <a:gdLst/>
            <a:ahLst/>
            <a:cxnLst/>
            <a:rect r="r" b="b" t="t" l="l"/>
            <a:pathLst>
              <a:path h="2260966" w="6865868">
                <a:moveTo>
                  <a:pt x="0" y="0"/>
                </a:moveTo>
                <a:lnTo>
                  <a:pt x="6865868" y="0"/>
                </a:lnTo>
                <a:lnTo>
                  <a:pt x="6865868" y="2260965"/>
                </a:lnTo>
                <a:lnTo>
                  <a:pt x="0" y="2260965"/>
                </a:lnTo>
                <a:lnTo>
                  <a:pt x="0" y="0"/>
                </a:lnTo>
                <a:close/>
              </a:path>
            </a:pathLst>
          </a:custGeom>
          <a:blipFill>
            <a:blip r:embed="rId4"/>
            <a:stretch>
              <a:fillRect l="0" t="0" r="0" b="0"/>
            </a:stretch>
          </a:blipFill>
        </p:spPr>
      </p:sp>
      <p:sp>
        <p:nvSpPr>
          <p:cNvPr name="TextBox 10" id="10"/>
          <p:cNvSpPr txBox="true"/>
          <p:nvPr/>
        </p:nvSpPr>
        <p:spPr>
          <a:xfrm rot="0">
            <a:off x="2114181" y="962025"/>
            <a:ext cx="6157287" cy="629920"/>
          </a:xfrm>
          <a:prstGeom prst="rect">
            <a:avLst/>
          </a:prstGeom>
        </p:spPr>
        <p:txBody>
          <a:bodyPr anchor="t" rtlCol="false" tIns="0" lIns="0" bIns="0" rIns="0">
            <a:spAutoFit/>
          </a:bodyPr>
          <a:lstStyle/>
          <a:p>
            <a:pPr algn="l">
              <a:lnSpc>
                <a:spcPts val="5179"/>
              </a:lnSpc>
            </a:pPr>
            <a:r>
              <a:rPr lang="en-US" sz="3699" b="true">
                <a:solidFill>
                  <a:srgbClr val="1E1D1C"/>
                </a:solidFill>
                <a:latin typeface="Tex Gyre Termes Bold"/>
                <a:ea typeface="Tex Gyre Termes Bold"/>
                <a:cs typeface="Tex Gyre Termes Bold"/>
                <a:sym typeface="Tex Gyre Termes Bold"/>
              </a:rPr>
              <a:t>Cola:</a:t>
            </a:r>
          </a:p>
        </p:txBody>
      </p:sp>
      <p:sp>
        <p:nvSpPr>
          <p:cNvPr name="TextBox 11" id="11"/>
          <p:cNvSpPr txBox="true"/>
          <p:nvPr/>
        </p:nvSpPr>
        <p:spPr>
          <a:xfrm rot="0">
            <a:off x="9169068" y="3201750"/>
            <a:ext cx="6632029" cy="1941750"/>
          </a:xfrm>
          <a:prstGeom prst="rect">
            <a:avLst/>
          </a:prstGeom>
        </p:spPr>
        <p:txBody>
          <a:bodyPr anchor="t" rtlCol="false" tIns="0" lIns="0" bIns="0" rIns="0">
            <a:spAutoFit/>
          </a:bodyPr>
          <a:lstStyle/>
          <a:p>
            <a:pPr algn="l" marL="373111" indent="-186555" lvl="1">
              <a:lnSpc>
                <a:spcPts val="2419"/>
              </a:lnSpc>
              <a:spcBef>
                <a:spcPct val="0"/>
              </a:spcBef>
              <a:buFont typeface="Arial"/>
              <a:buChar char="•"/>
            </a:pPr>
            <a:r>
              <a:rPr lang="en-US" sz="1728">
                <a:solidFill>
                  <a:srgbClr val="000000"/>
                </a:solidFill>
                <a:latin typeface="Open Sans"/>
                <a:ea typeface="Open Sans"/>
                <a:cs typeface="Open Sans"/>
                <a:sym typeface="Open Sans"/>
              </a:rPr>
              <a:t>Al </a:t>
            </a:r>
            <a:r>
              <a:rPr lang="en-US" sz="1728" strike="noStrike" u="none">
                <a:solidFill>
                  <a:srgbClr val="000000"/>
                </a:solidFill>
                <a:latin typeface="Open Sans"/>
                <a:ea typeface="Open Sans"/>
                <a:cs typeface="Open Sans"/>
                <a:sym typeface="Open Sans"/>
              </a:rPr>
              <a:t>agregar, se usa finalCola = (fin</a:t>
            </a:r>
            <a:r>
              <a:rPr lang="en-US" sz="1728" strike="noStrike" u="none">
                <a:solidFill>
                  <a:srgbClr val="000000"/>
                </a:solidFill>
                <a:latin typeface="Open Sans"/>
                <a:ea typeface="Open Sans"/>
                <a:cs typeface="Open Sans"/>
                <a:sym typeface="Open Sans"/>
              </a:rPr>
              <a:t>a</a:t>
            </a:r>
            <a:r>
              <a:rPr lang="en-US" sz="1728" strike="noStrike" u="none">
                <a:solidFill>
                  <a:srgbClr val="000000"/>
                </a:solidFill>
                <a:latin typeface="Open Sans"/>
                <a:ea typeface="Open Sans"/>
                <a:cs typeface="Open Sans"/>
                <a:sym typeface="Open Sans"/>
              </a:rPr>
              <a:t>lCola </a:t>
            </a:r>
            <a:r>
              <a:rPr lang="en-US" sz="1728" strike="noStrike" u="none">
                <a:solidFill>
                  <a:srgbClr val="000000"/>
                </a:solidFill>
                <a:latin typeface="Open Sans"/>
                <a:ea typeface="Open Sans"/>
                <a:cs typeface="Open Sans"/>
                <a:sym typeface="Open Sans"/>
              </a:rPr>
              <a:t>+ 1) % MAX_PROCESOS</a:t>
            </a:r>
            <a:r>
              <a:rPr lang="en-US" sz="1728" strike="noStrike" u="none">
                <a:solidFill>
                  <a:srgbClr val="000000"/>
                </a:solidFill>
                <a:latin typeface="Open Sans"/>
                <a:ea typeface="Open Sans"/>
                <a:cs typeface="Open Sans"/>
                <a:sym typeface="Open Sans"/>
              </a:rPr>
              <a:t>.</a:t>
            </a:r>
          </a:p>
          <a:p>
            <a:pPr algn="l" marL="373111" indent="-186555" lvl="1">
              <a:lnSpc>
                <a:spcPts val="2419"/>
              </a:lnSpc>
              <a:spcBef>
                <a:spcPct val="0"/>
              </a:spcBef>
              <a:buFont typeface="Arial"/>
              <a:buChar char="•"/>
            </a:pPr>
            <a:r>
              <a:rPr lang="en-US" sz="1728" strike="noStrike" u="none">
                <a:solidFill>
                  <a:srgbClr val="000000"/>
                </a:solidFill>
                <a:latin typeface="Open Sans"/>
                <a:ea typeface="Open Sans"/>
                <a:cs typeface="Open Sans"/>
                <a:sym typeface="Open Sans"/>
              </a:rPr>
              <a:t>A</a:t>
            </a:r>
            <a:r>
              <a:rPr lang="en-US" sz="1728" strike="noStrike" u="none">
                <a:solidFill>
                  <a:srgbClr val="000000"/>
                </a:solidFill>
                <a:latin typeface="Open Sans"/>
                <a:ea typeface="Open Sans"/>
                <a:cs typeface="Open Sans"/>
                <a:sym typeface="Open Sans"/>
              </a:rPr>
              <a:t>l eliminar, se usa </a:t>
            </a:r>
            <a:r>
              <a:rPr lang="en-US" sz="1728" strike="noStrike" u="none">
                <a:solidFill>
                  <a:srgbClr val="000000"/>
                </a:solidFill>
                <a:latin typeface="Open Sans"/>
                <a:ea typeface="Open Sans"/>
                <a:cs typeface="Open Sans"/>
                <a:sym typeface="Open Sans"/>
              </a:rPr>
              <a:t>fr</a:t>
            </a:r>
            <a:r>
              <a:rPr lang="en-US" sz="1728" strike="noStrike" u="none">
                <a:solidFill>
                  <a:srgbClr val="000000"/>
                </a:solidFill>
                <a:latin typeface="Open Sans"/>
                <a:ea typeface="Open Sans"/>
                <a:cs typeface="Open Sans"/>
                <a:sym typeface="Open Sans"/>
              </a:rPr>
              <a:t>e</a:t>
            </a:r>
            <a:r>
              <a:rPr lang="en-US" sz="1728" strike="noStrike" u="none">
                <a:solidFill>
                  <a:srgbClr val="000000"/>
                </a:solidFill>
                <a:latin typeface="Open Sans"/>
                <a:ea typeface="Open Sans"/>
                <a:cs typeface="Open Sans"/>
                <a:sym typeface="Open Sans"/>
              </a:rPr>
              <a:t>n</a:t>
            </a:r>
            <a:r>
              <a:rPr lang="en-US" sz="1728" strike="noStrike" u="none">
                <a:solidFill>
                  <a:srgbClr val="000000"/>
                </a:solidFill>
                <a:latin typeface="Open Sans"/>
                <a:ea typeface="Open Sans"/>
                <a:cs typeface="Open Sans"/>
                <a:sym typeface="Open Sans"/>
              </a:rPr>
              <a:t>t</a:t>
            </a:r>
            <a:r>
              <a:rPr lang="en-US" sz="1728" strike="noStrike" u="none">
                <a:solidFill>
                  <a:srgbClr val="000000"/>
                </a:solidFill>
                <a:latin typeface="Open Sans"/>
                <a:ea typeface="Open Sans"/>
                <a:cs typeface="Open Sans"/>
                <a:sym typeface="Open Sans"/>
              </a:rPr>
              <a:t>eC</a:t>
            </a:r>
            <a:r>
              <a:rPr lang="en-US" sz="1728" strike="noStrike" u="none">
                <a:solidFill>
                  <a:srgbClr val="000000"/>
                </a:solidFill>
                <a:latin typeface="Open Sans"/>
                <a:ea typeface="Open Sans"/>
                <a:cs typeface="Open Sans"/>
                <a:sym typeface="Open Sans"/>
              </a:rPr>
              <a:t>ola = (frente</a:t>
            </a:r>
            <a:r>
              <a:rPr lang="en-US" sz="1728" strike="noStrike" u="none">
                <a:solidFill>
                  <a:srgbClr val="000000"/>
                </a:solidFill>
                <a:latin typeface="Open Sans"/>
                <a:ea typeface="Open Sans"/>
                <a:cs typeface="Open Sans"/>
                <a:sym typeface="Open Sans"/>
              </a:rPr>
              <a:t>Col</a:t>
            </a:r>
            <a:r>
              <a:rPr lang="en-US" sz="1728" strike="noStrike" u="none">
                <a:solidFill>
                  <a:srgbClr val="000000"/>
                </a:solidFill>
                <a:latin typeface="Open Sans"/>
                <a:ea typeface="Open Sans"/>
                <a:cs typeface="Open Sans"/>
                <a:sym typeface="Open Sans"/>
              </a:rPr>
              <a:t>a + 1) % MAX_PROCESOS.</a:t>
            </a:r>
          </a:p>
          <a:p>
            <a:pPr algn="l" marL="459469" indent="-229734" lvl="1">
              <a:lnSpc>
                <a:spcPts val="2979"/>
              </a:lnSpc>
              <a:spcBef>
                <a:spcPct val="0"/>
              </a:spcBef>
              <a:buFont typeface="Arial"/>
              <a:buChar char="•"/>
            </a:pPr>
            <a:r>
              <a:rPr lang="en-US" sz="2128" strike="noStrike" u="none">
                <a:solidFill>
                  <a:srgbClr val="000000"/>
                </a:solidFill>
                <a:latin typeface="Open Sans"/>
                <a:ea typeface="Open Sans"/>
                <a:cs typeface="Open Sans"/>
                <a:sym typeface="Open Sans"/>
              </a:rPr>
              <a:t>Al mostrar, se recorren desde el frente ha</a:t>
            </a:r>
            <a:r>
              <a:rPr lang="en-US" sz="2128" strike="noStrike" u="none">
                <a:solidFill>
                  <a:srgbClr val="000000"/>
                </a:solidFill>
                <a:latin typeface="Open Sans"/>
                <a:ea typeface="Open Sans"/>
                <a:cs typeface="Open Sans"/>
                <a:sym typeface="Open Sans"/>
              </a:rPr>
              <a:t>sta la </a:t>
            </a:r>
            <a:r>
              <a:rPr lang="en-US" sz="2128" strike="noStrike" u="none">
                <a:solidFill>
                  <a:srgbClr val="000000"/>
                </a:solidFill>
                <a:latin typeface="Open Sans"/>
                <a:ea typeface="Open Sans"/>
                <a:cs typeface="Open Sans"/>
                <a:sym typeface="Open Sans"/>
              </a:rPr>
              <a:t>c</a:t>
            </a:r>
            <a:r>
              <a:rPr lang="en-US" sz="2128" strike="noStrike" u="none">
                <a:solidFill>
                  <a:srgbClr val="000000"/>
                </a:solidFill>
                <a:latin typeface="Open Sans"/>
                <a:ea typeface="Open Sans"/>
                <a:cs typeface="Open Sans"/>
                <a:sym typeface="Open Sans"/>
              </a:rPr>
              <a:t>ant</a:t>
            </a:r>
            <a:r>
              <a:rPr lang="en-US" sz="2128" strike="noStrike" u="none">
                <a:solidFill>
                  <a:srgbClr val="000000"/>
                </a:solidFill>
                <a:latin typeface="Open Sans"/>
                <a:ea typeface="Open Sans"/>
                <a:cs typeface="Open Sans"/>
                <a:sym typeface="Open Sans"/>
              </a:rPr>
              <a:t>ida</a:t>
            </a:r>
            <a:r>
              <a:rPr lang="en-US" sz="2128" strike="noStrike" u="none">
                <a:solidFill>
                  <a:srgbClr val="000000"/>
                </a:solidFill>
                <a:latin typeface="Open Sans"/>
                <a:ea typeface="Open Sans"/>
                <a:cs typeface="Open Sans"/>
                <a:sym typeface="Open Sans"/>
              </a:rPr>
              <a:t>d</a:t>
            </a:r>
            <a:r>
              <a:rPr lang="en-US" sz="2128" strike="noStrike" u="none">
                <a:solidFill>
                  <a:srgbClr val="000000"/>
                </a:solidFill>
                <a:latin typeface="Open Sans"/>
                <a:ea typeface="Open Sans"/>
                <a:cs typeface="Open Sans"/>
                <a:sym typeface="Open Sans"/>
              </a:rPr>
              <a:t> a</a:t>
            </a:r>
            <a:r>
              <a:rPr lang="en-US" sz="2128" strike="noStrike" u="none">
                <a:solidFill>
                  <a:srgbClr val="000000"/>
                </a:solidFill>
                <a:latin typeface="Open Sans"/>
                <a:ea typeface="Open Sans"/>
                <a:cs typeface="Open Sans"/>
                <a:sym typeface="Open Sans"/>
              </a:rPr>
              <a:t>ctu</a:t>
            </a:r>
            <a:r>
              <a:rPr lang="en-US" sz="2128" strike="noStrike" u="none">
                <a:solidFill>
                  <a:srgbClr val="000000"/>
                </a:solidFill>
                <a:latin typeface="Open Sans"/>
                <a:ea typeface="Open Sans"/>
                <a:cs typeface="Open Sans"/>
                <a:sym typeface="Open Sans"/>
              </a:rPr>
              <a:t>a</a:t>
            </a:r>
            <a:r>
              <a:rPr lang="en-US" sz="2128" strike="noStrike" u="none">
                <a:solidFill>
                  <a:srgbClr val="000000"/>
                </a:solidFill>
                <a:latin typeface="Open Sans"/>
                <a:ea typeface="Open Sans"/>
                <a:cs typeface="Open Sans"/>
                <a:sym typeface="Open Sans"/>
              </a:rPr>
              <a:t>l</a:t>
            </a:r>
            <a:r>
              <a:rPr lang="en-US" sz="2128" strike="noStrike" u="none">
                <a:solidFill>
                  <a:srgbClr val="000000"/>
                </a:solidFill>
                <a:latin typeface="Open Sans"/>
                <a:ea typeface="Open Sans"/>
                <a:cs typeface="Open Sans"/>
                <a:sym typeface="Open Sans"/>
              </a:rPr>
              <a:t>.</a:t>
            </a:r>
          </a:p>
        </p:txBody>
      </p:sp>
      <p:sp>
        <p:nvSpPr>
          <p:cNvPr name="TextBox 12" id="12"/>
          <p:cNvSpPr txBox="true"/>
          <p:nvPr/>
        </p:nvSpPr>
        <p:spPr>
          <a:xfrm rot="0">
            <a:off x="9352770" y="5522820"/>
            <a:ext cx="6448327" cy="1735371"/>
          </a:xfrm>
          <a:prstGeom prst="rect">
            <a:avLst/>
          </a:prstGeom>
        </p:spPr>
        <p:txBody>
          <a:bodyPr anchor="t" rtlCol="false" tIns="0" lIns="0" bIns="0" rIns="0">
            <a:spAutoFit/>
          </a:bodyPr>
          <a:lstStyle/>
          <a:p>
            <a:pPr algn="just" marL="0" indent="0" lvl="0">
              <a:lnSpc>
                <a:spcPts val="2805"/>
              </a:lnSpc>
              <a:spcBef>
                <a:spcPct val="0"/>
              </a:spcBef>
            </a:pPr>
            <a:r>
              <a:rPr lang="en-US" sz="2004">
                <a:solidFill>
                  <a:srgbClr val="000000"/>
                </a:solidFill>
                <a:latin typeface="Open Sans"/>
                <a:ea typeface="Open Sans"/>
                <a:cs typeface="Open Sans"/>
                <a:sym typeface="Open Sans"/>
              </a:rPr>
              <a:t>Ej</a:t>
            </a:r>
            <a:r>
              <a:rPr lang="en-US" sz="2004" strike="noStrike" u="none">
                <a:solidFill>
                  <a:srgbClr val="000000"/>
                </a:solidFill>
                <a:latin typeface="Open Sans"/>
                <a:ea typeface="Open Sans"/>
                <a:cs typeface="Open Sans"/>
                <a:sym typeface="Open Sans"/>
              </a:rPr>
              <a:t>emplo:</a:t>
            </a:r>
          </a:p>
          <a:p>
            <a:pPr algn="just" marL="432700" indent="-216350" lvl="1">
              <a:lnSpc>
                <a:spcPts val="2805"/>
              </a:lnSpc>
              <a:spcBef>
                <a:spcPct val="0"/>
              </a:spcBef>
              <a:buAutoNum type="arabicPeriod" startAt="1"/>
            </a:pPr>
            <a:r>
              <a:rPr lang="en-US" sz="2004" strike="noStrike" u="none">
                <a:solidFill>
                  <a:srgbClr val="000000"/>
                </a:solidFill>
                <a:latin typeface="Open Sans"/>
                <a:ea typeface="Open Sans"/>
                <a:cs typeface="Open Sans"/>
                <a:sym typeface="Open Sans"/>
              </a:rPr>
              <a:t>Agrego:</a:t>
            </a:r>
            <a:r>
              <a:rPr lang="en-US" sz="2004" strike="noStrike" u="none">
                <a:solidFill>
                  <a:srgbClr val="000000"/>
                </a:solidFill>
                <a:latin typeface="Open Sans"/>
                <a:ea typeface="Open Sans"/>
                <a:cs typeface="Open Sans"/>
                <a:sym typeface="Open Sans"/>
              </a:rPr>
              <a:t> Proceso</a:t>
            </a:r>
            <a:r>
              <a:rPr lang="en-US" sz="2004" strike="noStrike" u="none">
                <a:solidFill>
                  <a:srgbClr val="000000"/>
                </a:solidFill>
                <a:latin typeface="Open Sans"/>
                <a:ea typeface="Open Sans"/>
                <a:cs typeface="Open Sans"/>
                <a:sym typeface="Open Sans"/>
              </a:rPr>
              <a:t> A, Proceso B, Proceso C.</a:t>
            </a:r>
          </a:p>
          <a:p>
            <a:pPr algn="just" marL="432700" indent="-216350" lvl="1">
              <a:lnSpc>
                <a:spcPts val="2805"/>
              </a:lnSpc>
              <a:spcBef>
                <a:spcPct val="0"/>
              </a:spcBef>
              <a:buAutoNum type="arabicPeriod" startAt="1"/>
            </a:pPr>
            <a:r>
              <a:rPr lang="en-US" sz="2004" strike="noStrike" u="none">
                <a:solidFill>
                  <a:srgbClr val="000000"/>
                </a:solidFill>
                <a:latin typeface="Open Sans"/>
                <a:ea typeface="Open Sans"/>
                <a:cs typeface="Open Sans"/>
                <a:sym typeface="Open Sans"/>
              </a:rPr>
              <a:t>Elimino → Se quita: Proceso </a:t>
            </a:r>
            <a:r>
              <a:rPr lang="en-US" sz="2004" strike="noStrike" u="none">
                <a:solidFill>
                  <a:srgbClr val="000000"/>
                </a:solidFill>
                <a:latin typeface="Open Sans"/>
                <a:ea typeface="Open Sans"/>
                <a:cs typeface="Open Sans"/>
                <a:sym typeface="Open Sans"/>
              </a:rPr>
              <a:t>A</a:t>
            </a:r>
            <a:r>
              <a:rPr lang="en-US" sz="2004" strike="noStrike" u="none">
                <a:solidFill>
                  <a:srgbClr val="000000"/>
                </a:solidFill>
                <a:latin typeface="Open Sans"/>
                <a:ea typeface="Open Sans"/>
                <a:cs typeface="Open Sans"/>
                <a:sym typeface="Open Sans"/>
              </a:rPr>
              <a:t>.</a:t>
            </a:r>
          </a:p>
          <a:p>
            <a:pPr algn="just" marL="432700" indent="-216350" lvl="1">
              <a:lnSpc>
                <a:spcPts val="2805"/>
              </a:lnSpc>
              <a:spcBef>
                <a:spcPct val="0"/>
              </a:spcBef>
              <a:buAutoNum type="arabicPeriod" startAt="1"/>
            </a:pPr>
            <a:r>
              <a:rPr lang="en-US" sz="2004" strike="noStrike" u="none">
                <a:solidFill>
                  <a:srgbClr val="000000"/>
                </a:solidFill>
                <a:latin typeface="Open Sans"/>
                <a:ea typeface="Open Sans"/>
                <a:cs typeface="Open Sans"/>
                <a:sym typeface="Open Sans"/>
              </a:rPr>
              <a:t>M</a:t>
            </a:r>
            <a:r>
              <a:rPr lang="en-US" sz="2004" strike="noStrike" u="none">
                <a:solidFill>
                  <a:srgbClr val="000000"/>
                </a:solidFill>
                <a:latin typeface="Open Sans"/>
                <a:ea typeface="Open Sans"/>
                <a:cs typeface="Open Sans"/>
                <a:sym typeface="Open Sans"/>
              </a:rPr>
              <a:t>ostrar → Quedan: Proceso B, Proceso </a:t>
            </a:r>
            <a:r>
              <a:rPr lang="en-US" sz="2004" strike="noStrike" u="none">
                <a:solidFill>
                  <a:srgbClr val="000000"/>
                </a:solidFill>
                <a:latin typeface="Open Sans"/>
                <a:ea typeface="Open Sans"/>
                <a:cs typeface="Open Sans"/>
                <a:sym typeface="Open Sans"/>
              </a:rPr>
              <a:t>C</a:t>
            </a:r>
            <a:r>
              <a:rPr lang="en-US" sz="2004" strike="noStrike" u="none">
                <a:solidFill>
                  <a:srgbClr val="000000"/>
                </a:solidFill>
                <a:latin typeface="Open Sans"/>
                <a:ea typeface="Open Sans"/>
                <a:cs typeface="Open Sans"/>
                <a:sym typeface="Open Sans"/>
              </a:rPr>
              <a:t>.</a:t>
            </a:r>
          </a:p>
          <a:p>
            <a:pPr algn="ctr" marL="0" indent="0" lvl="0">
              <a:lnSpc>
                <a:spcPts val="2538"/>
              </a:lnSpc>
              <a:spcBef>
                <a:spcPct val="0"/>
              </a:spcBef>
            </a:pP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a:off x="-1130260" y="9277350"/>
            <a:ext cx="20548521" cy="0"/>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820488" y="-3456152"/>
            <a:ext cx="0" cy="20548521"/>
          </a:xfrm>
          <a:prstGeom prst="line">
            <a:avLst/>
          </a:prstGeom>
          <a:ln cap="flat" w="38100">
            <a:solidFill>
              <a:srgbClr val="000000"/>
            </a:solidFill>
            <a:prstDash val="solid"/>
            <a:headEnd type="none" len="sm" w="sm"/>
            <a:tailEnd type="none" len="sm" w="sm"/>
          </a:ln>
        </p:spPr>
      </p:sp>
      <p:sp>
        <p:nvSpPr>
          <p:cNvPr name="AutoShape 5" id="5"/>
          <p:cNvSpPr/>
          <p:nvPr/>
        </p:nvSpPr>
        <p:spPr>
          <a:xfrm flipV="true">
            <a:off x="16486562" y="-3456152"/>
            <a:ext cx="0" cy="20548521"/>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0">
            <a:off x="233879" y="-576959"/>
            <a:ext cx="3173218" cy="3173218"/>
          </a:xfrm>
          <a:custGeom>
            <a:avLst/>
            <a:gdLst/>
            <a:ahLst/>
            <a:cxnLst/>
            <a:rect r="r" b="b" t="t" l="l"/>
            <a:pathLst>
              <a:path h="3173218" w="3173218">
                <a:moveTo>
                  <a:pt x="0" y="0"/>
                </a:moveTo>
                <a:lnTo>
                  <a:pt x="3173218" y="0"/>
                </a:lnTo>
                <a:lnTo>
                  <a:pt x="3173218" y="3173218"/>
                </a:lnTo>
                <a:lnTo>
                  <a:pt x="0" y="31732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4899953" y="-576959"/>
            <a:ext cx="3173218" cy="3173218"/>
          </a:xfrm>
          <a:custGeom>
            <a:avLst/>
            <a:gdLst/>
            <a:ahLst/>
            <a:cxnLst/>
            <a:rect r="r" b="b" t="t" l="l"/>
            <a:pathLst>
              <a:path h="3173218" w="3173218">
                <a:moveTo>
                  <a:pt x="0" y="0"/>
                </a:moveTo>
                <a:lnTo>
                  <a:pt x="3173218" y="0"/>
                </a:lnTo>
                <a:lnTo>
                  <a:pt x="3173218" y="3173218"/>
                </a:lnTo>
                <a:lnTo>
                  <a:pt x="0" y="31732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233879" y="3507514"/>
            <a:ext cx="3173218" cy="3173218"/>
          </a:xfrm>
          <a:custGeom>
            <a:avLst/>
            <a:gdLst/>
            <a:ahLst/>
            <a:cxnLst/>
            <a:rect r="r" b="b" t="t" l="l"/>
            <a:pathLst>
              <a:path h="3173218" w="3173218">
                <a:moveTo>
                  <a:pt x="0" y="0"/>
                </a:moveTo>
                <a:lnTo>
                  <a:pt x="3173218" y="0"/>
                </a:lnTo>
                <a:lnTo>
                  <a:pt x="3173218" y="3173218"/>
                </a:lnTo>
                <a:lnTo>
                  <a:pt x="0" y="31732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9953" y="3507514"/>
            <a:ext cx="3173218" cy="3173218"/>
          </a:xfrm>
          <a:custGeom>
            <a:avLst/>
            <a:gdLst/>
            <a:ahLst/>
            <a:cxnLst/>
            <a:rect r="r" b="b" t="t" l="l"/>
            <a:pathLst>
              <a:path h="3173218" w="3173218">
                <a:moveTo>
                  <a:pt x="0" y="0"/>
                </a:moveTo>
                <a:lnTo>
                  <a:pt x="3173218" y="0"/>
                </a:lnTo>
                <a:lnTo>
                  <a:pt x="3173218" y="3173218"/>
                </a:lnTo>
                <a:lnTo>
                  <a:pt x="0" y="31732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233879" y="7690741"/>
            <a:ext cx="3173218" cy="3173218"/>
          </a:xfrm>
          <a:custGeom>
            <a:avLst/>
            <a:gdLst/>
            <a:ahLst/>
            <a:cxnLst/>
            <a:rect r="r" b="b" t="t" l="l"/>
            <a:pathLst>
              <a:path h="3173218" w="3173218">
                <a:moveTo>
                  <a:pt x="0" y="0"/>
                </a:moveTo>
                <a:lnTo>
                  <a:pt x="3173218" y="0"/>
                </a:lnTo>
                <a:lnTo>
                  <a:pt x="3173218" y="3173218"/>
                </a:lnTo>
                <a:lnTo>
                  <a:pt x="0" y="31732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4899953" y="7690741"/>
            <a:ext cx="3173218" cy="3173218"/>
          </a:xfrm>
          <a:custGeom>
            <a:avLst/>
            <a:gdLst/>
            <a:ahLst/>
            <a:cxnLst/>
            <a:rect r="r" b="b" t="t" l="l"/>
            <a:pathLst>
              <a:path h="3173218" w="3173218">
                <a:moveTo>
                  <a:pt x="0" y="0"/>
                </a:moveTo>
                <a:lnTo>
                  <a:pt x="3173218" y="0"/>
                </a:lnTo>
                <a:lnTo>
                  <a:pt x="3173218" y="3173218"/>
                </a:lnTo>
                <a:lnTo>
                  <a:pt x="0" y="31732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9129758" y="3484397"/>
            <a:ext cx="7288753" cy="1028700"/>
          </a:xfrm>
          <a:prstGeom prst="rect">
            <a:avLst/>
          </a:prstGeom>
        </p:spPr>
        <p:txBody>
          <a:bodyPr anchor="t" rtlCol="false" tIns="0" lIns="0" bIns="0" rIns="0">
            <a:spAutoFit/>
          </a:bodyPr>
          <a:lstStyle/>
          <a:p>
            <a:pPr algn="ctr">
              <a:lnSpc>
                <a:spcPts val="4199"/>
              </a:lnSpc>
            </a:pPr>
            <a:r>
              <a:rPr lang="en-US" sz="2999">
                <a:solidFill>
                  <a:srgbClr val="1E1D1C"/>
                </a:solidFill>
                <a:latin typeface="Tex Gyre Termes"/>
                <a:ea typeface="Tex Gyre Termes"/>
                <a:cs typeface="Tex Gyre Termes"/>
                <a:sym typeface="Tex Gyre Termes"/>
              </a:rPr>
              <a:t>Pila: Para simular la gestión de memoria, asignando o liberando bloques de RAM.</a:t>
            </a:r>
          </a:p>
        </p:txBody>
      </p:sp>
      <p:sp>
        <p:nvSpPr>
          <p:cNvPr name="TextBox 13" id="13"/>
          <p:cNvSpPr txBox="true"/>
          <p:nvPr/>
        </p:nvSpPr>
        <p:spPr>
          <a:xfrm rot="0">
            <a:off x="2136183" y="3484397"/>
            <a:ext cx="7288753" cy="1028700"/>
          </a:xfrm>
          <a:prstGeom prst="rect">
            <a:avLst/>
          </a:prstGeom>
        </p:spPr>
        <p:txBody>
          <a:bodyPr anchor="t" rtlCol="false" tIns="0" lIns="0" bIns="0" rIns="0">
            <a:spAutoFit/>
          </a:bodyPr>
          <a:lstStyle/>
          <a:p>
            <a:pPr algn="ctr">
              <a:lnSpc>
                <a:spcPts val="4199"/>
              </a:lnSpc>
            </a:pPr>
            <a:r>
              <a:rPr lang="en-US" sz="2999">
                <a:solidFill>
                  <a:srgbClr val="1E1D1C"/>
                </a:solidFill>
                <a:latin typeface="Tex Gyre Termes"/>
                <a:ea typeface="Tex Gyre Termes"/>
                <a:cs typeface="Tex Gyre Termes"/>
                <a:sym typeface="Tex Gyre Termes"/>
              </a:rPr>
              <a:t>Lista enlazada: Para gestionar procesos (crearlos, eliminarlos, buscarlos).</a:t>
            </a:r>
          </a:p>
        </p:txBody>
      </p:sp>
      <p:sp>
        <p:nvSpPr>
          <p:cNvPr name="TextBox 14" id="14"/>
          <p:cNvSpPr txBox="true"/>
          <p:nvPr/>
        </p:nvSpPr>
        <p:spPr>
          <a:xfrm rot="0">
            <a:off x="2614982" y="1799072"/>
            <a:ext cx="13058036" cy="1233747"/>
          </a:xfrm>
          <a:prstGeom prst="rect">
            <a:avLst/>
          </a:prstGeom>
        </p:spPr>
        <p:txBody>
          <a:bodyPr anchor="t" rtlCol="false" tIns="0" lIns="0" bIns="0" rIns="0">
            <a:spAutoFit/>
          </a:bodyPr>
          <a:lstStyle/>
          <a:p>
            <a:pPr algn="ctr">
              <a:lnSpc>
                <a:spcPts val="10080"/>
              </a:lnSpc>
            </a:pPr>
            <a:r>
              <a:rPr lang="en-US" sz="7200" i="true">
                <a:solidFill>
                  <a:srgbClr val="1E1D1C"/>
                </a:solidFill>
                <a:latin typeface="Tex Gyre Termes Italics"/>
                <a:ea typeface="Tex Gyre Termes Italics"/>
                <a:cs typeface="Tex Gyre Termes Italics"/>
                <a:sym typeface="Tex Gyre Termes Italics"/>
              </a:rPr>
              <a:t>Logica general:</a:t>
            </a:r>
          </a:p>
        </p:txBody>
      </p:sp>
      <p:sp>
        <p:nvSpPr>
          <p:cNvPr name="TextBox 15" id="15"/>
          <p:cNvSpPr txBox="true"/>
          <p:nvPr/>
        </p:nvSpPr>
        <p:spPr>
          <a:xfrm rot="0">
            <a:off x="2614982" y="6137807"/>
            <a:ext cx="5813127" cy="1552575"/>
          </a:xfrm>
          <a:prstGeom prst="rect">
            <a:avLst/>
          </a:prstGeom>
        </p:spPr>
        <p:txBody>
          <a:bodyPr anchor="t" rtlCol="false" tIns="0" lIns="0" bIns="0" rIns="0">
            <a:spAutoFit/>
          </a:bodyPr>
          <a:lstStyle/>
          <a:p>
            <a:pPr algn="ctr">
              <a:lnSpc>
                <a:spcPts val="4199"/>
              </a:lnSpc>
            </a:pPr>
            <a:r>
              <a:rPr lang="en-US" sz="2999">
                <a:solidFill>
                  <a:srgbClr val="1E1D1C"/>
                </a:solidFill>
                <a:latin typeface="Tex Gyre Termes"/>
                <a:ea typeface="Tex Gyre Termes"/>
                <a:cs typeface="Tex Gyre Termes"/>
                <a:sym typeface="Tex Gyre Termes"/>
              </a:rPr>
              <a:t>Cola de prioridad: Para simular la planificación de CPU, atendiendo procesos según su prioridad.</a:t>
            </a:r>
          </a:p>
        </p:txBody>
      </p:sp>
      <p:sp>
        <p:nvSpPr>
          <p:cNvPr name="TextBox 16" id="16"/>
          <p:cNvSpPr txBox="true"/>
          <p:nvPr/>
        </p:nvSpPr>
        <p:spPr>
          <a:xfrm rot="0">
            <a:off x="9859891" y="6138165"/>
            <a:ext cx="5813127" cy="1552575"/>
          </a:xfrm>
          <a:prstGeom prst="rect">
            <a:avLst/>
          </a:prstGeom>
        </p:spPr>
        <p:txBody>
          <a:bodyPr anchor="t" rtlCol="false" tIns="0" lIns="0" bIns="0" rIns="0">
            <a:spAutoFit/>
          </a:bodyPr>
          <a:lstStyle/>
          <a:p>
            <a:pPr algn="ctr">
              <a:lnSpc>
                <a:spcPts val="4199"/>
              </a:lnSpc>
            </a:pPr>
            <a:r>
              <a:rPr lang="en-US" sz="2999">
                <a:solidFill>
                  <a:srgbClr val="1E1D1C"/>
                </a:solidFill>
                <a:latin typeface="Tex Gyre Termes"/>
                <a:ea typeface="Tex Gyre Termes"/>
                <a:cs typeface="Tex Gyre Termes"/>
                <a:sym typeface="Tex Gyre Termes"/>
              </a:rPr>
              <a:t>Además, se usa un archivo de texto (procesos.txt) para guardar/cargar los procesos al iniciar/cerrar el programa.</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a:off x="-1130260" y="9277350"/>
            <a:ext cx="20548521" cy="0"/>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820488" y="-3456152"/>
            <a:ext cx="0" cy="20548521"/>
          </a:xfrm>
          <a:prstGeom prst="line">
            <a:avLst/>
          </a:prstGeom>
          <a:ln cap="flat" w="38100">
            <a:solidFill>
              <a:srgbClr val="000000"/>
            </a:solidFill>
            <a:prstDash val="solid"/>
            <a:headEnd type="none" len="sm" w="sm"/>
            <a:tailEnd type="none" len="sm" w="sm"/>
          </a:ln>
        </p:spPr>
      </p:sp>
      <p:sp>
        <p:nvSpPr>
          <p:cNvPr name="AutoShape 5" id="5"/>
          <p:cNvSpPr/>
          <p:nvPr/>
        </p:nvSpPr>
        <p:spPr>
          <a:xfrm flipV="true">
            <a:off x="16486562" y="-3456152"/>
            <a:ext cx="0" cy="20548521"/>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1376464">
            <a:off x="15742396" y="2845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376464">
            <a:off x="1076321" y="853318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1255199">
            <a:off x="15742396" y="85141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988181" y="1001466"/>
            <a:ext cx="5192607" cy="1002606"/>
          </a:xfrm>
          <a:prstGeom prst="rect">
            <a:avLst/>
          </a:prstGeom>
        </p:spPr>
        <p:txBody>
          <a:bodyPr anchor="t" rtlCol="false" tIns="0" lIns="0" bIns="0" rIns="0">
            <a:spAutoFit/>
          </a:bodyPr>
          <a:lstStyle/>
          <a:p>
            <a:pPr algn="l">
              <a:lnSpc>
                <a:spcPts val="8120"/>
              </a:lnSpc>
            </a:pPr>
            <a:r>
              <a:rPr lang="en-US" sz="5800" i="true" u="sng">
                <a:solidFill>
                  <a:srgbClr val="1E1D1C"/>
                </a:solidFill>
                <a:latin typeface="Tex Gyre Termes Italics"/>
                <a:ea typeface="Tex Gyre Termes Italics"/>
                <a:cs typeface="Tex Gyre Termes Italics"/>
                <a:sym typeface="Tex Gyre Termes Italics"/>
              </a:rPr>
              <a:t>Solución en C++</a:t>
            </a:r>
          </a:p>
        </p:txBody>
      </p:sp>
      <p:sp>
        <p:nvSpPr>
          <p:cNvPr name="TextBox 10" id="10"/>
          <p:cNvSpPr txBox="true"/>
          <p:nvPr/>
        </p:nvSpPr>
        <p:spPr>
          <a:xfrm rot="0">
            <a:off x="1988181" y="2218061"/>
            <a:ext cx="6157287" cy="629920"/>
          </a:xfrm>
          <a:prstGeom prst="rect">
            <a:avLst/>
          </a:prstGeom>
        </p:spPr>
        <p:txBody>
          <a:bodyPr anchor="t" rtlCol="false" tIns="0" lIns="0" bIns="0" rIns="0">
            <a:spAutoFit/>
          </a:bodyPr>
          <a:lstStyle/>
          <a:p>
            <a:pPr algn="l">
              <a:lnSpc>
                <a:spcPts val="5179"/>
              </a:lnSpc>
            </a:pPr>
            <a:r>
              <a:rPr lang="en-US" sz="3699" b="true">
                <a:solidFill>
                  <a:srgbClr val="1E1D1C"/>
                </a:solidFill>
                <a:latin typeface="Tex Gyre Termes Bold"/>
                <a:ea typeface="Tex Gyre Termes Bold"/>
                <a:cs typeface="Tex Gyre Termes Bold"/>
                <a:sym typeface="Tex Gyre Termes Bold"/>
              </a:rPr>
              <a:t>Cola de procesos:</a:t>
            </a:r>
          </a:p>
        </p:txBody>
      </p:sp>
      <p:sp>
        <p:nvSpPr>
          <p:cNvPr name="TextBox 11" id="11"/>
          <p:cNvSpPr txBox="true"/>
          <p:nvPr/>
        </p:nvSpPr>
        <p:spPr>
          <a:xfrm rot="0">
            <a:off x="2221640" y="3071495"/>
            <a:ext cx="11341885" cy="4105910"/>
          </a:xfrm>
          <a:prstGeom prst="rect">
            <a:avLst/>
          </a:prstGeom>
        </p:spPr>
        <p:txBody>
          <a:bodyPr anchor="t" rtlCol="false" tIns="0" lIns="0" bIns="0" rIns="0">
            <a:spAutoFit/>
          </a:bodyPr>
          <a:lstStyle/>
          <a:p>
            <a:pPr algn="l">
              <a:lnSpc>
                <a:spcPts val="3640"/>
              </a:lnSpc>
            </a:pPr>
            <a:r>
              <a:rPr lang="en-US" sz="2600">
                <a:solidFill>
                  <a:srgbClr val="000000"/>
                </a:solidFill>
                <a:latin typeface="Open Sans"/>
                <a:ea typeface="Open Sans"/>
                <a:cs typeface="Open Sans"/>
                <a:sym typeface="Open Sans"/>
              </a:rPr>
              <a:t>Usos:</a:t>
            </a:r>
          </a:p>
          <a:p>
            <a:pPr algn="l" marL="561344" indent="-280672" lvl="1">
              <a:lnSpc>
                <a:spcPts val="3640"/>
              </a:lnSpc>
              <a:buFont typeface="Arial"/>
              <a:buChar char="•"/>
            </a:pPr>
            <a:r>
              <a:rPr lang="en-US" sz="2600">
                <a:solidFill>
                  <a:srgbClr val="000000"/>
                </a:solidFill>
                <a:latin typeface="Open Sans"/>
                <a:ea typeface="Open Sans"/>
                <a:cs typeface="Open Sans"/>
                <a:sym typeface="Open Sans"/>
              </a:rPr>
              <a:t>Pl</a:t>
            </a:r>
            <a:r>
              <a:rPr lang="en-US" sz="2600">
                <a:solidFill>
                  <a:srgbClr val="000000"/>
                </a:solidFill>
                <a:latin typeface="Open Sans"/>
                <a:ea typeface="Open Sans"/>
                <a:cs typeface="Open Sans"/>
                <a:sym typeface="Open Sans"/>
              </a:rPr>
              <a:t>anifica qué proceso debe ejecutar la CPU.</a:t>
            </a:r>
          </a:p>
          <a:p>
            <a:pPr algn="l" marL="561344" indent="-280672" lvl="1">
              <a:lnSpc>
                <a:spcPts val="3640"/>
              </a:lnSpc>
              <a:buFont typeface="Arial"/>
              <a:buChar char="•"/>
            </a:pPr>
            <a:r>
              <a:rPr lang="en-US" sz="2600">
                <a:solidFill>
                  <a:srgbClr val="000000"/>
                </a:solidFill>
                <a:latin typeface="Open Sans"/>
                <a:ea typeface="Open Sans"/>
                <a:cs typeface="Open Sans"/>
                <a:sym typeface="Open Sans"/>
              </a:rPr>
              <a:t>Los procesos con mayor prioridad (número más alto) se colocan al frente.</a:t>
            </a:r>
          </a:p>
          <a:p>
            <a:pPr algn="l">
              <a:lnSpc>
                <a:spcPts val="3640"/>
              </a:lnSpc>
            </a:pPr>
            <a:r>
              <a:rPr lang="en-US" sz="2600">
                <a:solidFill>
                  <a:srgbClr val="000000"/>
                </a:solidFill>
                <a:latin typeface="Open Sans"/>
                <a:ea typeface="Open Sans"/>
                <a:cs typeface="Open Sans"/>
                <a:sym typeface="Open Sans"/>
              </a:rPr>
              <a:t>Funciones </a:t>
            </a:r>
            <a:r>
              <a:rPr lang="en-US" sz="2600" strike="noStrike" u="none">
                <a:solidFill>
                  <a:srgbClr val="000000"/>
                </a:solidFill>
                <a:latin typeface="Open Sans"/>
                <a:ea typeface="Open Sans"/>
                <a:cs typeface="Open Sans"/>
                <a:sym typeface="Open Sans"/>
              </a:rPr>
              <a:t>:</a:t>
            </a:r>
          </a:p>
          <a:p>
            <a:pPr algn="l" marL="561344" indent="-280672" lvl="1">
              <a:lnSpc>
                <a:spcPts val="3640"/>
              </a:lnSpc>
              <a:buFont typeface="Arial"/>
              <a:buChar char="•"/>
            </a:pPr>
            <a:r>
              <a:rPr lang="en-US" sz="2600" strike="noStrike" u="none">
                <a:solidFill>
                  <a:srgbClr val="000000"/>
                </a:solidFill>
                <a:latin typeface="Open Sans"/>
                <a:ea typeface="Open Sans"/>
                <a:cs typeface="Open Sans"/>
                <a:sym typeface="Open Sans"/>
              </a:rPr>
              <a:t>c</a:t>
            </a:r>
            <a:r>
              <a:rPr lang="en-US" sz="2600" strike="noStrike" u="none">
                <a:solidFill>
                  <a:srgbClr val="000000"/>
                </a:solidFill>
                <a:latin typeface="Open Sans"/>
                <a:ea typeface="Open Sans"/>
                <a:cs typeface="Open Sans"/>
                <a:sym typeface="Open Sans"/>
              </a:rPr>
              <a:t>r</a:t>
            </a:r>
            <a:r>
              <a:rPr lang="en-US" sz="2600" strike="noStrike" u="none">
                <a:solidFill>
                  <a:srgbClr val="000000"/>
                </a:solidFill>
                <a:latin typeface="Open Sans"/>
                <a:ea typeface="Open Sans"/>
                <a:cs typeface="Open Sans"/>
                <a:sym typeface="Open Sans"/>
              </a:rPr>
              <a:t>e</a:t>
            </a:r>
            <a:r>
              <a:rPr lang="en-US" sz="2600" strike="noStrike" u="none">
                <a:solidFill>
                  <a:srgbClr val="000000"/>
                </a:solidFill>
                <a:latin typeface="Open Sans"/>
                <a:ea typeface="Open Sans"/>
                <a:cs typeface="Open Sans"/>
                <a:sym typeface="Open Sans"/>
              </a:rPr>
              <a:t>arNodo</a:t>
            </a:r>
            <a:r>
              <a:rPr lang="en-US" sz="2600" strike="noStrike" u="none">
                <a:solidFill>
                  <a:srgbClr val="000000"/>
                </a:solidFill>
                <a:latin typeface="Open Sans"/>
                <a:ea typeface="Open Sans"/>
                <a:cs typeface="Open Sans"/>
                <a:sym typeface="Open Sans"/>
              </a:rPr>
              <a:t>CPU</a:t>
            </a:r>
            <a:r>
              <a:rPr lang="en-US" sz="2600" strike="noStrike" u="none">
                <a:solidFill>
                  <a:srgbClr val="000000"/>
                </a:solidFill>
                <a:latin typeface="Open Sans"/>
                <a:ea typeface="Open Sans"/>
                <a:cs typeface="Open Sans"/>
                <a:sym typeface="Open Sans"/>
              </a:rPr>
              <a:t>: Crea un nodo nuevo </a:t>
            </a:r>
            <a:r>
              <a:rPr lang="en-US" sz="2600" strike="noStrike" u="none">
                <a:solidFill>
                  <a:srgbClr val="000000"/>
                </a:solidFill>
                <a:latin typeface="Open Sans"/>
                <a:ea typeface="Open Sans"/>
                <a:cs typeface="Open Sans"/>
                <a:sym typeface="Open Sans"/>
              </a:rPr>
              <a:t>par</a:t>
            </a:r>
            <a:r>
              <a:rPr lang="en-US" sz="2600" strike="noStrike" u="none">
                <a:solidFill>
                  <a:srgbClr val="000000"/>
                </a:solidFill>
                <a:latin typeface="Open Sans"/>
                <a:ea typeface="Open Sans"/>
                <a:cs typeface="Open Sans"/>
                <a:sym typeface="Open Sans"/>
              </a:rPr>
              <a:t>a la c</a:t>
            </a:r>
            <a:r>
              <a:rPr lang="en-US" sz="2600" strike="noStrike" u="none">
                <a:solidFill>
                  <a:srgbClr val="000000"/>
                </a:solidFill>
                <a:latin typeface="Open Sans"/>
                <a:ea typeface="Open Sans"/>
                <a:cs typeface="Open Sans"/>
                <a:sym typeface="Open Sans"/>
              </a:rPr>
              <a:t>o</a:t>
            </a:r>
            <a:r>
              <a:rPr lang="en-US" sz="2600" strike="noStrike" u="none">
                <a:solidFill>
                  <a:srgbClr val="000000"/>
                </a:solidFill>
                <a:latin typeface="Open Sans"/>
                <a:ea typeface="Open Sans"/>
                <a:cs typeface="Open Sans"/>
                <a:sym typeface="Open Sans"/>
              </a:rPr>
              <a:t>la.</a:t>
            </a:r>
          </a:p>
          <a:p>
            <a:pPr algn="l" marL="561344" indent="-280672" lvl="1">
              <a:lnSpc>
                <a:spcPts val="3640"/>
              </a:lnSpc>
              <a:buFont typeface="Arial"/>
              <a:buChar char="•"/>
            </a:pPr>
            <a:r>
              <a:rPr lang="en-US" sz="2600" strike="noStrike" u="none">
                <a:solidFill>
                  <a:srgbClr val="000000"/>
                </a:solidFill>
                <a:latin typeface="Open Sans"/>
                <a:ea typeface="Open Sans"/>
                <a:cs typeface="Open Sans"/>
                <a:sym typeface="Open Sans"/>
              </a:rPr>
              <a:t>(Fal</a:t>
            </a:r>
            <a:r>
              <a:rPr lang="en-US" sz="2600" strike="noStrike" u="none">
                <a:solidFill>
                  <a:srgbClr val="000000"/>
                </a:solidFill>
                <a:latin typeface="Open Sans"/>
                <a:ea typeface="Open Sans"/>
                <a:cs typeface="Open Sans"/>
                <a:sym typeface="Open Sans"/>
              </a:rPr>
              <a:t>t</a:t>
            </a:r>
            <a:r>
              <a:rPr lang="en-US" sz="2600" strike="noStrike" u="none">
                <a:solidFill>
                  <a:srgbClr val="000000"/>
                </a:solidFill>
                <a:latin typeface="Open Sans"/>
                <a:ea typeface="Open Sans"/>
                <a:cs typeface="Open Sans"/>
                <a:sym typeface="Open Sans"/>
              </a:rPr>
              <a:t>a</a:t>
            </a:r>
            <a:r>
              <a:rPr lang="en-US" sz="2600" strike="noStrike" u="none">
                <a:solidFill>
                  <a:srgbClr val="000000"/>
                </a:solidFill>
                <a:latin typeface="Open Sans"/>
                <a:ea typeface="Open Sans"/>
                <a:cs typeface="Open Sans"/>
                <a:sym typeface="Open Sans"/>
              </a:rPr>
              <a:t>n</a:t>
            </a:r>
            <a:r>
              <a:rPr lang="en-US" sz="2600" strike="noStrike" u="none">
                <a:solidFill>
                  <a:srgbClr val="000000"/>
                </a:solidFill>
                <a:latin typeface="Open Sans"/>
                <a:ea typeface="Open Sans"/>
                <a:cs typeface="Open Sans"/>
                <a:sym typeface="Open Sans"/>
              </a:rPr>
              <a:t> la</a:t>
            </a:r>
            <a:r>
              <a:rPr lang="en-US" sz="2600" strike="noStrike" u="none">
                <a:solidFill>
                  <a:srgbClr val="000000"/>
                </a:solidFill>
                <a:latin typeface="Open Sans"/>
                <a:ea typeface="Open Sans"/>
                <a:cs typeface="Open Sans"/>
                <a:sym typeface="Open Sans"/>
              </a:rPr>
              <a:t>s</a:t>
            </a:r>
            <a:r>
              <a:rPr lang="en-US" sz="2600" strike="noStrike" u="none">
                <a:solidFill>
                  <a:srgbClr val="000000"/>
                </a:solidFill>
                <a:latin typeface="Open Sans"/>
                <a:ea typeface="Open Sans"/>
                <a:cs typeface="Open Sans"/>
                <a:sym typeface="Open Sans"/>
              </a:rPr>
              <a:t> </a:t>
            </a:r>
            <a:r>
              <a:rPr lang="en-US" sz="2600" strike="noStrike" u="none">
                <a:solidFill>
                  <a:srgbClr val="000000"/>
                </a:solidFill>
                <a:latin typeface="Open Sans"/>
                <a:ea typeface="Open Sans"/>
                <a:cs typeface="Open Sans"/>
                <a:sym typeface="Open Sans"/>
              </a:rPr>
              <a:t>fun</a:t>
            </a:r>
            <a:r>
              <a:rPr lang="en-US" sz="2600" strike="noStrike" u="none">
                <a:solidFill>
                  <a:srgbClr val="000000"/>
                </a:solidFill>
                <a:latin typeface="Open Sans"/>
                <a:ea typeface="Open Sans"/>
                <a:cs typeface="Open Sans"/>
                <a:sym typeface="Open Sans"/>
              </a:rPr>
              <a:t>ciones i</a:t>
            </a:r>
            <a:r>
              <a:rPr lang="en-US" sz="2600" strike="noStrike" u="none">
                <a:solidFill>
                  <a:srgbClr val="000000"/>
                </a:solidFill>
                <a:latin typeface="Open Sans"/>
                <a:ea typeface="Open Sans"/>
                <a:cs typeface="Open Sans"/>
                <a:sym typeface="Open Sans"/>
              </a:rPr>
              <a:t>ns</a:t>
            </a:r>
            <a:r>
              <a:rPr lang="en-US" sz="2600" strike="noStrike" u="none">
                <a:solidFill>
                  <a:srgbClr val="000000"/>
                </a:solidFill>
                <a:latin typeface="Open Sans"/>
                <a:ea typeface="Open Sans"/>
                <a:cs typeface="Open Sans"/>
                <a:sym typeface="Open Sans"/>
              </a:rPr>
              <a:t>er</a:t>
            </a:r>
            <a:r>
              <a:rPr lang="en-US" sz="2600" strike="noStrike" u="none">
                <a:solidFill>
                  <a:srgbClr val="000000"/>
                </a:solidFill>
                <a:latin typeface="Open Sans"/>
                <a:ea typeface="Open Sans"/>
                <a:cs typeface="Open Sans"/>
                <a:sym typeface="Open Sans"/>
              </a:rPr>
              <a:t>t</a:t>
            </a:r>
            <a:r>
              <a:rPr lang="en-US" sz="2600" strike="noStrike" u="none">
                <a:solidFill>
                  <a:srgbClr val="000000"/>
                </a:solidFill>
                <a:latin typeface="Open Sans"/>
                <a:ea typeface="Open Sans"/>
                <a:cs typeface="Open Sans"/>
                <a:sym typeface="Open Sans"/>
              </a:rPr>
              <a:t>ar</a:t>
            </a:r>
            <a:r>
              <a:rPr lang="en-US" sz="2600" strike="noStrike" u="none">
                <a:solidFill>
                  <a:srgbClr val="000000"/>
                </a:solidFill>
                <a:latin typeface="Open Sans"/>
                <a:ea typeface="Open Sans"/>
                <a:cs typeface="Open Sans"/>
                <a:sym typeface="Open Sans"/>
              </a:rPr>
              <a:t>EnC</a:t>
            </a:r>
            <a:r>
              <a:rPr lang="en-US" sz="2600" strike="noStrike" u="none">
                <a:solidFill>
                  <a:srgbClr val="000000"/>
                </a:solidFill>
                <a:latin typeface="Open Sans"/>
                <a:ea typeface="Open Sans"/>
                <a:cs typeface="Open Sans"/>
                <a:sym typeface="Open Sans"/>
              </a:rPr>
              <a:t>olaCPU, atenderProceso, mostrarCola</a:t>
            </a:r>
            <a:r>
              <a:rPr lang="en-US" sz="2600" strike="noStrike" u="none">
                <a:solidFill>
                  <a:srgbClr val="000000"/>
                </a:solidFill>
                <a:latin typeface="Open Sans"/>
                <a:ea typeface="Open Sans"/>
                <a:cs typeface="Open Sans"/>
                <a:sym typeface="Open Sans"/>
              </a:rPr>
              <a:t>CPU...</a:t>
            </a:r>
            <a:r>
              <a:rPr lang="en-US" sz="2600" strike="noStrike" u="none">
                <a:solidFill>
                  <a:srgbClr val="000000"/>
                </a:solidFill>
                <a:latin typeface="Open Sans"/>
                <a:ea typeface="Open Sans"/>
                <a:cs typeface="Open Sans"/>
                <a:sym typeface="Open Sans"/>
              </a:rPr>
              <a:t> puedes a</a:t>
            </a:r>
            <a:r>
              <a:rPr lang="en-US" sz="2600" strike="noStrike" u="none">
                <a:solidFill>
                  <a:srgbClr val="000000"/>
                </a:solidFill>
                <a:latin typeface="Open Sans"/>
                <a:ea typeface="Open Sans"/>
                <a:cs typeface="Open Sans"/>
                <a:sym typeface="Open Sans"/>
              </a:rPr>
              <a:t>gr</a:t>
            </a:r>
            <a:r>
              <a:rPr lang="en-US" sz="2600" strike="noStrike" u="none">
                <a:solidFill>
                  <a:srgbClr val="000000"/>
                </a:solidFill>
                <a:latin typeface="Open Sans"/>
                <a:ea typeface="Open Sans"/>
                <a:cs typeface="Open Sans"/>
                <a:sym typeface="Open Sans"/>
              </a:rPr>
              <a:t>e</a:t>
            </a:r>
            <a:r>
              <a:rPr lang="en-US" sz="2600" strike="noStrike" u="none">
                <a:solidFill>
                  <a:srgbClr val="000000"/>
                </a:solidFill>
                <a:latin typeface="Open Sans"/>
                <a:ea typeface="Open Sans"/>
                <a:cs typeface="Open Sans"/>
                <a:sym typeface="Open Sans"/>
              </a:rPr>
              <a:t>g</a:t>
            </a:r>
            <a:r>
              <a:rPr lang="en-US" sz="2600" strike="noStrike" u="none">
                <a:solidFill>
                  <a:srgbClr val="000000"/>
                </a:solidFill>
                <a:latin typeface="Open Sans"/>
                <a:ea typeface="Open Sans"/>
                <a:cs typeface="Open Sans"/>
                <a:sym typeface="Open Sans"/>
              </a:rPr>
              <a:t>arlas).</a:t>
            </a:r>
          </a:p>
          <a:p>
            <a:pPr algn="l">
              <a:lnSpc>
                <a:spcPts val="3640"/>
              </a:lnSpc>
            </a:pP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a:off x="-1130260" y="9277350"/>
            <a:ext cx="20548521" cy="0"/>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820488" y="-3456152"/>
            <a:ext cx="0" cy="20548521"/>
          </a:xfrm>
          <a:prstGeom prst="line">
            <a:avLst/>
          </a:prstGeom>
          <a:ln cap="flat" w="38100">
            <a:solidFill>
              <a:srgbClr val="000000"/>
            </a:solidFill>
            <a:prstDash val="solid"/>
            <a:headEnd type="none" len="sm" w="sm"/>
            <a:tailEnd type="none" len="sm" w="sm"/>
          </a:ln>
        </p:spPr>
      </p:sp>
      <p:sp>
        <p:nvSpPr>
          <p:cNvPr name="AutoShape 5" id="5"/>
          <p:cNvSpPr/>
          <p:nvPr/>
        </p:nvSpPr>
        <p:spPr>
          <a:xfrm flipV="true">
            <a:off x="16486562" y="-3456152"/>
            <a:ext cx="0" cy="20548521"/>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0">
            <a:off x="-33126" y="3289887"/>
            <a:ext cx="1853613" cy="1853613"/>
          </a:xfrm>
          <a:custGeom>
            <a:avLst/>
            <a:gdLst/>
            <a:ahLst/>
            <a:cxnLst/>
            <a:rect r="r" b="b" t="t" l="l"/>
            <a:pathLst>
              <a:path h="1853613" w="1853613">
                <a:moveTo>
                  <a:pt x="0" y="0"/>
                </a:moveTo>
                <a:lnTo>
                  <a:pt x="1853614" y="0"/>
                </a:lnTo>
                <a:lnTo>
                  <a:pt x="1853614" y="1853613"/>
                </a:lnTo>
                <a:lnTo>
                  <a:pt x="0" y="18536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33126" y="6898960"/>
            <a:ext cx="1853613" cy="1853613"/>
          </a:xfrm>
          <a:custGeom>
            <a:avLst/>
            <a:gdLst/>
            <a:ahLst/>
            <a:cxnLst/>
            <a:rect r="r" b="b" t="t" l="l"/>
            <a:pathLst>
              <a:path h="1853613" w="1853613">
                <a:moveTo>
                  <a:pt x="0" y="0"/>
                </a:moveTo>
                <a:lnTo>
                  <a:pt x="1853614" y="0"/>
                </a:lnTo>
                <a:lnTo>
                  <a:pt x="1853614" y="1853613"/>
                </a:lnTo>
                <a:lnTo>
                  <a:pt x="0" y="18536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33126" y="1534427"/>
            <a:ext cx="1853613" cy="1853613"/>
          </a:xfrm>
          <a:custGeom>
            <a:avLst/>
            <a:gdLst/>
            <a:ahLst/>
            <a:cxnLst/>
            <a:rect r="r" b="b" t="t" l="l"/>
            <a:pathLst>
              <a:path h="1853613" w="1853613">
                <a:moveTo>
                  <a:pt x="0" y="0"/>
                </a:moveTo>
                <a:lnTo>
                  <a:pt x="1853614" y="0"/>
                </a:lnTo>
                <a:lnTo>
                  <a:pt x="1853614" y="1853613"/>
                </a:lnTo>
                <a:lnTo>
                  <a:pt x="0" y="18536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33126" y="5143500"/>
            <a:ext cx="1853613" cy="1853613"/>
          </a:xfrm>
          <a:custGeom>
            <a:avLst/>
            <a:gdLst/>
            <a:ahLst/>
            <a:cxnLst/>
            <a:rect r="r" b="b" t="t" l="l"/>
            <a:pathLst>
              <a:path h="1853613" w="1853613">
                <a:moveTo>
                  <a:pt x="0" y="0"/>
                </a:moveTo>
                <a:lnTo>
                  <a:pt x="1853614" y="0"/>
                </a:lnTo>
                <a:lnTo>
                  <a:pt x="1853614" y="1853613"/>
                </a:lnTo>
                <a:lnTo>
                  <a:pt x="0" y="18536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6716932" y="2940842"/>
            <a:ext cx="3769754" cy="2652536"/>
          </a:xfrm>
          <a:custGeom>
            <a:avLst/>
            <a:gdLst/>
            <a:ahLst/>
            <a:cxnLst/>
            <a:rect r="r" b="b" t="t" l="l"/>
            <a:pathLst>
              <a:path h="2652536" w="3769754">
                <a:moveTo>
                  <a:pt x="0" y="0"/>
                </a:moveTo>
                <a:lnTo>
                  <a:pt x="3769754" y="0"/>
                </a:lnTo>
                <a:lnTo>
                  <a:pt x="3769754" y="2652536"/>
                </a:lnTo>
                <a:lnTo>
                  <a:pt x="0" y="26525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6716932" y="4693622"/>
            <a:ext cx="3769754" cy="2652536"/>
          </a:xfrm>
          <a:custGeom>
            <a:avLst/>
            <a:gdLst/>
            <a:ahLst/>
            <a:cxnLst/>
            <a:rect r="r" b="b" t="t" l="l"/>
            <a:pathLst>
              <a:path h="2652536" w="3769754">
                <a:moveTo>
                  <a:pt x="0" y="0"/>
                </a:moveTo>
                <a:lnTo>
                  <a:pt x="3769754" y="0"/>
                </a:lnTo>
                <a:lnTo>
                  <a:pt x="3769754" y="2652536"/>
                </a:lnTo>
                <a:lnTo>
                  <a:pt x="0" y="26525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2655416" y="3624036"/>
            <a:ext cx="12996218" cy="2440759"/>
          </a:xfrm>
          <a:prstGeom prst="rect">
            <a:avLst/>
          </a:prstGeom>
        </p:spPr>
        <p:txBody>
          <a:bodyPr anchor="t" rtlCol="false" tIns="0" lIns="0" bIns="0" rIns="0">
            <a:spAutoFit/>
          </a:bodyPr>
          <a:lstStyle/>
          <a:p>
            <a:pPr algn="ctr">
              <a:lnSpc>
                <a:spcPts val="8837"/>
              </a:lnSpc>
            </a:pPr>
            <a:r>
              <a:rPr lang="en-US" sz="11942" i="true">
                <a:solidFill>
                  <a:srgbClr val="1E1D1C"/>
                </a:solidFill>
                <a:latin typeface="Tex Gyre Termes Italics"/>
                <a:ea typeface="Tex Gyre Termes Italics"/>
                <a:cs typeface="Tex Gyre Termes Italics"/>
                <a:sym typeface="Tex Gyre Termes Italics"/>
              </a:rPr>
              <a:t>Explicacion del Codigo - Cola</a:t>
            </a:r>
          </a:p>
        </p:txBody>
      </p:sp>
      <p:sp>
        <p:nvSpPr>
          <p:cNvPr name="Freeform 13" id="13"/>
          <p:cNvSpPr/>
          <p:nvPr/>
        </p:nvSpPr>
        <p:spPr>
          <a:xfrm flipH="false" flipV="false" rot="0">
            <a:off x="16716932" y="-1268748"/>
            <a:ext cx="2278398" cy="2278398"/>
          </a:xfrm>
          <a:custGeom>
            <a:avLst/>
            <a:gdLst/>
            <a:ahLst/>
            <a:cxnLst/>
            <a:rect r="r" b="b" t="t" l="l"/>
            <a:pathLst>
              <a:path h="2278398" w="2278398">
                <a:moveTo>
                  <a:pt x="0" y="0"/>
                </a:moveTo>
                <a:lnTo>
                  <a:pt x="2278398" y="0"/>
                </a:lnTo>
                <a:lnTo>
                  <a:pt x="2278398" y="2278398"/>
                </a:lnTo>
                <a:lnTo>
                  <a:pt x="0" y="22783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16487865" y="9277350"/>
            <a:ext cx="2278398" cy="2278398"/>
          </a:xfrm>
          <a:custGeom>
            <a:avLst/>
            <a:gdLst/>
            <a:ahLst/>
            <a:cxnLst/>
            <a:rect r="r" b="b" t="t" l="l"/>
            <a:pathLst>
              <a:path h="2278398" w="2278398">
                <a:moveTo>
                  <a:pt x="0" y="0"/>
                </a:moveTo>
                <a:lnTo>
                  <a:pt x="2278398" y="0"/>
                </a:lnTo>
                <a:lnTo>
                  <a:pt x="2278398" y="2278398"/>
                </a:lnTo>
                <a:lnTo>
                  <a:pt x="0" y="22783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a:off x="-1130260" y="9277350"/>
            <a:ext cx="20548521" cy="0"/>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820488" y="-3456152"/>
            <a:ext cx="0" cy="20548521"/>
          </a:xfrm>
          <a:prstGeom prst="line">
            <a:avLst/>
          </a:prstGeom>
          <a:ln cap="flat" w="38100">
            <a:solidFill>
              <a:srgbClr val="000000"/>
            </a:solidFill>
            <a:prstDash val="solid"/>
            <a:headEnd type="none" len="sm" w="sm"/>
            <a:tailEnd type="none" len="sm" w="sm"/>
          </a:ln>
        </p:spPr>
      </p:sp>
      <p:sp>
        <p:nvSpPr>
          <p:cNvPr name="AutoShape 5" id="5"/>
          <p:cNvSpPr/>
          <p:nvPr/>
        </p:nvSpPr>
        <p:spPr>
          <a:xfrm flipV="true">
            <a:off x="16486562" y="-3456152"/>
            <a:ext cx="0" cy="20548521"/>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1376464">
            <a:off x="15742396" y="2845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376464">
            <a:off x="1076321" y="853318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1255199">
            <a:off x="15742396" y="85141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988181" y="1001466"/>
            <a:ext cx="5192607" cy="1002606"/>
          </a:xfrm>
          <a:prstGeom prst="rect">
            <a:avLst/>
          </a:prstGeom>
        </p:spPr>
        <p:txBody>
          <a:bodyPr anchor="t" rtlCol="false" tIns="0" lIns="0" bIns="0" rIns="0">
            <a:spAutoFit/>
          </a:bodyPr>
          <a:lstStyle/>
          <a:p>
            <a:pPr algn="l">
              <a:lnSpc>
                <a:spcPts val="8120"/>
              </a:lnSpc>
            </a:pPr>
            <a:r>
              <a:rPr lang="en-US" sz="5800" i="true" u="sng">
                <a:solidFill>
                  <a:srgbClr val="1E1D1C"/>
                </a:solidFill>
                <a:latin typeface="Tex Gyre Termes Italics"/>
                <a:ea typeface="Tex Gyre Termes Italics"/>
                <a:cs typeface="Tex Gyre Termes Italics"/>
                <a:sym typeface="Tex Gyre Termes Italics"/>
              </a:rPr>
              <a:t>Solución en C++</a:t>
            </a:r>
          </a:p>
        </p:txBody>
      </p:sp>
      <p:sp>
        <p:nvSpPr>
          <p:cNvPr name="TextBox 10" id="10"/>
          <p:cNvSpPr txBox="true"/>
          <p:nvPr/>
        </p:nvSpPr>
        <p:spPr>
          <a:xfrm rot="0">
            <a:off x="1988181" y="2218061"/>
            <a:ext cx="6157287" cy="629920"/>
          </a:xfrm>
          <a:prstGeom prst="rect">
            <a:avLst/>
          </a:prstGeom>
        </p:spPr>
        <p:txBody>
          <a:bodyPr anchor="t" rtlCol="false" tIns="0" lIns="0" bIns="0" rIns="0">
            <a:spAutoFit/>
          </a:bodyPr>
          <a:lstStyle/>
          <a:p>
            <a:pPr algn="l">
              <a:lnSpc>
                <a:spcPts val="5179"/>
              </a:lnSpc>
            </a:pPr>
            <a:r>
              <a:rPr lang="en-US" sz="3699" b="true">
                <a:solidFill>
                  <a:srgbClr val="1E1D1C"/>
                </a:solidFill>
                <a:latin typeface="Tex Gyre Termes Bold"/>
                <a:ea typeface="Tex Gyre Termes Bold"/>
                <a:cs typeface="Tex Gyre Termes Bold"/>
                <a:sym typeface="Tex Gyre Termes Bold"/>
              </a:rPr>
              <a:t>Cola de procesos:</a:t>
            </a:r>
          </a:p>
        </p:txBody>
      </p:sp>
      <p:sp>
        <p:nvSpPr>
          <p:cNvPr name="TextBox 11" id="11"/>
          <p:cNvSpPr txBox="true"/>
          <p:nvPr/>
        </p:nvSpPr>
        <p:spPr>
          <a:xfrm rot="0">
            <a:off x="2221640" y="3071495"/>
            <a:ext cx="11341885" cy="5020310"/>
          </a:xfrm>
          <a:prstGeom prst="rect">
            <a:avLst/>
          </a:prstGeom>
        </p:spPr>
        <p:txBody>
          <a:bodyPr anchor="t" rtlCol="false" tIns="0" lIns="0" bIns="0" rIns="0">
            <a:spAutoFit/>
          </a:bodyPr>
          <a:lstStyle/>
          <a:p>
            <a:pPr algn="l">
              <a:lnSpc>
                <a:spcPts val="3640"/>
              </a:lnSpc>
            </a:pPr>
            <a:r>
              <a:rPr lang="en-US" sz="2600">
                <a:solidFill>
                  <a:srgbClr val="000000"/>
                </a:solidFill>
                <a:latin typeface="Open Sans"/>
                <a:ea typeface="Open Sans"/>
                <a:cs typeface="Open Sans"/>
                <a:sym typeface="Open Sans"/>
              </a:rPr>
              <a:t> ¿QUÉ HACE ESTE PROGRAMA?</a:t>
            </a:r>
          </a:p>
          <a:p>
            <a:pPr algn="l">
              <a:lnSpc>
                <a:spcPts val="3640"/>
              </a:lnSpc>
            </a:pPr>
            <a:r>
              <a:rPr lang="en-US" sz="2600">
                <a:solidFill>
                  <a:srgbClr val="000000"/>
                </a:solidFill>
                <a:latin typeface="Open Sans"/>
                <a:ea typeface="Open Sans"/>
                <a:cs typeface="Open Sans"/>
                <a:sym typeface="Open Sans"/>
              </a:rPr>
              <a:t>Este programa simula un pl</a:t>
            </a:r>
            <a:r>
              <a:rPr lang="en-US" sz="2600">
                <a:solidFill>
                  <a:srgbClr val="000000"/>
                </a:solidFill>
                <a:latin typeface="Open Sans"/>
                <a:ea typeface="Open Sans"/>
                <a:cs typeface="Open Sans"/>
                <a:sym typeface="Open Sans"/>
              </a:rPr>
              <a:t>anificador de procesos de una CPU utilizando una cola de prioridad.</a:t>
            </a:r>
          </a:p>
          <a:p>
            <a:pPr algn="l" marL="561344" indent="-280672" lvl="1">
              <a:lnSpc>
                <a:spcPts val="3640"/>
              </a:lnSpc>
              <a:buFont typeface="Arial"/>
              <a:buChar char="•"/>
            </a:pPr>
            <a:r>
              <a:rPr lang="en-US" sz="2600">
                <a:solidFill>
                  <a:srgbClr val="000000"/>
                </a:solidFill>
                <a:latin typeface="Open Sans"/>
                <a:ea typeface="Open Sans"/>
                <a:cs typeface="Open Sans"/>
                <a:sym typeface="Open Sans"/>
              </a:rPr>
              <a:t>Cada</a:t>
            </a:r>
            <a:r>
              <a:rPr lang="en-US" sz="2600">
                <a:solidFill>
                  <a:srgbClr val="000000"/>
                </a:solidFill>
                <a:latin typeface="Open Sans"/>
                <a:ea typeface="Open Sans"/>
                <a:cs typeface="Open Sans"/>
                <a:sym typeface="Open Sans"/>
              </a:rPr>
              <a:t> proceso tiene:</a:t>
            </a:r>
          </a:p>
          <a:p>
            <a:pPr algn="l" marL="1122688" indent="-374229" lvl="2">
              <a:lnSpc>
                <a:spcPts val="3640"/>
              </a:lnSpc>
              <a:buFont typeface="Arial"/>
              <a:buChar char="⚬"/>
            </a:pPr>
            <a:r>
              <a:rPr lang="en-US" sz="2600">
                <a:solidFill>
                  <a:srgbClr val="000000"/>
                </a:solidFill>
                <a:latin typeface="Open Sans"/>
                <a:ea typeface="Open Sans"/>
                <a:cs typeface="Open Sans"/>
                <a:sym typeface="Open Sans"/>
              </a:rPr>
              <a:t>ID: Identificador único</a:t>
            </a:r>
          </a:p>
          <a:p>
            <a:pPr algn="l" marL="1122688" indent="-374229" lvl="2">
              <a:lnSpc>
                <a:spcPts val="3640"/>
              </a:lnSpc>
              <a:buFont typeface="Arial"/>
              <a:buChar char="⚬"/>
            </a:pPr>
            <a:r>
              <a:rPr lang="en-US" sz="2600">
                <a:solidFill>
                  <a:srgbClr val="000000"/>
                </a:solidFill>
                <a:latin typeface="Open Sans"/>
                <a:ea typeface="Open Sans"/>
                <a:cs typeface="Open Sans"/>
                <a:sym typeface="Open Sans"/>
              </a:rPr>
              <a:t>Nombre: Nombre del proceso</a:t>
            </a:r>
          </a:p>
          <a:p>
            <a:pPr algn="l" marL="1122688" indent="-374229" lvl="2">
              <a:lnSpc>
                <a:spcPts val="3640"/>
              </a:lnSpc>
              <a:buFont typeface="Arial"/>
              <a:buChar char="⚬"/>
            </a:pPr>
            <a:r>
              <a:rPr lang="en-US" sz="2600">
                <a:solidFill>
                  <a:srgbClr val="000000"/>
                </a:solidFill>
                <a:latin typeface="Open Sans"/>
                <a:ea typeface="Open Sans"/>
                <a:cs typeface="Open Sans"/>
                <a:sym typeface="Open Sans"/>
              </a:rPr>
              <a:t>Prioridad: Entre mayor sea el número, mayor prioridad tiene (más urgente).</a:t>
            </a:r>
          </a:p>
          <a:p>
            <a:pPr algn="l">
              <a:lnSpc>
                <a:spcPts val="3640"/>
              </a:lnSpc>
            </a:pPr>
            <a:r>
              <a:rPr lang="en-US" sz="2600">
                <a:solidFill>
                  <a:srgbClr val="000000"/>
                </a:solidFill>
                <a:latin typeface="Open Sans"/>
                <a:ea typeface="Open Sans"/>
                <a:cs typeface="Open Sans"/>
                <a:sym typeface="Open Sans"/>
              </a:rPr>
              <a:t> </a:t>
            </a:r>
            <a:r>
              <a:rPr lang="en-US" sz="2600">
                <a:solidFill>
                  <a:srgbClr val="000000"/>
                </a:solidFill>
                <a:latin typeface="Open Sans"/>
                <a:ea typeface="Open Sans"/>
                <a:cs typeface="Open Sans"/>
                <a:sym typeface="Open Sans"/>
              </a:rPr>
              <a:t>L</a:t>
            </a:r>
            <a:r>
              <a:rPr lang="en-US" sz="2600" strike="noStrike" u="none">
                <a:solidFill>
                  <a:srgbClr val="000000"/>
                </a:solidFill>
                <a:latin typeface="Open Sans"/>
                <a:ea typeface="Open Sans"/>
                <a:cs typeface="Open Sans"/>
                <a:sym typeface="Open Sans"/>
              </a:rPr>
              <a:t>a mayor prioridad se atiende primero, p</a:t>
            </a:r>
            <a:r>
              <a:rPr lang="en-US" sz="2600" strike="noStrike" u="none">
                <a:solidFill>
                  <a:srgbClr val="000000"/>
                </a:solidFill>
                <a:latin typeface="Open Sans"/>
                <a:ea typeface="Open Sans"/>
                <a:cs typeface="Open Sans"/>
                <a:sym typeface="Open Sans"/>
              </a:rPr>
              <a:t>o</a:t>
            </a:r>
            <a:r>
              <a:rPr lang="en-US" sz="2600" strike="noStrike" u="none">
                <a:solidFill>
                  <a:srgbClr val="000000"/>
                </a:solidFill>
                <a:latin typeface="Open Sans"/>
                <a:ea typeface="Open Sans"/>
                <a:cs typeface="Open Sans"/>
                <a:sym typeface="Open Sans"/>
              </a:rPr>
              <a:t>r</a:t>
            </a:r>
            <a:r>
              <a:rPr lang="en-US" sz="2600" strike="noStrike" u="none">
                <a:solidFill>
                  <a:srgbClr val="000000"/>
                </a:solidFill>
                <a:latin typeface="Open Sans"/>
                <a:ea typeface="Open Sans"/>
                <a:cs typeface="Open Sans"/>
                <a:sym typeface="Open Sans"/>
              </a:rPr>
              <a:t> eso</a:t>
            </a:r>
            <a:r>
              <a:rPr lang="en-US" sz="2600" strike="noStrike" u="none">
                <a:solidFill>
                  <a:srgbClr val="000000"/>
                </a:solidFill>
                <a:latin typeface="Open Sans"/>
                <a:ea typeface="Open Sans"/>
                <a:cs typeface="Open Sans"/>
                <a:sym typeface="Open Sans"/>
              </a:rPr>
              <a:t> la cola s</a:t>
            </a:r>
            <a:r>
              <a:rPr lang="en-US" sz="2600" strike="noStrike" u="none">
                <a:solidFill>
                  <a:srgbClr val="000000"/>
                </a:solidFill>
                <a:latin typeface="Open Sans"/>
                <a:ea typeface="Open Sans"/>
                <a:cs typeface="Open Sans"/>
                <a:sym typeface="Open Sans"/>
              </a:rPr>
              <a:t>e</a:t>
            </a:r>
            <a:r>
              <a:rPr lang="en-US" sz="2600" strike="noStrike" u="none">
                <a:solidFill>
                  <a:srgbClr val="000000"/>
                </a:solidFill>
                <a:latin typeface="Open Sans"/>
                <a:ea typeface="Open Sans"/>
                <a:cs typeface="Open Sans"/>
                <a:sym typeface="Open Sans"/>
              </a:rPr>
              <a:t> ordena de mayor a menor prioridad (¡descendente!).</a:t>
            </a:r>
          </a:p>
          <a:p>
            <a:pPr algn="l">
              <a:lnSpc>
                <a:spcPts val="3640"/>
              </a:lnSpc>
            </a:pP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a:off x="-1130260" y="9277350"/>
            <a:ext cx="20548521" cy="0"/>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820488" y="-3456152"/>
            <a:ext cx="0" cy="20548521"/>
          </a:xfrm>
          <a:prstGeom prst="line">
            <a:avLst/>
          </a:prstGeom>
          <a:ln cap="flat" w="38100">
            <a:solidFill>
              <a:srgbClr val="000000"/>
            </a:solidFill>
            <a:prstDash val="solid"/>
            <a:headEnd type="none" len="sm" w="sm"/>
            <a:tailEnd type="none" len="sm" w="sm"/>
          </a:ln>
        </p:spPr>
      </p:sp>
      <p:sp>
        <p:nvSpPr>
          <p:cNvPr name="AutoShape 5" id="5"/>
          <p:cNvSpPr/>
          <p:nvPr/>
        </p:nvSpPr>
        <p:spPr>
          <a:xfrm flipV="true">
            <a:off x="16486562" y="-3456152"/>
            <a:ext cx="0" cy="20548521"/>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1376464">
            <a:off x="15742396" y="2845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376464">
            <a:off x="1076321" y="853318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1255199">
            <a:off x="15742396" y="85141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249142" y="2653726"/>
            <a:ext cx="10765210" cy="3342085"/>
          </a:xfrm>
          <a:custGeom>
            <a:avLst/>
            <a:gdLst/>
            <a:ahLst/>
            <a:cxnLst/>
            <a:rect r="r" b="b" t="t" l="l"/>
            <a:pathLst>
              <a:path h="3342085" w="10765210">
                <a:moveTo>
                  <a:pt x="0" y="0"/>
                </a:moveTo>
                <a:lnTo>
                  <a:pt x="10765210" y="0"/>
                </a:lnTo>
                <a:lnTo>
                  <a:pt x="10765210" y="3342086"/>
                </a:lnTo>
                <a:lnTo>
                  <a:pt x="0" y="3342086"/>
                </a:lnTo>
                <a:lnTo>
                  <a:pt x="0" y="0"/>
                </a:lnTo>
                <a:close/>
              </a:path>
            </a:pathLst>
          </a:custGeom>
          <a:blipFill>
            <a:blip r:embed="rId4"/>
            <a:stretch>
              <a:fillRect l="0" t="0" r="0" b="0"/>
            </a:stretch>
          </a:blipFill>
        </p:spPr>
      </p:sp>
      <p:sp>
        <p:nvSpPr>
          <p:cNvPr name="TextBox 10" id="10"/>
          <p:cNvSpPr txBox="true"/>
          <p:nvPr/>
        </p:nvSpPr>
        <p:spPr>
          <a:xfrm rot="0">
            <a:off x="2249142" y="1814337"/>
            <a:ext cx="12560465" cy="629920"/>
          </a:xfrm>
          <a:prstGeom prst="rect">
            <a:avLst/>
          </a:prstGeom>
        </p:spPr>
        <p:txBody>
          <a:bodyPr anchor="t" rtlCol="false" tIns="0" lIns="0" bIns="0" rIns="0">
            <a:spAutoFit/>
          </a:bodyPr>
          <a:lstStyle/>
          <a:p>
            <a:pPr algn="l">
              <a:lnSpc>
                <a:spcPts val="5179"/>
              </a:lnSpc>
            </a:pPr>
            <a:r>
              <a:rPr lang="en-US" sz="3699" b="true">
                <a:solidFill>
                  <a:srgbClr val="1E1D1C"/>
                </a:solidFill>
                <a:latin typeface="Tex Gyre Termes Bold"/>
                <a:ea typeface="Tex Gyre Termes Bold"/>
                <a:cs typeface="Tex Gyre Termes Bold"/>
                <a:sym typeface="Tex Gyre Termes Bold"/>
              </a:rPr>
              <a:t>CLAVE DEL ORDENAMIENTO POR PRIORIDAD</a:t>
            </a:r>
          </a:p>
        </p:txBody>
      </p:sp>
      <p:sp>
        <p:nvSpPr>
          <p:cNvPr name="TextBox 11" id="11"/>
          <p:cNvSpPr txBox="true"/>
          <p:nvPr/>
        </p:nvSpPr>
        <p:spPr>
          <a:xfrm rot="0">
            <a:off x="2249142" y="6224116"/>
            <a:ext cx="12301718" cy="1225550"/>
          </a:xfrm>
          <a:prstGeom prst="rect">
            <a:avLst/>
          </a:prstGeom>
        </p:spPr>
        <p:txBody>
          <a:bodyPr anchor="t" rtlCol="false" tIns="0" lIns="0" bIns="0" rIns="0">
            <a:spAutoFit/>
          </a:bodyPr>
          <a:lstStyle/>
          <a:p>
            <a:pPr algn="just">
              <a:lnSpc>
                <a:spcPts val="4900"/>
              </a:lnSpc>
              <a:spcBef>
                <a:spcPct val="0"/>
              </a:spcBef>
            </a:pPr>
            <a:r>
              <a:rPr lang="en-US" sz="3500">
                <a:solidFill>
                  <a:srgbClr val="1E1D1C"/>
                </a:solidFill>
                <a:latin typeface="Tex Gyre Termes"/>
                <a:ea typeface="Tex Gyre Termes"/>
                <a:cs typeface="Tex Gyre Termes"/>
                <a:sym typeface="Tex Gyre Termes"/>
              </a:rPr>
              <a:t>Esta es la línea crucial: si el nuevo proceso tiene mayor prioridad que el primero de la cola (frente), se inserta al inicio.</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a:off x="-1130260" y="9277350"/>
            <a:ext cx="20548521" cy="0"/>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820488" y="-3456152"/>
            <a:ext cx="0" cy="20548521"/>
          </a:xfrm>
          <a:prstGeom prst="line">
            <a:avLst/>
          </a:prstGeom>
          <a:ln cap="flat" w="38100">
            <a:solidFill>
              <a:srgbClr val="000000"/>
            </a:solidFill>
            <a:prstDash val="solid"/>
            <a:headEnd type="none" len="sm" w="sm"/>
            <a:tailEnd type="none" len="sm" w="sm"/>
          </a:ln>
        </p:spPr>
      </p:sp>
      <p:sp>
        <p:nvSpPr>
          <p:cNvPr name="AutoShape 5" id="5"/>
          <p:cNvSpPr/>
          <p:nvPr/>
        </p:nvSpPr>
        <p:spPr>
          <a:xfrm flipV="true">
            <a:off x="16486562" y="-3456152"/>
            <a:ext cx="0" cy="20548521"/>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1376464">
            <a:off x="15742396" y="2845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376464">
            <a:off x="1076321" y="853318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1255199">
            <a:off x="15742396" y="85141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2114181" y="962025"/>
            <a:ext cx="12560465" cy="629920"/>
          </a:xfrm>
          <a:prstGeom prst="rect">
            <a:avLst/>
          </a:prstGeom>
        </p:spPr>
        <p:txBody>
          <a:bodyPr anchor="t" rtlCol="false" tIns="0" lIns="0" bIns="0" rIns="0">
            <a:spAutoFit/>
          </a:bodyPr>
          <a:lstStyle/>
          <a:p>
            <a:pPr algn="l">
              <a:lnSpc>
                <a:spcPts val="5179"/>
              </a:lnSpc>
            </a:pPr>
            <a:r>
              <a:rPr lang="en-US" sz="3699" b="true">
                <a:solidFill>
                  <a:srgbClr val="1E1D1C"/>
                </a:solidFill>
                <a:latin typeface="Tex Gyre Termes Bold"/>
                <a:ea typeface="Tex Gyre Termes Bold"/>
                <a:cs typeface="Tex Gyre Termes Bold"/>
                <a:sym typeface="Tex Gyre Termes Bold"/>
              </a:rPr>
              <a:t>FUNCION ENCOLAR → encolarCPU(...)</a:t>
            </a:r>
          </a:p>
        </p:txBody>
      </p:sp>
      <p:sp>
        <p:nvSpPr>
          <p:cNvPr name="TextBox 10" id="10"/>
          <p:cNvSpPr txBox="true"/>
          <p:nvPr/>
        </p:nvSpPr>
        <p:spPr>
          <a:xfrm rot="0">
            <a:off x="2114181" y="2057748"/>
            <a:ext cx="12301718" cy="606425"/>
          </a:xfrm>
          <a:prstGeom prst="rect">
            <a:avLst/>
          </a:prstGeom>
        </p:spPr>
        <p:txBody>
          <a:bodyPr anchor="t" rtlCol="false" tIns="0" lIns="0" bIns="0" rIns="0">
            <a:spAutoFit/>
          </a:bodyPr>
          <a:lstStyle/>
          <a:p>
            <a:pPr algn="just" marL="755651" indent="-377825" lvl="1">
              <a:lnSpc>
                <a:spcPts val="4900"/>
              </a:lnSpc>
              <a:buAutoNum type="arabicPeriod" startAt="1"/>
            </a:pPr>
            <a:r>
              <a:rPr lang="en-US" sz="3500">
                <a:solidFill>
                  <a:srgbClr val="1E1D1C"/>
                </a:solidFill>
                <a:latin typeface="Tex Gyre Termes"/>
                <a:ea typeface="Tex Gyre Termes"/>
                <a:cs typeface="Tex Gyre Termes"/>
                <a:sym typeface="Tex Gyre Termes"/>
              </a:rPr>
              <a:t>Encolamos el proceso A con prioridad 3</a:t>
            </a:r>
          </a:p>
        </p:txBody>
      </p:sp>
      <p:graphicFrame>
        <p:nvGraphicFramePr>
          <p:cNvPr name="Object 11" id="11"/>
          <p:cNvGraphicFramePr/>
          <p:nvPr/>
        </p:nvGraphicFramePr>
        <p:xfrm>
          <a:off x="2624253" y="2862196"/>
          <a:ext cx="2514600" cy="838200"/>
        </p:xfrm>
        <a:graphic>
          <a:graphicData uri="http://schemas.openxmlformats.org/presentationml/2006/ole">
            <p:oleObj imgW="3009900" imgH="13335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12" id="12"/>
          <p:cNvSpPr txBox="true"/>
          <p:nvPr/>
        </p:nvSpPr>
        <p:spPr>
          <a:xfrm rot="0">
            <a:off x="2507890" y="4359623"/>
            <a:ext cx="12301718" cy="606425"/>
          </a:xfrm>
          <a:prstGeom prst="rect">
            <a:avLst/>
          </a:prstGeom>
        </p:spPr>
        <p:txBody>
          <a:bodyPr anchor="t" rtlCol="false" tIns="0" lIns="0" bIns="0" rIns="0">
            <a:spAutoFit/>
          </a:bodyPr>
          <a:lstStyle/>
          <a:p>
            <a:pPr algn="just">
              <a:lnSpc>
                <a:spcPts val="4900"/>
              </a:lnSpc>
            </a:pPr>
            <a:r>
              <a:rPr lang="en-US" sz="3500">
                <a:solidFill>
                  <a:srgbClr val="1E1D1C"/>
                </a:solidFill>
                <a:latin typeface="Tex Gyre Termes"/>
                <a:ea typeface="Tex Gyre Termes"/>
                <a:cs typeface="Tex Gyre Termes"/>
                <a:sym typeface="Tex Gyre Termes"/>
              </a:rPr>
              <a:t>2. Encolamos B con prioridad 5</a:t>
            </a:r>
          </a:p>
        </p:txBody>
      </p:sp>
      <p:sp>
        <p:nvSpPr>
          <p:cNvPr name="TextBox 13" id="13"/>
          <p:cNvSpPr txBox="true"/>
          <p:nvPr/>
        </p:nvSpPr>
        <p:spPr>
          <a:xfrm rot="0">
            <a:off x="2507890" y="5144380"/>
            <a:ext cx="10470126" cy="505728"/>
          </a:xfrm>
          <a:prstGeom prst="rect">
            <a:avLst/>
          </a:prstGeom>
        </p:spPr>
        <p:txBody>
          <a:bodyPr anchor="t" rtlCol="false" tIns="0" lIns="0" bIns="0" rIns="0">
            <a:spAutoFit/>
          </a:bodyPr>
          <a:lstStyle/>
          <a:p>
            <a:pPr algn="ctr">
              <a:lnSpc>
                <a:spcPts val="4150"/>
              </a:lnSpc>
              <a:spcBef>
                <a:spcPct val="0"/>
              </a:spcBef>
            </a:pPr>
            <a:r>
              <a:rPr lang="en-US" b="true" sz="2964">
                <a:solidFill>
                  <a:srgbClr val="004AAD"/>
                </a:solidFill>
                <a:latin typeface="Tex Gyre Termes Bold"/>
                <a:ea typeface="Tex Gyre Termes Bold"/>
                <a:cs typeface="Tex Gyre Termes Bold"/>
                <a:sym typeface="Tex Gyre Termes Bold"/>
              </a:rPr>
              <a:t>IF (PRIORIDAD &gt; FRENTE-&gt;PRIORIDAD) // 5 &gt; 3 =&gt; TRUE</a:t>
            </a:r>
          </a:p>
        </p:txBody>
      </p:sp>
      <p:sp>
        <p:nvSpPr>
          <p:cNvPr name="TextBox 14" id="14"/>
          <p:cNvSpPr txBox="true"/>
          <p:nvPr/>
        </p:nvSpPr>
        <p:spPr>
          <a:xfrm rot="0">
            <a:off x="2624253" y="5935858"/>
            <a:ext cx="6354663" cy="629920"/>
          </a:xfrm>
          <a:prstGeom prst="rect">
            <a:avLst/>
          </a:prstGeom>
        </p:spPr>
        <p:txBody>
          <a:bodyPr anchor="t" rtlCol="false" tIns="0" lIns="0" bIns="0" rIns="0">
            <a:spAutoFit/>
          </a:bodyPr>
          <a:lstStyle/>
          <a:p>
            <a:pPr algn="ctr">
              <a:lnSpc>
                <a:spcPts val="5179"/>
              </a:lnSpc>
              <a:spcBef>
                <a:spcPct val="0"/>
              </a:spcBef>
            </a:pPr>
            <a:r>
              <a:rPr lang="en-US" b="true" sz="3699">
                <a:solidFill>
                  <a:srgbClr val="000000"/>
                </a:solidFill>
                <a:latin typeface="Tex Gyre Termes Bold"/>
                <a:ea typeface="Tex Gyre Termes Bold"/>
                <a:cs typeface="Tex Gyre Termes Bold"/>
                <a:sym typeface="Tex Gyre Termes Bold"/>
              </a:rPr>
              <a:t> Como 5 &gt; 3, se inserta al inicio.</a:t>
            </a:r>
          </a:p>
        </p:txBody>
      </p:sp>
      <p:graphicFrame>
        <p:nvGraphicFramePr>
          <p:cNvPr name="Object 15" id="15"/>
          <p:cNvGraphicFramePr/>
          <p:nvPr/>
        </p:nvGraphicFramePr>
        <p:xfrm>
          <a:off x="2624253" y="2862196"/>
          <a:ext cx="2514600" cy="838200"/>
        </p:xfrm>
        <a:graphic>
          <a:graphicData uri="http://schemas.openxmlformats.org/presentationml/2006/ole">
            <p:oleObj imgW="3009900" imgH="1333500" r:id="rId7" progId="Excel.Sheet.12" name="Worksheet">
              <p:embed/>
              <p:pic>
                <p:nvPicPr>
                  <p:cNvPr name="" id="0"/>
                  <p:cNvPicPr/>
                  <p:nvPr/>
                </p:nvPicPr>
                <p:blipFill>
                  <a:blip r:embed="rId6"/>
                  <a:stretch>
                    <a:fillRect/>
                  </a:stretch>
                </p:blipFill>
                <p:spPr>
                  <a:xfrm>
                    <a:off x="1270000" y="1270000"/>
                    <a:ext cx="1270000" cy="1270000"/>
                  </a:xfrm>
                  <a:prstGeom prst="rect"/>
                </p:spPr>
              </p:pic>
            </p:oleObj>
          </a:graphicData>
        </a:graphic>
      </p:graphicFrame>
      <p:graphicFrame>
        <p:nvGraphicFramePr>
          <p:cNvPr name="Object 16" id="16"/>
          <p:cNvGraphicFramePr/>
          <p:nvPr/>
        </p:nvGraphicFramePr>
        <p:xfrm>
          <a:off x="2624253" y="2862196"/>
          <a:ext cx="2514600" cy="838200"/>
        </p:xfrm>
        <a:graphic>
          <a:graphicData uri="http://schemas.openxmlformats.org/presentationml/2006/ole">
            <p:oleObj imgW="3009900" imgH="13335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graphicFrame>
        <p:nvGraphicFramePr>
          <p:cNvPr name="Object 17" id="17"/>
          <p:cNvGraphicFramePr/>
          <p:nvPr/>
        </p:nvGraphicFramePr>
        <p:xfrm>
          <a:off x="2624253" y="2862196"/>
          <a:ext cx="2514600" cy="838200"/>
        </p:xfrm>
        <a:graphic>
          <a:graphicData uri="http://schemas.openxmlformats.org/presentationml/2006/ole">
            <p:oleObj imgW="3009900" imgH="1333500" r:id="rId11" progId="Excel.Sheet.12" name="Worksheet">
              <p:embed/>
              <p:pic>
                <p:nvPicPr>
                  <p:cNvPr name="" id="0"/>
                  <p:cNvPicPr/>
                  <p:nvPr/>
                </p:nvPicPr>
                <p:blipFill>
                  <a:blip r:embed="rId10"/>
                  <a:stretch>
                    <a:fillRect/>
                  </a:stretch>
                </p:blipFill>
                <p:spPr>
                  <a:xfrm>
                    <a:off x="1270000" y="1270000"/>
                    <a:ext cx="1270000" cy="1270000"/>
                  </a:xfrm>
                  <a:prstGeom prst="rect"/>
                </p:spPr>
              </p:pic>
            </p:oleObj>
          </a:graphicData>
        </a:graphic>
      </p:graphicFrame>
      <p:graphicFrame>
        <p:nvGraphicFramePr>
          <p:cNvPr name="Object 18" id="18"/>
          <p:cNvGraphicFramePr/>
          <p:nvPr/>
        </p:nvGraphicFramePr>
        <p:xfrm>
          <a:off x="2624253" y="6785784"/>
          <a:ext cx="2514600" cy="1257300"/>
        </p:xfrm>
        <a:graphic>
          <a:graphicData uri="http://schemas.openxmlformats.org/presentationml/2006/ole">
            <p:oleObj imgW="3009900" imgH="1752600" r:id="rId13" progId="Excel.Sheet.12" name="Worksheet">
              <p:embed/>
              <p:pic>
                <p:nvPicPr>
                  <p:cNvPr name="" id="0"/>
                  <p:cNvPicPr/>
                  <p:nvPr/>
                </p:nvPicPr>
                <p:blipFill>
                  <a:blip r:embed="rId12"/>
                  <a:stretch>
                    <a:fillRect/>
                  </a:stretch>
                </p:blipFill>
                <p:spPr>
                  <a:xfrm>
                    <a:off x="1270000" y="1270000"/>
                    <a:ext cx="1270000" cy="1270000"/>
                  </a:xfrm>
                  <a:prstGeom prst="rect"/>
                </p:spPr>
              </p:pic>
            </p:oleObj>
          </a:graphicData>
        </a:graphic>
      </p:graphicFrame>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flipV="true">
            <a:off x="1138809" y="-3456152"/>
            <a:ext cx="0" cy="20548521"/>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6486562" y="-3456152"/>
            <a:ext cx="0" cy="20548521"/>
          </a:xfrm>
          <a:prstGeom prst="line">
            <a:avLst/>
          </a:prstGeom>
          <a:ln cap="flat" w="38100">
            <a:solidFill>
              <a:srgbClr val="000000"/>
            </a:solidFill>
            <a:prstDash val="solid"/>
            <a:headEnd type="none" len="sm" w="sm"/>
            <a:tailEnd type="none" len="sm" w="sm"/>
          </a:ln>
        </p:spPr>
      </p:sp>
      <p:sp>
        <p:nvSpPr>
          <p:cNvPr name="Freeform 5" id="5"/>
          <p:cNvSpPr/>
          <p:nvPr/>
        </p:nvSpPr>
        <p:spPr>
          <a:xfrm flipH="false" flipV="false" rot="-1376464">
            <a:off x="15742396" y="2845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376464">
            <a:off x="394642" y="853318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255199">
            <a:off x="15742396" y="85141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2114181" y="962025"/>
            <a:ext cx="12560465" cy="629920"/>
          </a:xfrm>
          <a:prstGeom prst="rect">
            <a:avLst/>
          </a:prstGeom>
        </p:spPr>
        <p:txBody>
          <a:bodyPr anchor="t" rtlCol="false" tIns="0" lIns="0" bIns="0" rIns="0">
            <a:spAutoFit/>
          </a:bodyPr>
          <a:lstStyle/>
          <a:p>
            <a:pPr algn="l">
              <a:lnSpc>
                <a:spcPts val="5179"/>
              </a:lnSpc>
            </a:pPr>
            <a:r>
              <a:rPr lang="en-US" sz="3699" b="true">
                <a:solidFill>
                  <a:srgbClr val="1E1D1C"/>
                </a:solidFill>
                <a:latin typeface="Tex Gyre Termes Bold"/>
                <a:ea typeface="Tex Gyre Termes Bold"/>
                <a:cs typeface="Tex Gyre Termes Bold"/>
                <a:sym typeface="Tex Gyre Termes Bold"/>
              </a:rPr>
              <a:t>FUNCION ENCOLAR → encolarCPU(...)</a:t>
            </a:r>
          </a:p>
        </p:txBody>
      </p:sp>
      <p:sp>
        <p:nvSpPr>
          <p:cNvPr name="TextBox 9" id="9"/>
          <p:cNvSpPr txBox="true"/>
          <p:nvPr/>
        </p:nvSpPr>
        <p:spPr>
          <a:xfrm rot="0">
            <a:off x="2114181" y="2145336"/>
            <a:ext cx="12301718" cy="606425"/>
          </a:xfrm>
          <a:prstGeom prst="rect">
            <a:avLst/>
          </a:prstGeom>
        </p:spPr>
        <p:txBody>
          <a:bodyPr anchor="t" rtlCol="false" tIns="0" lIns="0" bIns="0" rIns="0">
            <a:spAutoFit/>
          </a:bodyPr>
          <a:lstStyle/>
          <a:p>
            <a:pPr algn="just">
              <a:lnSpc>
                <a:spcPts val="4900"/>
              </a:lnSpc>
            </a:pPr>
            <a:r>
              <a:rPr lang="en-US" sz="3500">
                <a:solidFill>
                  <a:srgbClr val="1E1D1C"/>
                </a:solidFill>
                <a:latin typeface="Tex Gyre Termes"/>
                <a:ea typeface="Tex Gyre Termes"/>
                <a:cs typeface="Tex Gyre Termes"/>
                <a:sym typeface="Tex Gyre Termes"/>
              </a:rPr>
              <a:t> 3. Encolamos C con prioridad 2</a:t>
            </a:r>
          </a:p>
        </p:txBody>
      </p:sp>
      <p:sp>
        <p:nvSpPr>
          <p:cNvPr name="TextBox 10" id="10"/>
          <p:cNvSpPr txBox="true"/>
          <p:nvPr/>
        </p:nvSpPr>
        <p:spPr>
          <a:xfrm rot="0">
            <a:off x="2234147" y="3506092"/>
            <a:ext cx="10135791"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000000"/>
                </a:solidFill>
                <a:latin typeface="Tex Gyre Termes Bold"/>
                <a:ea typeface="Tex Gyre Termes Bold"/>
                <a:cs typeface="Tex Gyre Termes Bold"/>
                <a:sym typeface="Tex Gyre Termes Bold"/>
              </a:rPr>
              <a:t>S</a:t>
            </a:r>
            <a:r>
              <a:rPr lang="en-US" b="true" sz="3200">
                <a:solidFill>
                  <a:srgbClr val="000000"/>
                </a:solidFill>
                <a:latin typeface="Tex Gyre Termes Bold"/>
                <a:ea typeface="Tex Gyre Termes Bold"/>
                <a:cs typeface="Tex Gyre Termes Bold"/>
                <a:sym typeface="Tex Gyre Termes Bold"/>
              </a:rPr>
              <a:t>e inserta al final, ya que su prioridad es menor que todos.</a:t>
            </a:r>
          </a:p>
        </p:txBody>
      </p:sp>
      <p:sp>
        <p:nvSpPr>
          <p:cNvPr name="TextBox 11" id="11"/>
          <p:cNvSpPr txBox="true"/>
          <p:nvPr/>
        </p:nvSpPr>
        <p:spPr>
          <a:xfrm rot="0">
            <a:off x="2114181" y="2932736"/>
            <a:ext cx="12831300" cy="870853"/>
          </a:xfrm>
          <a:prstGeom prst="rect">
            <a:avLst/>
          </a:prstGeom>
        </p:spPr>
        <p:txBody>
          <a:bodyPr anchor="t" rtlCol="false" tIns="0" lIns="0" bIns="0" rIns="0">
            <a:spAutoFit/>
          </a:bodyPr>
          <a:lstStyle/>
          <a:p>
            <a:pPr algn="ctr">
              <a:lnSpc>
                <a:spcPts val="3450"/>
              </a:lnSpc>
              <a:spcBef>
                <a:spcPct val="0"/>
              </a:spcBef>
            </a:pPr>
            <a:r>
              <a:rPr lang="en-US" b="true" sz="2464">
                <a:solidFill>
                  <a:srgbClr val="004AAD"/>
                </a:solidFill>
                <a:latin typeface="Tex Gyre Termes Bold"/>
                <a:ea typeface="Tex Gyre Termes Bold"/>
                <a:cs typeface="Tex Gyre Termes Bold"/>
                <a:sym typeface="Tex Gyre Termes Bold"/>
              </a:rPr>
              <a:t>WH</a:t>
            </a:r>
            <a:r>
              <a:rPr lang="en-US" b="true" sz="2464">
                <a:solidFill>
                  <a:srgbClr val="004AAD"/>
                </a:solidFill>
                <a:latin typeface="Tex Gyre Termes Bold"/>
                <a:ea typeface="Tex Gyre Termes Bold"/>
                <a:cs typeface="Tex Gyre Termes Bold"/>
                <a:sym typeface="Tex Gyre Termes Bold"/>
              </a:rPr>
              <a:t>ILE (ACTUAL != NULL &amp;&amp; ACTUAL-&gt;PRIORIDAD &gt;= PRIORIDAD) // 5 &gt;= 2 , 3 &gt;= 2 </a:t>
            </a:r>
          </a:p>
          <a:p>
            <a:pPr algn="ctr">
              <a:lnSpc>
                <a:spcPts val="3450"/>
              </a:lnSpc>
              <a:spcBef>
                <a:spcPct val="0"/>
              </a:spcBef>
            </a:pPr>
          </a:p>
        </p:txBody>
      </p:sp>
      <p:graphicFrame>
        <p:nvGraphicFramePr>
          <p:cNvPr name="Object 12" id="12"/>
          <p:cNvGraphicFramePr/>
          <p:nvPr/>
        </p:nvGraphicFramePr>
        <p:xfrm>
          <a:off x="2234147" y="4387777"/>
          <a:ext cx="2514600" cy="1676400"/>
        </p:xfrm>
        <a:graphic>
          <a:graphicData uri="http://schemas.openxmlformats.org/presentationml/2006/ole">
            <p:oleObj imgW="3009900" imgH="21717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13" id="13"/>
          <p:cNvSpPr txBox="true"/>
          <p:nvPr/>
        </p:nvSpPr>
        <p:spPr>
          <a:xfrm rot="0">
            <a:off x="2114181" y="6073702"/>
            <a:ext cx="12301718" cy="606425"/>
          </a:xfrm>
          <a:prstGeom prst="rect">
            <a:avLst/>
          </a:prstGeom>
        </p:spPr>
        <p:txBody>
          <a:bodyPr anchor="t" rtlCol="false" tIns="0" lIns="0" bIns="0" rIns="0">
            <a:spAutoFit/>
          </a:bodyPr>
          <a:lstStyle/>
          <a:p>
            <a:pPr algn="just">
              <a:lnSpc>
                <a:spcPts val="4900"/>
              </a:lnSpc>
            </a:pPr>
            <a:r>
              <a:rPr lang="en-US" sz="3500">
                <a:solidFill>
                  <a:srgbClr val="1E1D1C"/>
                </a:solidFill>
                <a:latin typeface="Tex Gyre Termes"/>
                <a:ea typeface="Tex Gyre Termes"/>
                <a:cs typeface="Tex Gyre Termes"/>
                <a:sym typeface="Tex Gyre Termes"/>
              </a:rPr>
              <a:t>4. Encolamos D con prioridad 4</a:t>
            </a:r>
          </a:p>
        </p:txBody>
      </p:sp>
      <p:sp>
        <p:nvSpPr>
          <p:cNvPr name="TextBox 14" id="14"/>
          <p:cNvSpPr txBox="true"/>
          <p:nvPr/>
        </p:nvSpPr>
        <p:spPr>
          <a:xfrm rot="0">
            <a:off x="2114181" y="6700026"/>
            <a:ext cx="9412273" cy="870853"/>
          </a:xfrm>
          <a:prstGeom prst="rect">
            <a:avLst/>
          </a:prstGeom>
        </p:spPr>
        <p:txBody>
          <a:bodyPr anchor="t" rtlCol="false" tIns="0" lIns="0" bIns="0" rIns="0">
            <a:spAutoFit/>
          </a:bodyPr>
          <a:lstStyle/>
          <a:p>
            <a:pPr algn="ctr">
              <a:lnSpc>
                <a:spcPts val="3450"/>
              </a:lnSpc>
              <a:spcBef>
                <a:spcPct val="0"/>
              </a:spcBef>
            </a:pPr>
            <a:r>
              <a:rPr lang="en-US" b="true" sz="2464">
                <a:solidFill>
                  <a:srgbClr val="004AAD"/>
                </a:solidFill>
                <a:latin typeface="Tex Gyre Termes Bold"/>
                <a:ea typeface="Tex Gyre Termes Bold"/>
                <a:cs typeface="Tex Gyre Termes Bold"/>
                <a:sym typeface="Tex Gyre Termes Bold"/>
              </a:rPr>
              <a:t>WH</a:t>
            </a:r>
            <a:r>
              <a:rPr lang="en-US" b="true" sz="2464">
                <a:solidFill>
                  <a:srgbClr val="004AAD"/>
                </a:solidFill>
                <a:latin typeface="Tex Gyre Termes Bold"/>
                <a:ea typeface="Tex Gyre Termes Bold"/>
                <a:cs typeface="Tex Gyre Termes Bold"/>
                <a:sym typeface="Tex Gyre Termes Bold"/>
              </a:rPr>
              <a:t>ILE (ACTUAL-&gt;PRIORIDAD &gt;= PRIORIDAD) // 5 &gt;= 4 , 3 &gt;= 4 </a:t>
            </a:r>
          </a:p>
          <a:p>
            <a:pPr algn="ctr">
              <a:lnSpc>
                <a:spcPts val="3450"/>
              </a:lnSpc>
              <a:spcBef>
                <a:spcPct val="0"/>
              </a:spcBef>
            </a:pPr>
          </a:p>
        </p:txBody>
      </p:sp>
      <p:sp>
        <p:nvSpPr>
          <p:cNvPr name="TextBox 15" id="15"/>
          <p:cNvSpPr txBox="true"/>
          <p:nvPr/>
        </p:nvSpPr>
        <p:spPr>
          <a:xfrm rot="0">
            <a:off x="2234147" y="7432601"/>
            <a:ext cx="3983831" cy="537845"/>
          </a:xfrm>
          <a:prstGeom prst="rect">
            <a:avLst/>
          </a:prstGeom>
        </p:spPr>
        <p:txBody>
          <a:bodyPr anchor="t" rtlCol="false" tIns="0" lIns="0" bIns="0" rIns="0">
            <a:spAutoFit/>
          </a:bodyPr>
          <a:lstStyle/>
          <a:p>
            <a:pPr algn="ctr">
              <a:lnSpc>
                <a:spcPts val="4480"/>
              </a:lnSpc>
              <a:spcBef>
                <a:spcPct val="0"/>
              </a:spcBef>
            </a:pPr>
            <a:r>
              <a:rPr lang="en-US" b="true" sz="3200">
                <a:solidFill>
                  <a:srgbClr val="000000"/>
                </a:solidFill>
                <a:latin typeface="Tex Gyre Termes Bold"/>
                <a:ea typeface="Tex Gyre Termes Bold"/>
                <a:cs typeface="Tex Gyre Termes Bold"/>
                <a:sym typeface="Tex Gyre Termes Bold"/>
              </a:rPr>
              <a:t> S</a:t>
            </a:r>
            <a:r>
              <a:rPr lang="en-US" b="true" sz="3200">
                <a:solidFill>
                  <a:srgbClr val="000000"/>
                </a:solidFill>
                <a:latin typeface="Tex Gyre Termes Bold"/>
                <a:ea typeface="Tex Gyre Termes Bold"/>
                <a:cs typeface="Tex Gyre Termes Bold"/>
                <a:sym typeface="Tex Gyre Termes Bold"/>
              </a:rPr>
              <a:t>e inserta entre B y A.</a:t>
            </a:r>
          </a:p>
        </p:txBody>
      </p:sp>
      <p:graphicFrame>
        <p:nvGraphicFramePr>
          <p:cNvPr name="Object 16" id="16"/>
          <p:cNvGraphicFramePr/>
          <p:nvPr/>
        </p:nvGraphicFramePr>
        <p:xfrm>
          <a:off x="2234147" y="8141896"/>
          <a:ext cx="2514600" cy="2095500"/>
        </p:xfrm>
        <a:graphic>
          <a:graphicData uri="http://schemas.openxmlformats.org/presentationml/2006/ole">
            <p:oleObj imgW="3009900" imgH="2590800" r:id="rId7" progId="Excel.Sheet.12" name="Worksheet">
              <p:embed/>
              <p:pic>
                <p:nvPicPr>
                  <p:cNvPr name="" id="0"/>
                  <p:cNvPicPr/>
                  <p:nvPr/>
                </p:nvPicPr>
                <p:blipFill>
                  <a:blip r:embed="rId6"/>
                  <a:stretch>
                    <a:fillRect/>
                  </a:stretch>
                </p:blipFill>
                <p:spPr>
                  <a:xfrm>
                    <a:off x="1270000" y="1270000"/>
                    <a:ext cx="1270000" cy="1270000"/>
                  </a:xfrm>
                  <a:prstGeom prst="rect"/>
                </p:spPr>
              </p:pic>
            </p:oleObj>
          </a:graphicData>
        </a:graphic>
      </p:graphicFrame>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flipV="true">
            <a:off x="1138809" y="-3456152"/>
            <a:ext cx="0" cy="20548521"/>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6486562" y="-3456152"/>
            <a:ext cx="0" cy="20548521"/>
          </a:xfrm>
          <a:prstGeom prst="line">
            <a:avLst/>
          </a:prstGeom>
          <a:ln cap="flat" w="38100">
            <a:solidFill>
              <a:srgbClr val="000000"/>
            </a:solidFill>
            <a:prstDash val="solid"/>
            <a:headEnd type="none" len="sm" w="sm"/>
            <a:tailEnd type="none" len="sm" w="sm"/>
          </a:ln>
        </p:spPr>
      </p:sp>
      <p:sp>
        <p:nvSpPr>
          <p:cNvPr name="Freeform 5" id="5"/>
          <p:cNvSpPr/>
          <p:nvPr/>
        </p:nvSpPr>
        <p:spPr>
          <a:xfrm flipH="false" flipV="false" rot="-1376464">
            <a:off x="15742396" y="2845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376464">
            <a:off x="394642" y="853318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255199">
            <a:off x="15742396" y="8514133"/>
            <a:ext cx="1488333" cy="1488333"/>
          </a:xfrm>
          <a:custGeom>
            <a:avLst/>
            <a:gdLst/>
            <a:ahLst/>
            <a:cxnLst/>
            <a:rect r="r" b="b" t="t" l="l"/>
            <a:pathLst>
              <a:path h="1488333" w="1488333">
                <a:moveTo>
                  <a:pt x="0" y="0"/>
                </a:moveTo>
                <a:lnTo>
                  <a:pt x="1488333" y="0"/>
                </a:lnTo>
                <a:lnTo>
                  <a:pt x="1488333" y="1488334"/>
                </a:lnTo>
                <a:lnTo>
                  <a:pt x="0" y="14883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2114181" y="1918724"/>
            <a:ext cx="9180314" cy="2699142"/>
          </a:xfrm>
          <a:custGeom>
            <a:avLst/>
            <a:gdLst/>
            <a:ahLst/>
            <a:cxnLst/>
            <a:rect r="r" b="b" t="t" l="l"/>
            <a:pathLst>
              <a:path h="2699142" w="9180314">
                <a:moveTo>
                  <a:pt x="0" y="0"/>
                </a:moveTo>
                <a:lnTo>
                  <a:pt x="9180314" y="0"/>
                </a:lnTo>
                <a:lnTo>
                  <a:pt x="9180314" y="2699141"/>
                </a:lnTo>
                <a:lnTo>
                  <a:pt x="0" y="2699141"/>
                </a:lnTo>
                <a:lnTo>
                  <a:pt x="0" y="0"/>
                </a:lnTo>
                <a:close/>
              </a:path>
            </a:pathLst>
          </a:custGeom>
          <a:blipFill>
            <a:blip r:embed="rId4"/>
            <a:stretch>
              <a:fillRect l="0" t="0" r="0" b="0"/>
            </a:stretch>
          </a:blipFill>
        </p:spPr>
      </p:sp>
      <p:sp>
        <p:nvSpPr>
          <p:cNvPr name="TextBox 9" id="9"/>
          <p:cNvSpPr txBox="true"/>
          <p:nvPr/>
        </p:nvSpPr>
        <p:spPr>
          <a:xfrm rot="0">
            <a:off x="2114181" y="1152514"/>
            <a:ext cx="8556604" cy="2601595"/>
          </a:xfrm>
          <a:prstGeom prst="rect">
            <a:avLst/>
          </a:prstGeom>
        </p:spPr>
        <p:txBody>
          <a:bodyPr anchor="t" rtlCol="false" tIns="0" lIns="0" bIns="0" rIns="0">
            <a:spAutoFit/>
          </a:bodyPr>
          <a:lstStyle/>
          <a:p>
            <a:pPr algn="l">
              <a:lnSpc>
                <a:spcPts val="5179"/>
              </a:lnSpc>
            </a:pPr>
            <a:r>
              <a:rPr lang="en-US" sz="3699" b="true">
                <a:solidFill>
                  <a:srgbClr val="1E1D1C"/>
                </a:solidFill>
                <a:latin typeface="Tex Gyre Termes Bold"/>
                <a:ea typeface="Tex Gyre Termes Bold"/>
                <a:cs typeface="Tex Gyre Termes Bold"/>
                <a:sym typeface="Tex Gyre Termes Bold"/>
              </a:rPr>
              <a:t>EJECUTAR PROCESO: ejecutarCPU(...)</a:t>
            </a:r>
          </a:p>
          <a:p>
            <a:pPr algn="l">
              <a:lnSpc>
                <a:spcPts val="5179"/>
              </a:lnSpc>
            </a:pPr>
          </a:p>
          <a:p>
            <a:pPr algn="l">
              <a:lnSpc>
                <a:spcPts val="5179"/>
              </a:lnSpc>
            </a:pPr>
          </a:p>
          <a:p>
            <a:pPr algn="l">
              <a:lnSpc>
                <a:spcPts val="5179"/>
              </a:lnSpc>
            </a:pPr>
          </a:p>
        </p:txBody>
      </p:sp>
      <p:sp>
        <p:nvSpPr>
          <p:cNvPr name="TextBox 10" id="10"/>
          <p:cNvSpPr txBox="true"/>
          <p:nvPr/>
        </p:nvSpPr>
        <p:spPr>
          <a:xfrm rot="0">
            <a:off x="2114181" y="4654508"/>
            <a:ext cx="11222682" cy="537845"/>
          </a:xfrm>
          <a:prstGeom prst="rect">
            <a:avLst/>
          </a:prstGeom>
        </p:spPr>
        <p:txBody>
          <a:bodyPr anchor="t" rtlCol="false" tIns="0" lIns="0" bIns="0" rIns="0">
            <a:spAutoFit/>
          </a:bodyPr>
          <a:lstStyle/>
          <a:p>
            <a:pPr algn="ctr">
              <a:lnSpc>
                <a:spcPts val="4480"/>
              </a:lnSpc>
              <a:spcBef>
                <a:spcPct val="0"/>
              </a:spcBef>
            </a:pPr>
            <a:r>
              <a:rPr lang="en-US" sz="3200">
                <a:solidFill>
                  <a:srgbClr val="000000"/>
                </a:solidFill>
                <a:latin typeface="Tex Gyre Termes"/>
                <a:ea typeface="Tex Gyre Termes"/>
                <a:cs typeface="Tex Gyre Termes"/>
                <a:sym typeface="Tex Gyre Termes"/>
              </a:rPr>
              <a:t> Siempre se ejecuta el proceso del frente (que tiene mayor prioridad).</a:t>
            </a:r>
          </a:p>
        </p:txBody>
      </p:sp>
      <p:sp>
        <p:nvSpPr>
          <p:cNvPr name="TextBox 11" id="11"/>
          <p:cNvSpPr txBox="true"/>
          <p:nvPr/>
        </p:nvSpPr>
        <p:spPr>
          <a:xfrm rot="0">
            <a:off x="2114181" y="5316177"/>
            <a:ext cx="4799707" cy="629920"/>
          </a:xfrm>
          <a:prstGeom prst="rect">
            <a:avLst/>
          </a:prstGeom>
        </p:spPr>
        <p:txBody>
          <a:bodyPr anchor="t" rtlCol="false" tIns="0" lIns="0" bIns="0" rIns="0">
            <a:spAutoFit/>
          </a:bodyPr>
          <a:lstStyle/>
          <a:p>
            <a:pPr algn="ctr">
              <a:lnSpc>
                <a:spcPts val="5179"/>
              </a:lnSpc>
              <a:spcBef>
                <a:spcPct val="0"/>
              </a:spcBef>
            </a:pPr>
            <a:r>
              <a:rPr lang="en-US" b="true" sz="3699">
                <a:solidFill>
                  <a:srgbClr val="000000"/>
                </a:solidFill>
                <a:latin typeface="Tex Gyre Termes Bold"/>
                <a:ea typeface="Tex Gyre Termes Bold"/>
                <a:cs typeface="Tex Gyre Termes Bold"/>
                <a:sym typeface="Tex Gyre Termes Bold"/>
              </a:rPr>
              <a:t>Simulación Visual Final</a:t>
            </a:r>
          </a:p>
        </p:txBody>
      </p:sp>
      <p:sp>
        <p:nvSpPr>
          <p:cNvPr name="TextBox 12" id="12"/>
          <p:cNvSpPr txBox="true"/>
          <p:nvPr/>
        </p:nvSpPr>
        <p:spPr>
          <a:xfrm rot="0">
            <a:off x="2114181" y="5965148"/>
            <a:ext cx="4050310" cy="606425"/>
          </a:xfrm>
          <a:prstGeom prst="rect">
            <a:avLst/>
          </a:prstGeom>
        </p:spPr>
        <p:txBody>
          <a:bodyPr anchor="t" rtlCol="false" tIns="0" lIns="0" bIns="0" rIns="0">
            <a:spAutoFit/>
          </a:bodyPr>
          <a:lstStyle/>
          <a:p>
            <a:pPr algn="ctr">
              <a:lnSpc>
                <a:spcPts val="4900"/>
              </a:lnSpc>
              <a:spcBef>
                <a:spcPct val="0"/>
              </a:spcBef>
            </a:pPr>
            <a:r>
              <a:rPr lang="en-US" sz="3500">
                <a:solidFill>
                  <a:srgbClr val="000000"/>
                </a:solidFill>
                <a:latin typeface="Tex Gyre Termes"/>
                <a:ea typeface="Tex Gyre Termes"/>
                <a:cs typeface="Tex Gyre Termes"/>
                <a:sym typeface="Tex Gyre Termes"/>
              </a:rPr>
              <a:t>Cola antes de ejecutar:</a:t>
            </a:r>
          </a:p>
        </p:txBody>
      </p:sp>
      <p:graphicFrame>
        <p:nvGraphicFramePr>
          <p:cNvPr name="Object 13" id="13"/>
          <p:cNvGraphicFramePr/>
          <p:nvPr/>
        </p:nvGraphicFramePr>
        <p:xfrm>
          <a:off x="2114181" y="6952860"/>
          <a:ext cx="3771900" cy="2095500"/>
        </p:xfrm>
        <a:graphic>
          <a:graphicData uri="http://schemas.openxmlformats.org/presentationml/2006/ole">
            <p:oleObj imgW="4521200" imgH="28448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sp>
        <p:nvSpPr>
          <p:cNvPr name="TextBox 14" id="14"/>
          <p:cNvSpPr txBox="true"/>
          <p:nvPr/>
        </p:nvSpPr>
        <p:spPr>
          <a:xfrm rot="0">
            <a:off x="8347102" y="5965148"/>
            <a:ext cx="5894786" cy="606425"/>
          </a:xfrm>
          <a:prstGeom prst="rect">
            <a:avLst/>
          </a:prstGeom>
        </p:spPr>
        <p:txBody>
          <a:bodyPr anchor="t" rtlCol="false" tIns="0" lIns="0" bIns="0" rIns="0">
            <a:spAutoFit/>
          </a:bodyPr>
          <a:lstStyle/>
          <a:p>
            <a:pPr algn="ctr">
              <a:lnSpc>
                <a:spcPts val="4900"/>
              </a:lnSpc>
              <a:spcBef>
                <a:spcPct val="0"/>
              </a:spcBef>
            </a:pPr>
            <a:r>
              <a:rPr lang="en-US" sz="3500">
                <a:solidFill>
                  <a:srgbClr val="000000"/>
                </a:solidFill>
                <a:latin typeface="Tex Gyre Termes"/>
                <a:ea typeface="Tex Gyre Termes"/>
                <a:cs typeface="Tex Gyre Termes"/>
                <a:sym typeface="Tex Gyre Termes"/>
              </a:rPr>
              <a:t>Cola después de ejecutar: (B)</a:t>
            </a:r>
          </a:p>
        </p:txBody>
      </p:sp>
      <p:graphicFrame>
        <p:nvGraphicFramePr>
          <p:cNvPr name="Object 15" id="15"/>
          <p:cNvGraphicFramePr/>
          <p:nvPr/>
        </p:nvGraphicFramePr>
        <p:xfrm>
          <a:off x="8784835" y="6952860"/>
          <a:ext cx="3771900" cy="1676400"/>
        </p:xfrm>
        <a:graphic>
          <a:graphicData uri="http://schemas.openxmlformats.org/presentationml/2006/ole">
            <p:oleObj imgW="4521200" imgH="2425700" r:id="rId8" progId="Excel.Sheet.12" name="Worksheet">
              <p:embed/>
              <p:pic>
                <p:nvPicPr>
                  <p:cNvPr name="" id="0"/>
                  <p:cNvPicPr/>
                  <p:nvPr/>
                </p:nvPicPr>
                <p:blipFill>
                  <a:blip r:embed="rId7"/>
                  <a:stretch>
                    <a:fillRect/>
                  </a:stretch>
                </p:blipFill>
                <p:spPr>
                  <a:xfrm>
                    <a:off x="1270000" y="1270000"/>
                    <a:ext cx="1270000" cy="1270000"/>
                  </a:xfrm>
                  <a:prstGeom prst="rect"/>
                </p:spPr>
              </p:pic>
            </p:oleObj>
          </a:graphicData>
        </a:graphic>
      </p:graphicFrame>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AutoShape 2" id="2"/>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3" id="3"/>
          <p:cNvSpPr/>
          <p:nvPr/>
        </p:nvSpPr>
        <p:spPr>
          <a:xfrm>
            <a:off x="-1025290" y="9847422"/>
            <a:ext cx="20548521" cy="0"/>
          </a:xfrm>
          <a:prstGeom prst="line">
            <a:avLst/>
          </a:prstGeom>
          <a:ln cap="flat" w="38100">
            <a:solidFill>
              <a:srgbClr val="000000"/>
            </a:solidFill>
            <a:prstDash val="solid"/>
            <a:headEnd type="none" len="sm" w="sm"/>
            <a:tailEnd type="none" len="sm" w="sm"/>
          </a:ln>
        </p:spPr>
      </p:sp>
      <p:sp>
        <p:nvSpPr>
          <p:cNvPr name="AutoShape 4" id="4"/>
          <p:cNvSpPr/>
          <p:nvPr/>
        </p:nvSpPr>
        <p:spPr>
          <a:xfrm flipV="true">
            <a:off x="1820488" y="-3456152"/>
            <a:ext cx="0" cy="20548521"/>
          </a:xfrm>
          <a:prstGeom prst="line">
            <a:avLst/>
          </a:prstGeom>
          <a:ln cap="flat" w="38100">
            <a:solidFill>
              <a:srgbClr val="000000"/>
            </a:solidFill>
            <a:prstDash val="solid"/>
            <a:headEnd type="none" len="sm" w="sm"/>
            <a:tailEnd type="none" len="sm" w="sm"/>
          </a:ln>
        </p:spPr>
      </p:sp>
      <p:sp>
        <p:nvSpPr>
          <p:cNvPr name="AutoShape 5" id="5"/>
          <p:cNvSpPr/>
          <p:nvPr/>
        </p:nvSpPr>
        <p:spPr>
          <a:xfrm flipV="true">
            <a:off x="16486562" y="-3456152"/>
            <a:ext cx="0" cy="20548521"/>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0">
            <a:off x="-3425383" y="2537912"/>
            <a:ext cx="5249352" cy="5211175"/>
          </a:xfrm>
          <a:custGeom>
            <a:avLst/>
            <a:gdLst/>
            <a:ahLst/>
            <a:cxnLst/>
            <a:rect r="r" b="b" t="t" l="l"/>
            <a:pathLst>
              <a:path h="5211175" w="5249352">
                <a:moveTo>
                  <a:pt x="0" y="0"/>
                </a:moveTo>
                <a:lnTo>
                  <a:pt x="5249353" y="0"/>
                </a:lnTo>
                <a:lnTo>
                  <a:pt x="5249353" y="5211176"/>
                </a:lnTo>
                <a:lnTo>
                  <a:pt x="0" y="52111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6486562" y="2537912"/>
            <a:ext cx="5249352" cy="5211175"/>
          </a:xfrm>
          <a:custGeom>
            <a:avLst/>
            <a:gdLst/>
            <a:ahLst/>
            <a:cxnLst/>
            <a:rect r="r" b="b" t="t" l="l"/>
            <a:pathLst>
              <a:path h="5211175" w="5249352">
                <a:moveTo>
                  <a:pt x="0" y="0"/>
                </a:moveTo>
                <a:lnTo>
                  <a:pt x="5249353" y="0"/>
                </a:lnTo>
                <a:lnTo>
                  <a:pt x="5249353" y="5211176"/>
                </a:lnTo>
                <a:lnTo>
                  <a:pt x="0" y="52111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3910140" y="3609300"/>
            <a:ext cx="8646137" cy="1662983"/>
          </a:xfrm>
          <a:custGeom>
            <a:avLst/>
            <a:gdLst/>
            <a:ahLst/>
            <a:cxnLst/>
            <a:rect r="r" b="b" t="t" l="l"/>
            <a:pathLst>
              <a:path h="1662983" w="8646137">
                <a:moveTo>
                  <a:pt x="0" y="0"/>
                </a:moveTo>
                <a:lnTo>
                  <a:pt x="8646137" y="0"/>
                </a:lnTo>
                <a:lnTo>
                  <a:pt x="8646137" y="1662983"/>
                </a:lnTo>
                <a:lnTo>
                  <a:pt x="0" y="1662983"/>
                </a:lnTo>
                <a:lnTo>
                  <a:pt x="0" y="0"/>
                </a:lnTo>
                <a:close/>
              </a:path>
            </a:pathLst>
          </a:custGeom>
          <a:blipFill>
            <a:blip r:embed="rId4"/>
            <a:stretch>
              <a:fillRect l="0" t="0" r="-1214" b="0"/>
            </a:stretch>
          </a:blipFill>
        </p:spPr>
      </p:sp>
      <p:sp>
        <p:nvSpPr>
          <p:cNvPr name="Freeform 9" id="9"/>
          <p:cNvSpPr/>
          <p:nvPr/>
        </p:nvSpPr>
        <p:spPr>
          <a:xfrm flipH="false" flipV="false" rot="0">
            <a:off x="3910140" y="6212008"/>
            <a:ext cx="8646137" cy="2094110"/>
          </a:xfrm>
          <a:custGeom>
            <a:avLst/>
            <a:gdLst/>
            <a:ahLst/>
            <a:cxnLst/>
            <a:rect r="r" b="b" t="t" l="l"/>
            <a:pathLst>
              <a:path h="2094110" w="8646137">
                <a:moveTo>
                  <a:pt x="0" y="0"/>
                </a:moveTo>
                <a:lnTo>
                  <a:pt x="8646137" y="0"/>
                </a:lnTo>
                <a:lnTo>
                  <a:pt x="8646137" y="2094110"/>
                </a:lnTo>
                <a:lnTo>
                  <a:pt x="0" y="2094110"/>
                </a:lnTo>
                <a:lnTo>
                  <a:pt x="0" y="0"/>
                </a:lnTo>
                <a:close/>
              </a:path>
            </a:pathLst>
          </a:custGeom>
          <a:blipFill>
            <a:blip r:embed="rId5"/>
            <a:stretch>
              <a:fillRect l="0" t="0" r="0" b="0"/>
            </a:stretch>
          </a:blipFill>
        </p:spPr>
      </p:sp>
      <p:sp>
        <p:nvSpPr>
          <p:cNvPr name="TextBox 10" id="10"/>
          <p:cNvSpPr txBox="true"/>
          <p:nvPr/>
        </p:nvSpPr>
        <p:spPr>
          <a:xfrm rot="0">
            <a:off x="3910140" y="2383750"/>
            <a:ext cx="10677661" cy="1225550"/>
          </a:xfrm>
          <a:prstGeom prst="rect">
            <a:avLst/>
          </a:prstGeom>
        </p:spPr>
        <p:txBody>
          <a:bodyPr anchor="t" rtlCol="false" tIns="0" lIns="0" bIns="0" rIns="0">
            <a:spAutoFit/>
          </a:bodyPr>
          <a:lstStyle/>
          <a:p>
            <a:pPr algn="just">
              <a:lnSpc>
                <a:spcPts val="4900"/>
              </a:lnSpc>
            </a:pPr>
            <a:r>
              <a:rPr lang="en-US" sz="3500">
                <a:solidFill>
                  <a:srgbClr val="1E1D1C"/>
                </a:solidFill>
                <a:latin typeface="Tex Gyre Termes"/>
                <a:ea typeface="Tex Gyre Termes"/>
                <a:cs typeface="Tex Gyre Termes"/>
                <a:sym typeface="Tex Gyre Termes"/>
              </a:rPr>
              <a:t>El ordenamiento descendente por prioridad se logra en esta línea:</a:t>
            </a:r>
          </a:p>
        </p:txBody>
      </p:sp>
      <p:sp>
        <p:nvSpPr>
          <p:cNvPr name="TextBox 11" id="11"/>
          <p:cNvSpPr txBox="true"/>
          <p:nvPr/>
        </p:nvSpPr>
        <p:spPr>
          <a:xfrm rot="0">
            <a:off x="4998692" y="1061680"/>
            <a:ext cx="8500557" cy="1236345"/>
          </a:xfrm>
          <a:prstGeom prst="rect">
            <a:avLst/>
          </a:prstGeom>
        </p:spPr>
        <p:txBody>
          <a:bodyPr anchor="t" rtlCol="false" tIns="0" lIns="0" bIns="0" rIns="0">
            <a:spAutoFit/>
          </a:bodyPr>
          <a:lstStyle/>
          <a:p>
            <a:pPr algn="ctr">
              <a:lnSpc>
                <a:spcPts val="10080"/>
              </a:lnSpc>
            </a:pPr>
            <a:r>
              <a:rPr lang="en-US" sz="7200" i="true">
                <a:solidFill>
                  <a:srgbClr val="1E1D1C"/>
                </a:solidFill>
                <a:latin typeface="Tex Gyre Termes Italics"/>
                <a:ea typeface="Tex Gyre Termes Italics"/>
                <a:cs typeface="Tex Gyre Termes Italics"/>
                <a:sym typeface="Tex Gyre Termes Italics"/>
              </a:rPr>
              <a:t>Conclusión</a:t>
            </a:r>
          </a:p>
        </p:txBody>
      </p:sp>
      <p:sp>
        <p:nvSpPr>
          <p:cNvPr name="TextBox 12" id="12"/>
          <p:cNvSpPr txBox="true"/>
          <p:nvPr/>
        </p:nvSpPr>
        <p:spPr>
          <a:xfrm rot="0">
            <a:off x="3910140" y="5535297"/>
            <a:ext cx="10677661" cy="606425"/>
          </a:xfrm>
          <a:prstGeom prst="rect">
            <a:avLst/>
          </a:prstGeom>
        </p:spPr>
        <p:txBody>
          <a:bodyPr anchor="t" rtlCol="false" tIns="0" lIns="0" bIns="0" rIns="0">
            <a:spAutoFit/>
          </a:bodyPr>
          <a:lstStyle/>
          <a:p>
            <a:pPr algn="just">
              <a:lnSpc>
                <a:spcPts val="4900"/>
              </a:lnSpc>
            </a:pPr>
            <a:r>
              <a:rPr lang="en-US" sz="3500">
                <a:solidFill>
                  <a:srgbClr val="1E1D1C"/>
                </a:solidFill>
                <a:latin typeface="Tex Gyre Termes"/>
                <a:ea typeface="Tex Gyre Termes"/>
                <a:cs typeface="Tex Gyre Termes"/>
                <a:sym typeface="Tex Gyre Termes"/>
              </a:rPr>
              <a:t>La inserción se ajusta según prioridad gracias a este while:</a:t>
            </a:r>
          </a:p>
        </p:txBody>
      </p:sp>
      <p:sp>
        <p:nvSpPr>
          <p:cNvPr name="TextBox 13" id="13"/>
          <p:cNvSpPr txBox="true"/>
          <p:nvPr/>
        </p:nvSpPr>
        <p:spPr>
          <a:xfrm rot="0">
            <a:off x="3910140" y="8416370"/>
            <a:ext cx="10242784" cy="1225550"/>
          </a:xfrm>
          <a:prstGeom prst="rect">
            <a:avLst/>
          </a:prstGeom>
        </p:spPr>
        <p:txBody>
          <a:bodyPr anchor="t" rtlCol="false" tIns="0" lIns="0" bIns="0" rIns="0">
            <a:spAutoFit/>
          </a:bodyPr>
          <a:lstStyle/>
          <a:p>
            <a:pPr algn="just">
              <a:lnSpc>
                <a:spcPts val="4900"/>
              </a:lnSpc>
            </a:pPr>
            <a:r>
              <a:rPr lang="en-US" sz="3500">
                <a:solidFill>
                  <a:srgbClr val="1E1D1C"/>
                </a:solidFill>
                <a:latin typeface="Tex Gyre Termes"/>
                <a:ea typeface="Tex Gyre Termes"/>
                <a:cs typeface="Tex Gyre Termes"/>
                <a:sym typeface="Tex Gyre Termes"/>
              </a:rPr>
              <a:t>La cola siempre mantiene la prioridad más alta en el frente y ejecuta de forma correcta.</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TextBox 2" id="2"/>
          <p:cNvSpPr txBox="true"/>
          <p:nvPr/>
        </p:nvSpPr>
        <p:spPr>
          <a:xfrm rot="0">
            <a:off x="2343986" y="2319381"/>
            <a:ext cx="12964243" cy="6489702"/>
          </a:xfrm>
          <a:prstGeom prst="rect">
            <a:avLst/>
          </a:prstGeom>
        </p:spPr>
        <p:txBody>
          <a:bodyPr anchor="t" rtlCol="false" tIns="0" lIns="0" bIns="0" rIns="0">
            <a:spAutoFit/>
          </a:bodyPr>
          <a:lstStyle/>
          <a:p>
            <a:pPr algn="l" marL="755647" indent="-377824" lvl="1">
              <a:lnSpc>
                <a:spcPts val="8749"/>
              </a:lnSpc>
              <a:buFont typeface="Arial"/>
              <a:buChar char="•"/>
            </a:pPr>
            <a:r>
              <a:rPr lang="en-US" sz="3499" spc="20">
                <a:solidFill>
                  <a:srgbClr val="1E1D1C"/>
                </a:solidFill>
                <a:latin typeface="Tex Gyre Termes"/>
                <a:ea typeface="Tex Gyre Termes"/>
                <a:cs typeface="Tex Gyre Termes"/>
                <a:sym typeface="Tex Gyre Termes"/>
              </a:rPr>
              <a:t>Escribe aquí la referencia bibliográfica</a:t>
            </a:r>
          </a:p>
          <a:p>
            <a:pPr algn="l" marL="755647" indent="-377824" lvl="1">
              <a:lnSpc>
                <a:spcPts val="8749"/>
              </a:lnSpc>
              <a:buFont typeface="Arial"/>
              <a:buChar char="•"/>
            </a:pPr>
            <a:r>
              <a:rPr lang="en-US" sz="3499" spc="20">
                <a:solidFill>
                  <a:srgbClr val="1E1D1C"/>
                </a:solidFill>
                <a:latin typeface="Tex Gyre Termes"/>
                <a:ea typeface="Tex Gyre Termes"/>
                <a:cs typeface="Tex Gyre Termes"/>
                <a:sym typeface="Tex Gyre Termes"/>
              </a:rPr>
              <a:t>Escribe aquí la referencia bibliográfica</a:t>
            </a:r>
          </a:p>
          <a:p>
            <a:pPr algn="l" marL="755647" indent="-377824" lvl="1">
              <a:lnSpc>
                <a:spcPts val="8749"/>
              </a:lnSpc>
              <a:buFont typeface="Arial"/>
              <a:buChar char="•"/>
            </a:pPr>
            <a:r>
              <a:rPr lang="en-US" sz="3499" spc="20">
                <a:solidFill>
                  <a:srgbClr val="1E1D1C"/>
                </a:solidFill>
                <a:latin typeface="Tex Gyre Termes"/>
                <a:ea typeface="Tex Gyre Termes"/>
                <a:cs typeface="Tex Gyre Termes"/>
                <a:sym typeface="Tex Gyre Termes"/>
              </a:rPr>
              <a:t>Escribe aquí la referencia bibliográfica</a:t>
            </a:r>
          </a:p>
          <a:p>
            <a:pPr algn="l" marL="755647" indent="-377824" lvl="1">
              <a:lnSpc>
                <a:spcPts val="8749"/>
              </a:lnSpc>
              <a:buFont typeface="Arial"/>
              <a:buChar char="•"/>
            </a:pPr>
            <a:r>
              <a:rPr lang="en-US" sz="3499" spc="20">
                <a:solidFill>
                  <a:srgbClr val="1E1D1C"/>
                </a:solidFill>
                <a:latin typeface="Tex Gyre Termes"/>
                <a:ea typeface="Tex Gyre Termes"/>
                <a:cs typeface="Tex Gyre Termes"/>
                <a:sym typeface="Tex Gyre Termes"/>
              </a:rPr>
              <a:t>Escribe aquí la referencia bibliográfica</a:t>
            </a:r>
          </a:p>
          <a:p>
            <a:pPr algn="l" marL="755647" indent="-377824" lvl="1">
              <a:lnSpc>
                <a:spcPts val="8749"/>
              </a:lnSpc>
              <a:buFont typeface="Arial"/>
              <a:buChar char="•"/>
            </a:pPr>
            <a:r>
              <a:rPr lang="en-US" sz="3499" spc="20">
                <a:solidFill>
                  <a:srgbClr val="1E1D1C"/>
                </a:solidFill>
                <a:latin typeface="Tex Gyre Termes"/>
                <a:ea typeface="Tex Gyre Termes"/>
                <a:cs typeface="Tex Gyre Termes"/>
                <a:sym typeface="Tex Gyre Termes"/>
              </a:rPr>
              <a:t>Escribe aquí la referencia bibliográfica</a:t>
            </a:r>
          </a:p>
          <a:p>
            <a:pPr algn="l" marL="755647" indent="-377824" lvl="1">
              <a:lnSpc>
                <a:spcPts val="8749"/>
              </a:lnSpc>
              <a:buFont typeface="Arial"/>
              <a:buChar char="•"/>
            </a:pPr>
            <a:r>
              <a:rPr lang="en-US" sz="3499" spc="20">
                <a:solidFill>
                  <a:srgbClr val="1E1D1C"/>
                </a:solidFill>
                <a:latin typeface="Tex Gyre Termes"/>
                <a:ea typeface="Tex Gyre Termes"/>
                <a:cs typeface="Tex Gyre Termes"/>
                <a:sym typeface="Tex Gyre Termes"/>
              </a:rPr>
              <a:t>Escribe aquí la referencia bibliográfica</a:t>
            </a:r>
          </a:p>
        </p:txBody>
      </p:sp>
      <p:sp>
        <p:nvSpPr>
          <p:cNvPr name="AutoShape 3" id="3"/>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4" id="4"/>
          <p:cNvSpPr/>
          <p:nvPr/>
        </p:nvSpPr>
        <p:spPr>
          <a:xfrm>
            <a:off x="-1130260" y="9277350"/>
            <a:ext cx="20548521" cy="0"/>
          </a:xfrm>
          <a:prstGeom prst="line">
            <a:avLst/>
          </a:prstGeom>
          <a:ln cap="flat" w="38100">
            <a:solidFill>
              <a:srgbClr val="000000"/>
            </a:solidFill>
            <a:prstDash val="solid"/>
            <a:headEnd type="none" len="sm" w="sm"/>
            <a:tailEnd type="none" len="sm" w="sm"/>
          </a:ln>
        </p:spPr>
      </p:sp>
      <p:sp>
        <p:nvSpPr>
          <p:cNvPr name="AutoShape 5" id="5"/>
          <p:cNvSpPr/>
          <p:nvPr/>
        </p:nvSpPr>
        <p:spPr>
          <a:xfrm flipV="true">
            <a:off x="1820488" y="-3456152"/>
            <a:ext cx="0" cy="20548521"/>
          </a:xfrm>
          <a:prstGeom prst="line">
            <a:avLst/>
          </a:prstGeom>
          <a:ln cap="flat" w="38100">
            <a:solidFill>
              <a:srgbClr val="000000"/>
            </a:solidFill>
            <a:prstDash val="solid"/>
            <a:headEnd type="none" len="sm" w="sm"/>
            <a:tailEnd type="none" len="sm" w="sm"/>
          </a:ln>
        </p:spPr>
      </p:sp>
      <p:sp>
        <p:nvSpPr>
          <p:cNvPr name="AutoShape 6" id="6"/>
          <p:cNvSpPr/>
          <p:nvPr/>
        </p:nvSpPr>
        <p:spPr>
          <a:xfrm flipV="true">
            <a:off x="16486562" y="-3456152"/>
            <a:ext cx="0" cy="20548521"/>
          </a:xfrm>
          <a:prstGeom prst="line">
            <a:avLst/>
          </a:prstGeom>
          <a:ln cap="flat" w="38100">
            <a:solidFill>
              <a:srgbClr val="000000"/>
            </a:solidFill>
            <a:prstDash val="solid"/>
            <a:headEnd type="none" len="sm" w="sm"/>
            <a:tailEnd type="none" len="sm" w="sm"/>
          </a:ln>
        </p:spPr>
      </p:sp>
      <p:sp>
        <p:nvSpPr>
          <p:cNvPr name="Freeform 7" id="7"/>
          <p:cNvSpPr/>
          <p:nvPr/>
        </p:nvSpPr>
        <p:spPr>
          <a:xfrm flipH="false" flipV="false" rot="0">
            <a:off x="12658740" y="5442555"/>
            <a:ext cx="7655645" cy="7669589"/>
          </a:xfrm>
          <a:custGeom>
            <a:avLst/>
            <a:gdLst/>
            <a:ahLst/>
            <a:cxnLst/>
            <a:rect r="r" b="b" t="t" l="l"/>
            <a:pathLst>
              <a:path h="7669589" w="7655645">
                <a:moveTo>
                  <a:pt x="0" y="0"/>
                </a:moveTo>
                <a:lnTo>
                  <a:pt x="7655645" y="0"/>
                </a:lnTo>
                <a:lnTo>
                  <a:pt x="7655645" y="7669590"/>
                </a:lnTo>
                <a:lnTo>
                  <a:pt x="0" y="76695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2739691" y="1071970"/>
            <a:ext cx="12172833" cy="1236345"/>
          </a:xfrm>
          <a:prstGeom prst="rect">
            <a:avLst/>
          </a:prstGeom>
        </p:spPr>
        <p:txBody>
          <a:bodyPr anchor="t" rtlCol="false" tIns="0" lIns="0" bIns="0" rIns="0">
            <a:spAutoFit/>
          </a:bodyPr>
          <a:lstStyle/>
          <a:p>
            <a:pPr algn="l">
              <a:lnSpc>
                <a:spcPts val="10080"/>
              </a:lnSpc>
            </a:pPr>
            <a:r>
              <a:rPr lang="en-US" sz="7200" i="true">
                <a:solidFill>
                  <a:srgbClr val="1E1D1C"/>
                </a:solidFill>
                <a:latin typeface="Tex Gyre Termes Italics"/>
                <a:ea typeface="Tex Gyre Termes Italics"/>
                <a:cs typeface="Tex Gyre Termes Italics"/>
                <a:sym typeface="Tex Gyre Termes Italics"/>
              </a:rPr>
              <a:t>Referencias</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bg>
      <p:bgPr>
        <a:solidFill>
          <a:srgbClr val="F4F3F0"/>
        </a:solidFill>
      </p:bgPr>
    </p:bg>
    <p:spTree>
      <p:nvGrpSpPr>
        <p:cNvPr id="1" name=""/>
        <p:cNvGrpSpPr/>
        <p:nvPr/>
      </p:nvGrpSpPr>
      <p:grpSpPr>
        <a:xfrm>
          <a:off x="0" y="0"/>
          <a:ext cx="0" cy="0"/>
          <a:chOff x="0" y="0"/>
          <a:chExt cx="0" cy="0"/>
        </a:xfrm>
      </p:grpSpPr>
      <p:sp>
        <p:nvSpPr>
          <p:cNvPr name="TextBox 2" id="2"/>
          <p:cNvSpPr txBox="true"/>
          <p:nvPr/>
        </p:nvSpPr>
        <p:spPr>
          <a:xfrm rot="0">
            <a:off x="3076652" y="3543681"/>
            <a:ext cx="12134697" cy="3599688"/>
          </a:xfrm>
          <a:prstGeom prst="rect">
            <a:avLst/>
          </a:prstGeom>
        </p:spPr>
        <p:txBody>
          <a:bodyPr anchor="t" rtlCol="false" tIns="0" lIns="0" bIns="0" rIns="0">
            <a:spAutoFit/>
          </a:bodyPr>
          <a:lstStyle/>
          <a:p>
            <a:pPr algn="ctr">
              <a:lnSpc>
                <a:spcPts val="13535"/>
              </a:lnSpc>
            </a:pPr>
            <a:r>
              <a:rPr lang="en-US" sz="14400" i="true">
                <a:solidFill>
                  <a:srgbClr val="1E1D1C"/>
                </a:solidFill>
                <a:latin typeface="Tex Gyre Termes Italics"/>
                <a:ea typeface="Tex Gyre Termes Italics"/>
                <a:cs typeface="Tex Gyre Termes Italics"/>
                <a:sym typeface="Tex Gyre Termes Italics"/>
              </a:rPr>
              <a:t>¡Gracias por </a:t>
            </a:r>
          </a:p>
          <a:p>
            <a:pPr algn="ctr">
              <a:lnSpc>
                <a:spcPts val="13535"/>
              </a:lnSpc>
            </a:pPr>
            <a:r>
              <a:rPr lang="en-US" sz="14400" i="true">
                <a:solidFill>
                  <a:srgbClr val="1E1D1C"/>
                </a:solidFill>
                <a:latin typeface="Tex Gyre Termes Italics"/>
                <a:ea typeface="Tex Gyre Termes Italics"/>
                <a:cs typeface="Tex Gyre Termes Italics"/>
                <a:sym typeface="Tex Gyre Termes Italics"/>
              </a:rPr>
              <a:t>su atención!</a:t>
            </a:r>
          </a:p>
        </p:txBody>
      </p:sp>
      <p:sp>
        <p:nvSpPr>
          <p:cNvPr name="AutoShape 3" id="3"/>
          <p:cNvSpPr/>
          <p:nvPr/>
        </p:nvSpPr>
        <p:spPr>
          <a:xfrm>
            <a:off x="-1782258" y="1009650"/>
            <a:ext cx="20548521" cy="0"/>
          </a:xfrm>
          <a:prstGeom prst="line">
            <a:avLst/>
          </a:prstGeom>
          <a:ln cap="flat" w="38100">
            <a:solidFill>
              <a:srgbClr val="000000"/>
            </a:solidFill>
            <a:prstDash val="solid"/>
            <a:headEnd type="none" len="sm" w="sm"/>
            <a:tailEnd type="none" len="sm" w="sm"/>
          </a:ln>
        </p:spPr>
      </p:sp>
      <p:sp>
        <p:nvSpPr>
          <p:cNvPr name="AutoShape 4" id="4"/>
          <p:cNvSpPr/>
          <p:nvPr/>
        </p:nvSpPr>
        <p:spPr>
          <a:xfrm>
            <a:off x="-1130260" y="9277350"/>
            <a:ext cx="20548521" cy="0"/>
          </a:xfrm>
          <a:prstGeom prst="line">
            <a:avLst/>
          </a:prstGeom>
          <a:ln cap="flat" w="38100">
            <a:solidFill>
              <a:srgbClr val="000000"/>
            </a:solidFill>
            <a:prstDash val="solid"/>
            <a:headEnd type="none" len="sm" w="sm"/>
            <a:tailEnd type="none" len="sm" w="sm"/>
          </a:ln>
        </p:spPr>
      </p:sp>
      <p:sp>
        <p:nvSpPr>
          <p:cNvPr name="AutoShape 5" id="5"/>
          <p:cNvSpPr/>
          <p:nvPr/>
        </p:nvSpPr>
        <p:spPr>
          <a:xfrm flipV="true">
            <a:off x="1820488" y="-3456152"/>
            <a:ext cx="0" cy="20548521"/>
          </a:xfrm>
          <a:prstGeom prst="line">
            <a:avLst/>
          </a:prstGeom>
          <a:ln cap="flat" w="38100">
            <a:solidFill>
              <a:srgbClr val="000000"/>
            </a:solidFill>
            <a:prstDash val="solid"/>
            <a:headEnd type="none" len="sm" w="sm"/>
            <a:tailEnd type="none" len="sm" w="sm"/>
          </a:ln>
        </p:spPr>
      </p:sp>
      <p:sp>
        <p:nvSpPr>
          <p:cNvPr name="AutoShape 6" id="6"/>
          <p:cNvSpPr/>
          <p:nvPr/>
        </p:nvSpPr>
        <p:spPr>
          <a:xfrm flipV="true">
            <a:off x="16486562" y="-3456152"/>
            <a:ext cx="0" cy="20548521"/>
          </a:xfrm>
          <a:prstGeom prst="line">
            <a:avLst/>
          </a:prstGeom>
          <a:ln cap="flat" w="38100">
            <a:solidFill>
              <a:srgbClr val="000000"/>
            </a:solidFill>
            <a:prstDash val="solid"/>
            <a:headEnd type="none" len="sm" w="sm"/>
            <a:tailEnd type="none" len="sm" w="sm"/>
          </a:ln>
        </p:spPr>
      </p:sp>
      <p:sp>
        <p:nvSpPr>
          <p:cNvPr name="Freeform 7" id="7"/>
          <p:cNvSpPr/>
          <p:nvPr/>
        </p:nvSpPr>
        <p:spPr>
          <a:xfrm flipH="false" flipV="false" rot="0">
            <a:off x="6257342" y="-1047750"/>
            <a:ext cx="5773316" cy="4114800"/>
          </a:xfrm>
          <a:custGeom>
            <a:avLst/>
            <a:gdLst/>
            <a:ahLst/>
            <a:cxnLst/>
            <a:rect r="r" b="b" t="t" l="l"/>
            <a:pathLst>
              <a:path h="4114800" w="5773316">
                <a:moveTo>
                  <a:pt x="0" y="0"/>
                </a:moveTo>
                <a:lnTo>
                  <a:pt x="5773316" y="0"/>
                </a:lnTo>
                <a:lnTo>
                  <a:pt x="577331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6257342" y="7267194"/>
            <a:ext cx="5773316" cy="4114800"/>
          </a:xfrm>
          <a:custGeom>
            <a:avLst/>
            <a:gdLst/>
            <a:ahLst/>
            <a:cxnLst/>
            <a:rect r="r" b="b" t="t" l="l"/>
            <a:pathLst>
              <a:path h="4114800" w="5773316">
                <a:moveTo>
                  <a:pt x="0" y="0"/>
                </a:moveTo>
                <a:lnTo>
                  <a:pt x="5773316" y="0"/>
                </a:lnTo>
                <a:lnTo>
                  <a:pt x="577331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4698229" y="1884141"/>
            <a:ext cx="6518717" cy="6518717"/>
          </a:xfrm>
          <a:custGeom>
            <a:avLst/>
            <a:gdLst/>
            <a:ahLst/>
            <a:cxnLst/>
            <a:rect r="r" b="b" t="t" l="l"/>
            <a:pathLst>
              <a:path h="6518717" w="6518717">
                <a:moveTo>
                  <a:pt x="0" y="0"/>
                </a:moveTo>
                <a:lnTo>
                  <a:pt x="6518717" y="0"/>
                </a:lnTo>
                <a:lnTo>
                  <a:pt x="6518717" y="6518718"/>
                </a:lnTo>
                <a:lnTo>
                  <a:pt x="0" y="65187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6468648" y="1884141"/>
            <a:ext cx="6518717" cy="6518717"/>
          </a:xfrm>
          <a:custGeom>
            <a:avLst/>
            <a:gdLst/>
            <a:ahLst/>
            <a:cxnLst/>
            <a:rect r="r" b="b" t="t" l="l"/>
            <a:pathLst>
              <a:path h="6518717" w="6518717">
                <a:moveTo>
                  <a:pt x="0" y="0"/>
                </a:moveTo>
                <a:lnTo>
                  <a:pt x="6518717" y="0"/>
                </a:lnTo>
                <a:lnTo>
                  <a:pt x="6518717" y="6518718"/>
                </a:lnTo>
                <a:lnTo>
                  <a:pt x="0" y="65187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DAGpb19jtLU</dc:identifier>
  <dcterms:modified xsi:type="dcterms:W3CDTF">2011-08-01T06:04:30Z</dcterms:modified>
  <cp:revision>1</cp:revision>
  <dc:title>Equipo:</dc:title>
</cp:coreProperties>
</file>